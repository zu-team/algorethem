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67"/>
  </p:notesMasterIdLst>
  <p:handoutMasterIdLst>
    <p:handoutMasterId r:id="rId68"/>
  </p:handoutMasterIdLst>
  <p:sldIdLst>
    <p:sldId id="256" r:id="rId2"/>
    <p:sldId id="295" r:id="rId3"/>
    <p:sldId id="294" r:id="rId4"/>
    <p:sldId id="297" r:id="rId5"/>
    <p:sldId id="298" r:id="rId6"/>
    <p:sldId id="299" r:id="rId7"/>
    <p:sldId id="300" r:id="rId8"/>
    <p:sldId id="301" r:id="rId9"/>
    <p:sldId id="302" r:id="rId10"/>
    <p:sldId id="305" r:id="rId11"/>
    <p:sldId id="306" r:id="rId12"/>
    <p:sldId id="307" r:id="rId13"/>
    <p:sldId id="309" r:id="rId14"/>
    <p:sldId id="310" r:id="rId15"/>
    <p:sldId id="311" r:id="rId16"/>
    <p:sldId id="340" r:id="rId17"/>
    <p:sldId id="312" r:id="rId18"/>
    <p:sldId id="313" r:id="rId19"/>
    <p:sldId id="314" r:id="rId20"/>
    <p:sldId id="315" r:id="rId21"/>
    <p:sldId id="316" r:id="rId22"/>
    <p:sldId id="318" r:id="rId23"/>
    <p:sldId id="319" r:id="rId24"/>
    <p:sldId id="320" r:id="rId25"/>
    <p:sldId id="321" r:id="rId26"/>
    <p:sldId id="322" r:id="rId27"/>
    <p:sldId id="362" r:id="rId28"/>
    <p:sldId id="341" r:id="rId29"/>
    <p:sldId id="342" r:id="rId30"/>
    <p:sldId id="343" r:id="rId31"/>
    <p:sldId id="344" r:id="rId32"/>
    <p:sldId id="345" r:id="rId33"/>
    <p:sldId id="346" r:id="rId34"/>
    <p:sldId id="347" r:id="rId35"/>
    <p:sldId id="348" r:id="rId36"/>
    <p:sldId id="349" r:id="rId37"/>
    <p:sldId id="350" r:id="rId38"/>
    <p:sldId id="351" r:id="rId39"/>
    <p:sldId id="352" r:id="rId40"/>
    <p:sldId id="353" r:id="rId41"/>
    <p:sldId id="354" r:id="rId42"/>
    <p:sldId id="355" r:id="rId43"/>
    <p:sldId id="356" r:id="rId44"/>
    <p:sldId id="357" r:id="rId45"/>
    <p:sldId id="358" r:id="rId46"/>
    <p:sldId id="359" r:id="rId47"/>
    <p:sldId id="360" r:id="rId48"/>
    <p:sldId id="361" r:id="rId49"/>
    <p:sldId id="365" r:id="rId50"/>
    <p:sldId id="366" r:id="rId51"/>
    <p:sldId id="367" r:id="rId52"/>
    <p:sldId id="368" r:id="rId53"/>
    <p:sldId id="370" r:id="rId54"/>
    <p:sldId id="369" r:id="rId55"/>
    <p:sldId id="378" r:id="rId56"/>
    <p:sldId id="379" r:id="rId57"/>
    <p:sldId id="377" r:id="rId58"/>
    <p:sldId id="376" r:id="rId59"/>
    <p:sldId id="380" r:id="rId60"/>
    <p:sldId id="381" r:id="rId61"/>
    <p:sldId id="383" r:id="rId62"/>
    <p:sldId id="384" r:id="rId63"/>
    <p:sldId id="385" r:id="rId64"/>
    <p:sldId id="386" r:id="rId65"/>
    <p:sldId id="387" r:id="rId66"/>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31" autoAdjust="0"/>
  </p:normalViewPr>
  <p:slideViewPr>
    <p:cSldViewPr>
      <p:cViewPr varScale="1">
        <p:scale>
          <a:sx n="79" d="100"/>
          <a:sy n="79" d="100"/>
        </p:scale>
        <p:origin x="821" y="96"/>
      </p:cViewPr>
      <p:guideLst>
        <p:guide orient="horz" pos="2880"/>
        <p:guide pos="2880"/>
      </p:guideLst>
    </p:cSldViewPr>
  </p:slideViewPr>
  <p:notesTextViewPr>
    <p:cViewPr>
      <p:scale>
        <a:sx n="100" d="100"/>
        <a:sy n="100" d="100"/>
      </p:scale>
      <p:origin x="0" y="0"/>
    </p:cViewPr>
  </p:notesTextViewPr>
  <p:sorterViewPr>
    <p:cViewPr>
      <p:scale>
        <a:sx n="100" d="100"/>
        <a:sy n="100" d="100"/>
      </p:scale>
      <p:origin x="0" y="-23226"/>
    </p:cViewPr>
  </p:sorterViewPr>
  <p:notesViewPr>
    <p:cSldViewPr>
      <p:cViewPr varScale="1">
        <p:scale>
          <a:sx n="85" d="100"/>
          <a:sy n="85" d="100"/>
        </p:scale>
        <p:origin x="2035" y="5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7BCC2338-ABC5-4A25-B9CD-DA581F15729B}" type="datetimeFigureOut">
              <a:rPr lang="en-US" smtClean="0"/>
              <a:t>12/31/2025</a:t>
            </a:fld>
            <a:endParaRPr lang="en-US"/>
          </a:p>
        </p:txBody>
      </p:sp>
      <p:sp>
        <p:nvSpPr>
          <p:cNvPr id="4" name="Footer Placeholder 3"/>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3EB7EFE9-E06A-4399-9BCC-B4F2BBA3A130}" type="slidenum">
              <a:rPr lang="en-US" smtClean="0"/>
              <a:t>‹#›</a:t>
            </a:fld>
            <a:endParaRPr lang="en-US"/>
          </a:p>
        </p:txBody>
      </p:sp>
    </p:spTree>
    <p:extLst>
      <p:ext uri="{BB962C8B-B14F-4D97-AF65-F5344CB8AC3E}">
        <p14:creationId xmlns:p14="http://schemas.microsoft.com/office/powerpoint/2010/main" val="36134612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8BE8CB8-3CAC-4BEB-A90E-D13783BBC4F0}" type="datetimeFigureOut">
              <a:rPr lang="en-US" smtClean="0"/>
              <a:t>12/31/2025</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69B65509-F919-4F6A-BA4E-56D6EBE4DC33}" type="slidenum">
              <a:rPr lang="en-US" smtClean="0"/>
              <a:t>‹#›</a:t>
            </a:fld>
            <a:endParaRPr lang="en-US"/>
          </a:p>
        </p:txBody>
      </p:sp>
    </p:spTree>
    <p:extLst>
      <p:ext uri="{BB962C8B-B14F-4D97-AF65-F5344CB8AC3E}">
        <p14:creationId xmlns:p14="http://schemas.microsoft.com/office/powerpoint/2010/main" val="3439957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2869989-EB00-4EE7-BCB5-25BDC5BB29F8}" type="slidenum">
              <a:rPr lang="en-US" smtClean="0"/>
              <a:t>3</a:t>
            </a:fld>
            <a:endParaRPr lang="en-US"/>
          </a:p>
        </p:txBody>
      </p:sp>
    </p:spTree>
    <p:extLst>
      <p:ext uri="{BB962C8B-B14F-4D97-AF65-F5344CB8AC3E}">
        <p14:creationId xmlns:p14="http://schemas.microsoft.com/office/powerpoint/2010/main" val="2409517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E70C9F84-8E29-4679-9314-E62EFDAD2D8E}" type="slidenum">
              <a:rPr lang="ar-SA" smtClean="0"/>
              <a:pPr/>
              <a:t>23</a:t>
            </a:fld>
            <a:endParaRPr lang="en-US"/>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p:spPr>
        <p:txBody>
          <a:bodyPr/>
          <a:lstStyle/>
          <a:p>
            <a:pPr eaLnBrk="1" hangingPunct="1"/>
            <a:endParaRPr lang="ar-JO"/>
          </a:p>
        </p:txBody>
      </p:sp>
    </p:spTree>
    <p:extLst>
      <p:ext uri="{BB962C8B-B14F-4D97-AF65-F5344CB8AC3E}">
        <p14:creationId xmlns:p14="http://schemas.microsoft.com/office/powerpoint/2010/main" val="2774887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6602915E-2C6B-4E3A-9C8A-7AA4F598D659}" type="slidenum">
              <a:rPr lang="en-US" smtClean="0"/>
              <a:pPr/>
              <a:t>24</a:t>
            </a:fld>
            <a:endParaRPr lang="en-US"/>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p:spPr>
        <p:txBody>
          <a:bodyPr/>
          <a:lstStyle/>
          <a:p>
            <a:endParaRPr lang="ar-JO"/>
          </a:p>
        </p:txBody>
      </p:sp>
    </p:spTree>
    <p:extLst>
      <p:ext uri="{BB962C8B-B14F-4D97-AF65-F5344CB8AC3E}">
        <p14:creationId xmlns:p14="http://schemas.microsoft.com/office/powerpoint/2010/main" val="3522195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B98D894F-47A1-4B11-AB90-E01D729B1FDE}" type="slidenum">
              <a:rPr lang="en-US" smtClean="0"/>
              <a:pPr/>
              <a:t>25</a:t>
            </a:fld>
            <a:endParaRPr lang="en-US"/>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p:spPr>
        <p:txBody>
          <a:bodyPr/>
          <a:lstStyle/>
          <a:p>
            <a:endParaRPr lang="ar-JO"/>
          </a:p>
        </p:txBody>
      </p:sp>
    </p:spTree>
    <p:extLst>
      <p:ext uri="{BB962C8B-B14F-4D97-AF65-F5344CB8AC3E}">
        <p14:creationId xmlns:p14="http://schemas.microsoft.com/office/powerpoint/2010/main" val="3806436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69BBD769-0135-476F-A92A-3AD3DB58B584}" type="slidenum">
              <a:rPr lang="en-US" smtClean="0"/>
              <a:pPr/>
              <a:t>26</a:t>
            </a:fld>
            <a:endParaRPr lang="en-US"/>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endParaRPr lang="ar-JO"/>
          </a:p>
        </p:txBody>
      </p:sp>
    </p:spTree>
    <p:extLst>
      <p:ext uri="{BB962C8B-B14F-4D97-AF65-F5344CB8AC3E}">
        <p14:creationId xmlns:p14="http://schemas.microsoft.com/office/powerpoint/2010/main" val="171604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2450" name="Rectangle 2"/>
          <p:cNvSpPr>
            <a:spLocks noGrp="1" noRot="1" noChangeAspect="1" noChangeArrowheads="1" noTextEdit="1"/>
          </p:cNvSpPr>
          <p:nvPr>
            <p:ph type="sldImg"/>
          </p:nvPr>
        </p:nvSpPr>
        <p:spPr>
          <a:ln/>
        </p:spPr>
      </p:sp>
      <p:sp>
        <p:nvSpPr>
          <p:cNvPr id="21524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058070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3474" name="Rectangle 2"/>
          <p:cNvSpPr>
            <a:spLocks noGrp="1" noRot="1" noChangeAspect="1" noChangeArrowheads="1" noTextEdit="1"/>
          </p:cNvSpPr>
          <p:nvPr>
            <p:ph type="sldImg"/>
          </p:nvPr>
        </p:nvSpPr>
        <p:spPr>
          <a:ln/>
        </p:spPr>
      </p:sp>
      <p:sp>
        <p:nvSpPr>
          <p:cNvPr id="21534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00544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5522" name="Rectangle 2"/>
          <p:cNvSpPr>
            <a:spLocks noGrp="1" noRot="1" noChangeAspect="1" noChangeArrowheads="1" noTextEdit="1"/>
          </p:cNvSpPr>
          <p:nvPr>
            <p:ph type="sldImg"/>
          </p:nvPr>
        </p:nvSpPr>
        <p:spPr>
          <a:ln/>
        </p:spPr>
      </p:sp>
      <p:sp>
        <p:nvSpPr>
          <p:cNvPr id="215552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866659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6546" name="Rectangle 2"/>
          <p:cNvSpPr>
            <a:spLocks noGrp="1" noRot="1" noChangeAspect="1" noChangeArrowheads="1" noTextEdit="1"/>
          </p:cNvSpPr>
          <p:nvPr>
            <p:ph type="sldImg"/>
          </p:nvPr>
        </p:nvSpPr>
        <p:spPr>
          <a:ln/>
        </p:spPr>
      </p:sp>
      <p:sp>
        <p:nvSpPr>
          <p:cNvPr id="215654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9798366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7570" name="Rectangle 2"/>
          <p:cNvSpPr>
            <a:spLocks noGrp="1" noRot="1" noChangeAspect="1" noChangeArrowheads="1" noTextEdit="1"/>
          </p:cNvSpPr>
          <p:nvPr>
            <p:ph type="sldImg"/>
          </p:nvPr>
        </p:nvSpPr>
        <p:spPr>
          <a:ln/>
        </p:spPr>
      </p:sp>
      <p:sp>
        <p:nvSpPr>
          <p:cNvPr id="21575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361269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8594" name="Rectangle 2"/>
          <p:cNvSpPr>
            <a:spLocks noGrp="1" noRot="1" noChangeAspect="1" noChangeArrowheads="1" noTextEdit="1"/>
          </p:cNvSpPr>
          <p:nvPr>
            <p:ph type="sldImg"/>
          </p:nvPr>
        </p:nvSpPr>
        <p:spPr>
          <a:ln/>
        </p:spPr>
      </p:sp>
      <p:sp>
        <p:nvSpPr>
          <p:cNvPr id="215859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43602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9618" name="Rectangle 2"/>
          <p:cNvSpPr>
            <a:spLocks noGrp="1" noRot="1" noChangeAspect="1" noChangeArrowheads="1" noTextEdit="1"/>
          </p:cNvSpPr>
          <p:nvPr>
            <p:ph type="sldImg"/>
          </p:nvPr>
        </p:nvSpPr>
        <p:spPr>
          <a:ln/>
        </p:spPr>
      </p:sp>
      <p:sp>
        <p:nvSpPr>
          <p:cNvPr id="215961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4940772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42" name="Rectangle 2"/>
          <p:cNvSpPr>
            <a:spLocks noGrp="1" noRot="1" noChangeAspect="1" noChangeArrowheads="1" noTextEdit="1"/>
          </p:cNvSpPr>
          <p:nvPr>
            <p:ph type="sldImg"/>
          </p:nvPr>
        </p:nvSpPr>
        <p:spPr>
          <a:ln/>
        </p:spPr>
      </p:sp>
      <p:sp>
        <p:nvSpPr>
          <p:cNvPr id="216064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28159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1666" name="Rectangle 2"/>
          <p:cNvSpPr>
            <a:spLocks noGrp="1" noRot="1" noChangeAspect="1" noChangeArrowheads="1" noTextEdit="1"/>
          </p:cNvSpPr>
          <p:nvPr>
            <p:ph type="sldImg"/>
          </p:nvPr>
        </p:nvSpPr>
        <p:spPr>
          <a:ln/>
        </p:spPr>
      </p:sp>
      <p:sp>
        <p:nvSpPr>
          <p:cNvPr id="21616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34477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2690" name="Rectangle 2"/>
          <p:cNvSpPr>
            <a:spLocks noGrp="1" noRot="1" noChangeAspect="1" noChangeArrowheads="1" noTextEdit="1"/>
          </p:cNvSpPr>
          <p:nvPr>
            <p:ph type="sldImg"/>
          </p:nvPr>
        </p:nvSpPr>
        <p:spPr>
          <a:ln/>
        </p:spPr>
      </p:sp>
      <p:sp>
        <p:nvSpPr>
          <p:cNvPr id="216269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5201766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3714" name="Rectangle 2"/>
          <p:cNvSpPr>
            <a:spLocks noGrp="1" noRot="1" noChangeAspect="1" noChangeArrowheads="1" noTextEdit="1"/>
          </p:cNvSpPr>
          <p:nvPr>
            <p:ph type="sldImg"/>
          </p:nvPr>
        </p:nvSpPr>
        <p:spPr>
          <a:ln/>
        </p:spPr>
      </p:sp>
      <p:sp>
        <p:nvSpPr>
          <p:cNvPr id="216371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566110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4738" name="Rectangle 2"/>
          <p:cNvSpPr>
            <a:spLocks noGrp="1" noRot="1" noChangeAspect="1" noChangeArrowheads="1" noTextEdit="1"/>
          </p:cNvSpPr>
          <p:nvPr>
            <p:ph type="sldImg"/>
          </p:nvPr>
        </p:nvSpPr>
        <p:spPr>
          <a:ln/>
        </p:spPr>
      </p:sp>
      <p:sp>
        <p:nvSpPr>
          <p:cNvPr id="21647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6326056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5762" name="Rectangle 2"/>
          <p:cNvSpPr>
            <a:spLocks noGrp="1" noRot="1" noChangeAspect="1" noChangeArrowheads="1" noTextEdit="1"/>
          </p:cNvSpPr>
          <p:nvPr>
            <p:ph type="sldImg"/>
          </p:nvPr>
        </p:nvSpPr>
        <p:spPr>
          <a:ln/>
        </p:spPr>
      </p:sp>
      <p:sp>
        <p:nvSpPr>
          <p:cNvPr id="21657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7772382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6786" name="Rectangle 2"/>
          <p:cNvSpPr>
            <a:spLocks noGrp="1" noRot="1" noChangeAspect="1" noChangeArrowheads="1" noTextEdit="1"/>
          </p:cNvSpPr>
          <p:nvPr>
            <p:ph type="sldImg"/>
          </p:nvPr>
        </p:nvSpPr>
        <p:spPr>
          <a:ln/>
        </p:spPr>
      </p:sp>
      <p:sp>
        <p:nvSpPr>
          <p:cNvPr id="216678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4141742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7810" name="Rectangle 2"/>
          <p:cNvSpPr>
            <a:spLocks noGrp="1" noRot="1" noChangeAspect="1" noChangeArrowheads="1" noTextEdit="1"/>
          </p:cNvSpPr>
          <p:nvPr>
            <p:ph type="sldImg"/>
          </p:nvPr>
        </p:nvSpPr>
        <p:spPr>
          <a:ln/>
        </p:spPr>
      </p:sp>
      <p:sp>
        <p:nvSpPr>
          <p:cNvPr id="2167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641545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8834" name="Rectangle 2"/>
          <p:cNvSpPr>
            <a:spLocks noGrp="1" noRot="1" noChangeAspect="1" noChangeArrowheads="1" noTextEdit="1"/>
          </p:cNvSpPr>
          <p:nvPr>
            <p:ph type="sldImg"/>
          </p:nvPr>
        </p:nvSpPr>
        <p:spPr>
          <a:ln/>
        </p:spPr>
      </p:sp>
      <p:sp>
        <p:nvSpPr>
          <p:cNvPr id="21688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8976542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9858" name="Rectangle 2"/>
          <p:cNvSpPr>
            <a:spLocks noGrp="1" noRot="1" noChangeAspect="1" noChangeArrowheads="1" noTextEdit="1"/>
          </p:cNvSpPr>
          <p:nvPr>
            <p:ph type="sldImg"/>
          </p:nvPr>
        </p:nvSpPr>
        <p:spPr>
          <a:ln/>
        </p:spPr>
      </p:sp>
      <p:sp>
        <p:nvSpPr>
          <p:cNvPr id="216985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9314735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82" name="Rectangle 2"/>
          <p:cNvSpPr>
            <a:spLocks noGrp="1" noRot="1" noChangeAspect="1" noChangeArrowheads="1" noTextEdit="1"/>
          </p:cNvSpPr>
          <p:nvPr>
            <p:ph type="sldImg"/>
          </p:nvPr>
        </p:nvSpPr>
        <p:spPr>
          <a:ln/>
        </p:spPr>
      </p:sp>
      <p:sp>
        <p:nvSpPr>
          <p:cNvPr id="217088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7229626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1906" name="Rectangle 2"/>
          <p:cNvSpPr>
            <a:spLocks noGrp="1" noRot="1" noChangeAspect="1" noChangeArrowheads="1" noTextEdit="1"/>
          </p:cNvSpPr>
          <p:nvPr>
            <p:ph type="sldImg"/>
          </p:nvPr>
        </p:nvSpPr>
        <p:spPr>
          <a:ln/>
        </p:spPr>
      </p:sp>
      <p:sp>
        <p:nvSpPr>
          <p:cNvPr id="217190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6602730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2930" name="Rectangle 2"/>
          <p:cNvSpPr>
            <a:spLocks noGrp="1" noRot="1" noChangeAspect="1" noChangeArrowheads="1" noTextEdit="1"/>
          </p:cNvSpPr>
          <p:nvPr>
            <p:ph type="sldImg"/>
          </p:nvPr>
        </p:nvSpPr>
        <p:spPr>
          <a:ln/>
        </p:spPr>
      </p:sp>
      <p:sp>
        <p:nvSpPr>
          <p:cNvPr id="217293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2435368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3954" name="Rectangle 2"/>
          <p:cNvSpPr>
            <a:spLocks noGrp="1" noRot="1" noChangeAspect="1" noChangeArrowheads="1" noTextEdit="1"/>
          </p:cNvSpPr>
          <p:nvPr>
            <p:ph type="sldImg"/>
          </p:nvPr>
        </p:nvSpPr>
        <p:spPr>
          <a:ln/>
        </p:spPr>
      </p:sp>
      <p:sp>
        <p:nvSpPr>
          <p:cNvPr id="217395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424944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4978" name="Rectangle 2"/>
          <p:cNvSpPr>
            <a:spLocks noGrp="1" noRot="1" noChangeAspect="1" noChangeArrowheads="1" noTextEdit="1"/>
          </p:cNvSpPr>
          <p:nvPr>
            <p:ph type="sldImg"/>
          </p:nvPr>
        </p:nvSpPr>
        <p:spPr>
          <a:ln/>
        </p:spPr>
      </p:sp>
      <p:sp>
        <p:nvSpPr>
          <p:cNvPr id="217497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6755553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3474" name="Rectangle 2"/>
          <p:cNvSpPr>
            <a:spLocks noGrp="1" noRot="1" noChangeAspect="1" noChangeArrowheads="1" noTextEdit="1"/>
          </p:cNvSpPr>
          <p:nvPr>
            <p:ph type="sldImg"/>
          </p:nvPr>
        </p:nvSpPr>
        <p:spPr>
          <a:ln/>
        </p:spPr>
      </p:sp>
      <p:sp>
        <p:nvSpPr>
          <p:cNvPr id="21534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0742088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7026" name="Rectangle 2"/>
          <p:cNvSpPr>
            <a:spLocks noGrp="1" noRot="1" noChangeAspect="1" noChangeArrowheads="1" noTextEdit="1"/>
          </p:cNvSpPr>
          <p:nvPr>
            <p:ph type="sldImg"/>
          </p:nvPr>
        </p:nvSpPr>
        <p:spPr>
          <a:ln/>
        </p:spPr>
      </p:sp>
      <p:sp>
        <p:nvSpPr>
          <p:cNvPr id="217702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63333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8114" name="Rectangle 2"/>
          <p:cNvSpPr>
            <a:spLocks noGrp="1" noRot="1" noChangeAspect="1" noChangeArrowheads="1" noTextEdit="1"/>
          </p:cNvSpPr>
          <p:nvPr>
            <p:ph type="sldImg"/>
          </p:nvPr>
        </p:nvSpPr>
        <p:spPr>
          <a:ln/>
        </p:spPr>
      </p:sp>
      <p:sp>
        <p:nvSpPr>
          <p:cNvPr id="213811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0673212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9138" name="Rectangle 2"/>
          <p:cNvSpPr>
            <a:spLocks noGrp="1" noRot="1" noChangeAspect="1" noChangeArrowheads="1" noTextEdit="1"/>
          </p:cNvSpPr>
          <p:nvPr>
            <p:ph type="sldImg"/>
          </p:nvPr>
        </p:nvSpPr>
        <p:spPr>
          <a:ln/>
        </p:spPr>
      </p:sp>
      <p:sp>
        <p:nvSpPr>
          <p:cNvPr id="21391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850589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5282" name="Rectangle 2"/>
          <p:cNvSpPr>
            <a:spLocks noGrp="1" noRot="1" noChangeAspect="1" noChangeArrowheads="1" noTextEdit="1"/>
          </p:cNvSpPr>
          <p:nvPr>
            <p:ph type="sldImg"/>
          </p:nvPr>
        </p:nvSpPr>
        <p:spPr>
          <a:ln/>
        </p:spPr>
      </p:sp>
      <p:sp>
        <p:nvSpPr>
          <p:cNvPr id="214528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7901896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62" name="Rectangle 2"/>
          <p:cNvSpPr>
            <a:spLocks noGrp="1" noRot="1" noChangeAspect="1" noChangeArrowheads="1" noTextEdit="1"/>
          </p:cNvSpPr>
          <p:nvPr>
            <p:ph type="sldImg"/>
          </p:nvPr>
        </p:nvSpPr>
        <p:spPr>
          <a:ln/>
        </p:spPr>
      </p:sp>
      <p:sp>
        <p:nvSpPr>
          <p:cNvPr id="21401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44431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BF5CDCFB-DC88-4C54-B707-600EFFCA9239}" type="slidenum">
              <a:rPr lang="ar-SA" smtClean="0"/>
              <a:pPr/>
              <a:t>55</a:t>
            </a:fld>
            <a:endParaRPr lang="en-US"/>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p:spPr>
        <p:txBody>
          <a:bodyPr/>
          <a:lstStyle/>
          <a:p>
            <a:pPr eaLnBrk="1" hangingPunct="1"/>
            <a:endParaRPr lang="ar-JO"/>
          </a:p>
        </p:txBody>
      </p:sp>
    </p:spTree>
    <p:extLst>
      <p:ext uri="{BB962C8B-B14F-4D97-AF65-F5344CB8AC3E}">
        <p14:creationId xmlns:p14="http://schemas.microsoft.com/office/powerpoint/2010/main" val="40019739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E5E93C18-5B95-43FF-9A54-CA4EF5A18453}" type="slidenum">
              <a:rPr lang="ar-SA" smtClean="0"/>
              <a:pPr/>
              <a:t>56</a:t>
            </a:fld>
            <a:endParaRPr lang="en-US"/>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ar-JO"/>
          </a:p>
        </p:txBody>
      </p:sp>
    </p:spTree>
    <p:extLst>
      <p:ext uri="{BB962C8B-B14F-4D97-AF65-F5344CB8AC3E}">
        <p14:creationId xmlns:p14="http://schemas.microsoft.com/office/powerpoint/2010/main" val="13707450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97CFB7DB-3AC5-4892-AA1D-7312AAA1703F}" type="slidenum">
              <a:rPr lang="en-US" smtClean="0"/>
              <a:pPr/>
              <a:t>57</a:t>
            </a:fld>
            <a:endParaRPr lang="en-US"/>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endParaRPr lang="ar-JO"/>
          </a:p>
        </p:txBody>
      </p:sp>
    </p:spTree>
    <p:extLst>
      <p:ext uri="{BB962C8B-B14F-4D97-AF65-F5344CB8AC3E}">
        <p14:creationId xmlns:p14="http://schemas.microsoft.com/office/powerpoint/2010/main" val="36719271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426" name="Rectangle 2"/>
          <p:cNvSpPr>
            <a:spLocks noGrp="1" noRot="1" noChangeAspect="1" noChangeArrowheads="1" noTextEdit="1"/>
          </p:cNvSpPr>
          <p:nvPr>
            <p:ph type="sldImg"/>
          </p:nvPr>
        </p:nvSpPr>
        <p:spPr>
          <a:ln/>
        </p:spPr>
      </p:sp>
      <p:sp>
        <p:nvSpPr>
          <p:cNvPr id="215142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1105751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p>
            <a:fld id="{9671B83E-9639-4821-8A33-DE69E04EA0A6}" type="slidenum">
              <a:rPr lang="en-US" smtClean="0"/>
              <a:pPr/>
              <a:t>59</a:t>
            </a:fld>
            <a:endParaRPr lang="en-US"/>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p:spPr>
        <p:txBody>
          <a:bodyPr/>
          <a:lstStyle/>
          <a:p>
            <a:endParaRPr lang="ar-JO"/>
          </a:p>
        </p:txBody>
      </p:sp>
    </p:spTree>
    <p:extLst>
      <p:ext uri="{BB962C8B-B14F-4D97-AF65-F5344CB8AC3E}">
        <p14:creationId xmlns:p14="http://schemas.microsoft.com/office/powerpoint/2010/main" val="20235147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6CF19EAB-B4A3-477F-A156-AB50507800B8}" type="slidenum">
              <a:rPr lang="en-US" smtClean="0"/>
              <a:pPr/>
              <a:t>60</a:t>
            </a:fld>
            <a:endParaRPr lang="en-US"/>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p:spPr>
        <p:txBody>
          <a:bodyPr/>
          <a:lstStyle/>
          <a:p>
            <a:endParaRPr lang="ar-JO"/>
          </a:p>
        </p:txBody>
      </p:sp>
    </p:spTree>
    <p:extLst>
      <p:ext uri="{BB962C8B-B14F-4D97-AF65-F5344CB8AC3E}">
        <p14:creationId xmlns:p14="http://schemas.microsoft.com/office/powerpoint/2010/main" val="338862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fld id="{0D6A2340-A2C1-4D94-8B91-14DF049843A4}" type="slidenum">
              <a:rPr lang="en-US" smtClean="0"/>
              <a:pPr/>
              <a:t>61</a:t>
            </a:fld>
            <a:endParaRPr lang="en-US"/>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p:spPr>
        <p:txBody>
          <a:bodyPr/>
          <a:lstStyle/>
          <a:p>
            <a:endParaRPr lang="ar-JO"/>
          </a:p>
        </p:txBody>
      </p:sp>
    </p:spTree>
    <p:extLst>
      <p:ext uri="{BB962C8B-B14F-4D97-AF65-F5344CB8AC3E}">
        <p14:creationId xmlns:p14="http://schemas.microsoft.com/office/powerpoint/2010/main" val="31416753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4FA82FFB-0ACF-4C73-9CEB-3C71BEF175EE}" type="slidenum">
              <a:rPr lang="en-US" smtClean="0"/>
              <a:pPr/>
              <a:t>62</a:t>
            </a:fld>
            <a:endParaRPr lang="en-US"/>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endParaRPr lang="ar-JO"/>
          </a:p>
        </p:txBody>
      </p:sp>
    </p:spTree>
    <p:extLst>
      <p:ext uri="{BB962C8B-B14F-4D97-AF65-F5344CB8AC3E}">
        <p14:creationId xmlns:p14="http://schemas.microsoft.com/office/powerpoint/2010/main" val="7026089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28537155-DEBC-4ED7-AB15-F17676FDF313}" type="slidenum">
              <a:rPr lang="ar-SA" smtClean="0"/>
              <a:pPr/>
              <a:t>63</a:t>
            </a:fld>
            <a:endParaRPr lang="en-US"/>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p:spPr>
        <p:txBody>
          <a:bodyPr/>
          <a:lstStyle/>
          <a:p>
            <a:pPr eaLnBrk="1" hangingPunct="1"/>
            <a:endParaRPr lang="ar-JO"/>
          </a:p>
        </p:txBody>
      </p:sp>
    </p:spTree>
    <p:extLst>
      <p:ext uri="{BB962C8B-B14F-4D97-AF65-F5344CB8AC3E}">
        <p14:creationId xmlns:p14="http://schemas.microsoft.com/office/powerpoint/2010/main" val="31668969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EA7E159F-002E-4196-8628-D613FBD2A94D}" type="slidenum">
              <a:rPr lang="en-US" smtClean="0"/>
              <a:pPr/>
              <a:t>64</a:t>
            </a:fld>
            <a:endParaRPr lang="en-US"/>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endParaRPr lang="ar-JO"/>
          </a:p>
        </p:txBody>
      </p:sp>
    </p:spTree>
    <p:extLst>
      <p:ext uri="{BB962C8B-B14F-4D97-AF65-F5344CB8AC3E}">
        <p14:creationId xmlns:p14="http://schemas.microsoft.com/office/powerpoint/2010/main" val="31058781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2D08F6A8-2B61-4DF5-B062-3AF1D32564D9}" type="slidenum">
              <a:rPr lang="en-US" smtClean="0"/>
              <a:pPr/>
              <a:t>65</a:t>
            </a:fld>
            <a:endParaRPr lang="en-US"/>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p:spPr>
        <p:txBody>
          <a:bodyPr/>
          <a:lstStyle/>
          <a:p>
            <a:endParaRPr lang="ar-JO"/>
          </a:p>
        </p:txBody>
      </p:sp>
    </p:spTree>
    <p:extLst>
      <p:ext uri="{BB962C8B-B14F-4D97-AF65-F5344CB8AC3E}">
        <p14:creationId xmlns:p14="http://schemas.microsoft.com/office/powerpoint/2010/main" val="25104055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atin typeface="Times New Roman" panose="02020603050405020304" pitchFamily="18" charset="0"/>
                <a:cs typeface="Times New Roman" panose="02020603050405020304" pitchFamily="18"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F388CE0-1C8D-443A-A26F-17C13D2EB318}" type="datetime1">
              <a:rPr lang="en-US" smtClean="0"/>
              <a:pPr/>
              <a:t>12/31/2025</a:t>
            </a:fld>
            <a:endParaRPr lang="en-US"/>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a:t>Faculty of Information Technology - Computer Science Department</a:t>
            </a:r>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B6F15528-21DE-4FAA-801E-634DDDAF4B2B}" type="slidenum">
              <a:rPr lang="en-US" smtClean="0"/>
              <a:pPr/>
              <a:t>‹#›</a:t>
            </a:fld>
            <a:endParaRPr lang="en-US"/>
          </a:p>
        </p:txBody>
      </p:sp>
      <p:grpSp>
        <p:nvGrpSpPr>
          <p:cNvPr id="7" name="Group 6"/>
          <p:cNvGrpSpPr/>
          <p:nvPr/>
        </p:nvGrpSpPr>
        <p:grpSpPr>
          <a:xfrm>
            <a:off x="0" y="0"/>
            <a:ext cx="12192000" cy="1007492"/>
            <a:chOff x="0" y="0"/>
            <a:chExt cx="12192000" cy="1007492"/>
          </a:xfrm>
        </p:grpSpPr>
        <p:sp>
          <p:nvSpPr>
            <p:cNvPr id="8" name="Rectangle 7"/>
            <p:cNvSpPr/>
            <p:nvPr/>
          </p:nvSpPr>
          <p:spPr>
            <a:xfrm>
              <a:off x="0" y="0"/>
              <a:ext cx="12192000" cy="1001486"/>
            </a:xfrm>
            <a:prstGeom prst="rect">
              <a:avLst/>
            </a:prstGeom>
            <a:solidFill>
              <a:srgbClr val="001B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1234056" y="0"/>
              <a:ext cx="957943" cy="1007492"/>
            </a:xfrm>
            <a:prstGeom prst="rect">
              <a:avLst/>
            </a:prstGeom>
          </p:spPr>
        </p:pic>
      </p:grpSp>
    </p:spTree>
    <p:extLst>
      <p:ext uri="{BB962C8B-B14F-4D97-AF65-F5344CB8AC3E}">
        <p14:creationId xmlns:p14="http://schemas.microsoft.com/office/powerpoint/2010/main" val="627924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7" name="Group 6"/>
          <p:cNvGrpSpPr/>
          <p:nvPr/>
        </p:nvGrpSpPr>
        <p:grpSpPr>
          <a:xfrm>
            <a:off x="0" y="0"/>
            <a:ext cx="12192000" cy="1007492"/>
            <a:chOff x="0" y="0"/>
            <a:chExt cx="12192000" cy="1007492"/>
          </a:xfrm>
        </p:grpSpPr>
        <p:sp>
          <p:nvSpPr>
            <p:cNvPr id="8" name="Rectangle 7"/>
            <p:cNvSpPr/>
            <p:nvPr/>
          </p:nvSpPr>
          <p:spPr>
            <a:xfrm>
              <a:off x="0" y="0"/>
              <a:ext cx="12192000" cy="1001486"/>
            </a:xfrm>
            <a:prstGeom prst="rect">
              <a:avLst/>
            </a:prstGeom>
            <a:solidFill>
              <a:srgbClr val="001B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1234056" y="0"/>
              <a:ext cx="957943" cy="1007492"/>
            </a:xfrm>
            <a:prstGeom prst="rect">
              <a:avLst/>
            </a:prstGeom>
          </p:spPr>
        </p:pic>
      </p:grpSp>
      <p:sp>
        <p:nvSpPr>
          <p:cNvPr id="2" name="Title 1"/>
          <p:cNvSpPr>
            <a:spLocks noGrp="1"/>
          </p:cNvSpPr>
          <p:nvPr>
            <p:ph type="title"/>
          </p:nvPr>
        </p:nvSpPr>
        <p:spPr>
          <a:xfrm>
            <a:off x="498567" y="182564"/>
            <a:ext cx="10515600" cy="636361"/>
          </a:xfrm>
        </p:spPr>
        <p:txBody>
          <a:bodyPr>
            <a:noAutofit/>
          </a:bodyPr>
          <a:lstStyle>
            <a:lvl1pPr>
              <a:defRPr sz="3000">
                <a:solidFill>
                  <a:schemeClr val="bg1"/>
                </a:solidFill>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a:xfrm>
            <a:off x="498567" y="1184048"/>
            <a:ext cx="10515600" cy="435133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D06D6FBD-CD5A-48C9-BE5C-A53A00859792}" type="datetime1">
              <a:rPr lang="en-US" smtClean="0"/>
              <a:pPr/>
              <a:t>12/31/2025</a:t>
            </a:fld>
            <a:endParaRPr lang="en-US"/>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a:t>Faculty of Information Technology - Computer Science Department</a:t>
            </a:r>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313881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1851" y="1097281"/>
            <a:ext cx="10515600" cy="499237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B486D4-A4C2-46D7-868C-FF4109B1B30D}" type="datetime1">
              <a:rPr lang="en-US" smtClean="0"/>
              <a:t>12/31/2025</a:t>
            </a:fld>
            <a:endParaRPr lang="en-US"/>
          </a:p>
        </p:txBody>
      </p:sp>
      <p:sp>
        <p:nvSpPr>
          <p:cNvPr id="5" name="Footer Placeholder 4"/>
          <p:cNvSpPr>
            <a:spLocks noGrp="1"/>
          </p:cNvSpPr>
          <p:nvPr>
            <p:ph type="ftr" sz="quarter" idx="11"/>
          </p:nvPr>
        </p:nvSpPr>
        <p:spPr/>
        <p:txBody>
          <a:bodyPr/>
          <a:lstStyle/>
          <a:p>
            <a:r>
              <a:rPr lang="en-US"/>
              <a:t>Faculty of Information Technology - Computer Science Department</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grpSp>
        <p:nvGrpSpPr>
          <p:cNvPr id="7" name="Group 6"/>
          <p:cNvGrpSpPr/>
          <p:nvPr/>
        </p:nvGrpSpPr>
        <p:grpSpPr>
          <a:xfrm>
            <a:off x="0" y="0"/>
            <a:ext cx="12192000" cy="1007492"/>
            <a:chOff x="0" y="0"/>
            <a:chExt cx="12192000" cy="1007492"/>
          </a:xfrm>
        </p:grpSpPr>
        <p:sp>
          <p:nvSpPr>
            <p:cNvPr id="8" name="Rectangle 7"/>
            <p:cNvSpPr/>
            <p:nvPr/>
          </p:nvSpPr>
          <p:spPr>
            <a:xfrm>
              <a:off x="0" y="0"/>
              <a:ext cx="12192000" cy="1001486"/>
            </a:xfrm>
            <a:prstGeom prst="rect">
              <a:avLst/>
            </a:prstGeom>
            <a:solidFill>
              <a:srgbClr val="001B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9" name="Picture 8"/>
            <p:cNvPicPr>
              <a:picLocks noChangeAspect="1"/>
            </p:cNvPicPr>
            <p:nvPr/>
          </p:nvPicPr>
          <p:blipFill>
            <a:blip r:embed="rId2"/>
            <a:stretch>
              <a:fillRect/>
            </a:stretch>
          </p:blipFill>
          <p:spPr>
            <a:xfrm>
              <a:off x="11234056" y="0"/>
              <a:ext cx="957943" cy="1007492"/>
            </a:xfrm>
            <a:prstGeom prst="rect">
              <a:avLst/>
            </a:prstGeom>
          </p:spPr>
        </p:pic>
      </p:grpSp>
      <p:sp>
        <p:nvSpPr>
          <p:cNvPr id="2" name="Title 1"/>
          <p:cNvSpPr>
            <a:spLocks noGrp="1"/>
          </p:cNvSpPr>
          <p:nvPr>
            <p:ph type="title"/>
          </p:nvPr>
        </p:nvSpPr>
        <p:spPr>
          <a:xfrm>
            <a:off x="718455" y="161678"/>
            <a:ext cx="10515600" cy="678133"/>
          </a:xfrm>
        </p:spPr>
        <p:txBody>
          <a:bodyPr anchor="b">
            <a:normAutofit/>
          </a:bodyPr>
          <a:lstStyle>
            <a:lvl1pPr>
              <a:defRPr sz="3000">
                <a:solidFill>
                  <a:schemeClr val="bg1"/>
                </a:solidFill>
              </a:defRPr>
            </a:lvl1pPr>
          </a:lstStyle>
          <a:p>
            <a:r>
              <a:rPr lang="en-US"/>
              <a:t>Click to edit Master title style</a:t>
            </a:r>
          </a:p>
        </p:txBody>
      </p:sp>
    </p:spTree>
    <p:extLst>
      <p:ext uri="{BB962C8B-B14F-4D97-AF65-F5344CB8AC3E}">
        <p14:creationId xmlns:p14="http://schemas.microsoft.com/office/powerpoint/2010/main" val="3660616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146357"/>
            <a:ext cx="5181600" cy="50214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146357"/>
            <a:ext cx="5181600" cy="50214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1D0AD2C-D9FB-4B57-99B4-1DF6264E3A5D}" type="datetime1">
              <a:rPr lang="en-US" smtClean="0"/>
              <a:t>12/31/2025</a:t>
            </a:fld>
            <a:endParaRPr lang="en-US"/>
          </a:p>
        </p:txBody>
      </p:sp>
      <p:sp>
        <p:nvSpPr>
          <p:cNvPr id="6" name="Footer Placeholder 5"/>
          <p:cNvSpPr>
            <a:spLocks noGrp="1"/>
          </p:cNvSpPr>
          <p:nvPr>
            <p:ph type="ftr" sz="quarter" idx="11"/>
          </p:nvPr>
        </p:nvSpPr>
        <p:spPr>
          <a:xfrm>
            <a:off x="3886200" y="6356352"/>
            <a:ext cx="4572000" cy="365125"/>
          </a:xfrm>
        </p:spPr>
        <p:txBody>
          <a:bodyPr/>
          <a:lstStyle>
            <a:lvl1pPr>
              <a:defRPr sz="1200">
                <a:solidFill>
                  <a:schemeClr val="tx1"/>
                </a:solidFill>
                <a:latin typeface="Times New Roman" panose="02020603050405020304" pitchFamily="18" charset="0"/>
                <a:cs typeface="Times New Roman" panose="02020603050405020304" pitchFamily="18" charset="0"/>
              </a:defRPr>
            </a:lvl1pPr>
          </a:lstStyle>
          <a:p>
            <a:r>
              <a:rPr lang="en-US" dirty="0"/>
              <a:t>Faculty of Information Technology - Computer Science Department</a:t>
            </a:r>
          </a:p>
        </p:txBody>
      </p:sp>
      <p:sp>
        <p:nvSpPr>
          <p:cNvPr id="7" name="Slide Number Placeholder 6"/>
          <p:cNvSpPr>
            <a:spLocks noGrp="1"/>
          </p:cNvSpPr>
          <p:nvPr>
            <p:ph type="sldNum" sz="quarter" idx="12"/>
          </p:nvPr>
        </p:nvSpPr>
        <p:spPr/>
        <p:txBody>
          <a:bodyPr/>
          <a:lstStyle>
            <a:lvl1pPr>
              <a:defRPr lang="en-US" sz="1200" kern="1200" smtClean="0">
                <a:solidFill>
                  <a:schemeClr val="tx1"/>
                </a:solidFill>
                <a:latin typeface="Times New Roman" panose="02020603050405020304" pitchFamily="18" charset="0"/>
                <a:ea typeface="+mn-ea"/>
                <a:cs typeface="Times New Roman" panose="02020603050405020304" pitchFamily="18" charset="0"/>
              </a:defRPr>
            </a:lvl1pPr>
          </a:lstStyle>
          <a:p>
            <a:fld id="{B6F15528-21DE-4FAA-801E-634DDDAF4B2B}" type="slidenum">
              <a:rPr lang="en-US" smtClean="0"/>
              <a:pPr/>
              <a:t>‹#›</a:t>
            </a:fld>
            <a:endParaRPr lang="en-US" dirty="0"/>
          </a:p>
        </p:txBody>
      </p:sp>
      <p:grpSp>
        <p:nvGrpSpPr>
          <p:cNvPr id="8" name="Group 7"/>
          <p:cNvGrpSpPr/>
          <p:nvPr/>
        </p:nvGrpSpPr>
        <p:grpSpPr>
          <a:xfrm>
            <a:off x="0" y="0"/>
            <a:ext cx="12192000" cy="1007492"/>
            <a:chOff x="0" y="0"/>
            <a:chExt cx="12192000" cy="1007492"/>
          </a:xfrm>
        </p:grpSpPr>
        <p:sp>
          <p:nvSpPr>
            <p:cNvPr id="9" name="Rectangle 8"/>
            <p:cNvSpPr/>
            <p:nvPr/>
          </p:nvSpPr>
          <p:spPr>
            <a:xfrm>
              <a:off x="0" y="0"/>
              <a:ext cx="12192000" cy="1001486"/>
            </a:xfrm>
            <a:prstGeom prst="rect">
              <a:avLst/>
            </a:prstGeom>
            <a:solidFill>
              <a:srgbClr val="001B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p:cNvPicPr>
              <a:picLocks noChangeAspect="1"/>
            </p:cNvPicPr>
            <p:nvPr/>
          </p:nvPicPr>
          <p:blipFill>
            <a:blip r:embed="rId2"/>
            <a:stretch>
              <a:fillRect/>
            </a:stretch>
          </p:blipFill>
          <p:spPr>
            <a:xfrm>
              <a:off x="11234056" y="0"/>
              <a:ext cx="957943" cy="1007492"/>
            </a:xfrm>
            <a:prstGeom prst="rect">
              <a:avLst/>
            </a:prstGeom>
          </p:spPr>
        </p:pic>
      </p:grpSp>
      <p:sp>
        <p:nvSpPr>
          <p:cNvPr id="2" name="Title 1"/>
          <p:cNvSpPr>
            <a:spLocks noGrp="1"/>
          </p:cNvSpPr>
          <p:nvPr>
            <p:ph type="title"/>
          </p:nvPr>
        </p:nvSpPr>
        <p:spPr>
          <a:xfrm>
            <a:off x="359228" y="182564"/>
            <a:ext cx="10515600" cy="636361"/>
          </a:xfrm>
        </p:spPr>
        <p:txBody>
          <a:bodyPr>
            <a:normAutofit/>
          </a:bodyPr>
          <a:lstStyle>
            <a:lvl1pPr>
              <a:defRPr sz="3000">
                <a:solidFill>
                  <a:schemeClr val="bg1"/>
                </a:solidFill>
              </a:defRPr>
            </a:lvl1pPr>
          </a:lstStyle>
          <a:p>
            <a:r>
              <a:rPr lang="en-US"/>
              <a:t>Click to edit Master title style</a:t>
            </a:r>
          </a:p>
        </p:txBody>
      </p:sp>
    </p:spTree>
    <p:extLst>
      <p:ext uri="{BB962C8B-B14F-4D97-AF65-F5344CB8AC3E}">
        <p14:creationId xmlns:p14="http://schemas.microsoft.com/office/powerpoint/2010/main" val="3248177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9" y="1088987"/>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39789" y="1912900"/>
            <a:ext cx="5157787" cy="43398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088987"/>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72201" y="1912900"/>
            <a:ext cx="5183188" cy="43398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4390CF-A2DC-493A-B10C-8354709A26FE}" type="datetime1">
              <a:rPr lang="en-US" smtClean="0"/>
              <a:t>12/31/2025</a:t>
            </a:fld>
            <a:endParaRPr lang="en-US"/>
          </a:p>
        </p:txBody>
      </p:sp>
      <p:sp>
        <p:nvSpPr>
          <p:cNvPr id="8" name="Footer Placeholder 7"/>
          <p:cNvSpPr>
            <a:spLocks noGrp="1"/>
          </p:cNvSpPr>
          <p:nvPr>
            <p:ph type="ftr" sz="quarter" idx="11"/>
          </p:nvPr>
        </p:nvSpPr>
        <p:spPr>
          <a:xfrm>
            <a:off x="3733800" y="6356352"/>
            <a:ext cx="4724400" cy="365125"/>
          </a:xfrm>
        </p:spPr>
        <p:txBody>
          <a:bodyPr/>
          <a:lstStyle>
            <a:lvl1pPr marL="0" algn="ctr" defTabSz="914400" rtl="0" eaLnBrk="1" latinLnBrk="0" hangingPunct="1">
              <a:defRPr lang="en-US" sz="1200" kern="1200" smtClean="0">
                <a:solidFill>
                  <a:schemeClr val="tx1"/>
                </a:solidFill>
                <a:latin typeface="Times New Roman" panose="02020603050405020304" pitchFamily="18" charset="0"/>
                <a:ea typeface="+mn-ea"/>
                <a:cs typeface="Times New Roman" panose="02020603050405020304" pitchFamily="18" charset="0"/>
              </a:defRPr>
            </a:lvl1pPr>
          </a:lstStyle>
          <a:p>
            <a:r>
              <a:rPr lang="en-US" dirty="0"/>
              <a:t>Faculty of Information Technology - Computer Science Department</a:t>
            </a:r>
          </a:p>
        </p:txBody>
      </p:sp>
      <p:sp>
        <p:nvSpPr>
          <p:cNvPr id="9" name="Slide Number Placeholder 8"/>
          <p:cNvSpPr>
            <a:spLocks noGrp="1"/>
          </p:cNvSpPr>
          <p:nvPr>
            <p:ph type="sldNum" sz="quarter" idx="12"/>
          </p:nvPr>
        </p:nvSpPr>
        <p:spPr/>
        <p:txBody>
          <a:bodyPr/>
          <a:lstStyle>
            <a:lvl1pPr marL="0" algn="r" defTabSz="914400" rtl="0" eaLnBrk="1" latinLnBrk="0" hangingPunct="1">
              <a:defRPr lang="en-US" sz="1200" kern="1200" smtClean="0">
                <a:solidFill>
                  <a:schemeClr val="tx1"/>
                </a:solidFill>
                <a:latin typeface="Times New Roman" panose="02020603050405020304" pitchFamily="18" charset="0"/>
                <a:ea typeface="+mn-ea"/>
                <a:cs typeface="Times New Roman" panose="02020603050405020304" pitchFamily="18" charset="0"/>
              </a:defRPr>
            </a:lvl1pPr>
          </a:lstStyle>
          <a:p>
            <a:fld id="{B6F15528-21DE-4FAA-801E-634DDDAF4B2B}" type="slidenum">
              <a:rPr lang="en-US" smtClean="0"/>
              <a:pPr/>
              <a:t>‹#›</a:t>
            </a:fld>
            <a:endParaRPr lang="en-US" dirty="0"/>
          </a:p>
        </p:txBody>
      </p:sp>
      <p:grpSp>
        <p:nvGrpSpPr>
          <p:cNvPr id="10" name="Group 9"/>
          <p:cNvGrpSpPr/>
          <p:nvPr/>
        </p:nvGrpSpPr>
        <p:grpSpPr>
          <a:xfrm>
            <a:off x="0" y="0"/>
            <a:ext cx="12192000" cy="1007492"/>
            <a:chOff x="0" y="0"/>
            <a:chExt cx="12192000" cy="1007492"/>
          </a:xfrm>
        </p:grpSpPr>
        <p:sp>
          <p:nvSpPr>
            <p:cNvPr id="11" name="Rectangle 10"/>
            <p:cNvSpPr/>
            <p:nvPr/>
          </p:nvSpPr>
          <p:spPr>
            <a:xfrm>
              <a:off x="0" y="0"/>
              <a:ext cx="12192000" cy="1001486"/>
            </a:xfrm>
            <a:prstGeom prst="rect">
              <a:avLst/>
            </a:prstGeom>
            <a:solidFill>
              <a:srgbClr val="001B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2" name="Picture 11"/>
            <p:cNvPicPr>
              <a:picLocks noChangeAspect="1"/>
            </p:cNvPicPr>
            <p:nvPr/>
          </p:nvPicPr>
          <p:blipFill>
            <a:blip r:embed="rId3"/>
            <a:stretch>
              <a:fillRect/>
            </a:stretch>
          </p:blipFill>
          <p:spPr>
            <a:xfrm>
              <a:off x="11234056" y="0"/>
              <a:ext cx="957943" cy="1007492"/>
            </a:xfrm>
            <a:prstGeom prst="rect">
              <a:avLst/>
            </a:prstGeom>
          </p:spPr>
        </p:pic>
      </p:grpSp>
      <p:sp>
        <p:nvSpPr>
          <p:cNvPr id="2" name="Title 1"/>
          <p:cNvSpPr>
            <a:spLocks noGrp="1"/>
          </p:cNvSpPr>
          <p:nvPr>
            <p:ph type="title"/>
          </p:nvPr>
        </p:nvSpPr>
        <p:spPr>
          <a:xfrm>
            <a:off x="359228" y="230460"/>
            <a:ext cx="10515600" cy="540566"/>
          </a:xfrm>
        </p:spPr>
        <p:txBody>
          <a:bodyPr>
            <a:normAutofit/>
          </a:bodyPr>
          <a:lstStyle>
            <a:lvl1pPr>
              <a:defRPr sz="3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814018598"/>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B13EB34-727D-46FF-B5F4-7143E9FAE778}" type="datetime1">
              <a:rPr lang="en-US" smtClean="0"/>
              <a:t>12/31/2025</a:t>
            </a:fld>
            <a:endParaRPr lang="en-US"/>
          </a:p>
        </p:txBody>
      </p:sp>
      <p:sp>
        <p:nvSpPr>
          <p:cNvPr id="4" name="Footer Placeholder 3"/>
          <p:cNvSpPr>
            <a:spLocks noGrp="1"/>
          </p:cNvSpPr>
          <p:nvPr>
            <p:ph type="ftr" sz="quarter" idx="11"/>
          </p:nvPr>
        </p:nvSpPr>
        <p:spPr>
          <a:xfrm>
            <a:off x="3733800" y="6356352"/>
            <a:ext cx="4419600" cy="365125"/>
          </a:xfrm>
        </p:spPr>
        <p:txBody>
          <a:bodyPr/>
          <a:lstStyle>
            <a:lvl1pPr>
              <a:defRPr lang="en-US" sz="1200" kern="1200" dirty="0" smtClean="0">
                <a:solidFill>
                  <a:schemeClr val="tx1"/>
                </a:solidFill>
                <a:latin typeface="Times New Roman" panose="02020603050405020304" pitchFamily="18" charset="0"/>
                <a:ea typeface="+mn-ea"/>
                <a:cs typeface="Times New Roman" panose="02020603050405020304" pitchFamily="18" charset="0"/>
              </a:defRPr>
            </a:lvl1pPr>
          </a:lstStyle>
          <a:p>
            <a:r>
              <a:rPr lang="en-US" dirty="0"/>
              <a:t>Faculty of Information Technology - Computer Science Department</a:t>
            </a:r>
          </a:p>
        </p:txBody>
      </p:sp>
      <p:sp>
        <p:nvSpPr>
          <p:cNvPr id="5" name="Slide Number Placeholder 4"/>
          <p:cNvSpPr>
            <a:spLocks noGrp="1"/>
          </p:cNvSpPr>
          <p:nvPr>
            <p:ph type="sldNum" sz="quarter" idx="12"/>
          </p:nvPr>
        </p:nvSpPr>
        <p:spPr/>
        <p:txBody>
          <a:bodyPr/>
          <a:lstStyle>
            <a:lvl1pPr>
              <a:defRPr lang="en-US" sz="1200" kern="1200" smtClean="0">
                <a:solidFill>
                  <a:schemeClr val="tx1"/>
                </a:solidFill>
                <a:latin typeface="Times New Roman" panose="02020603050405020304" pitchFamily="18" charset="0"/>
                <a:ea typeface="+mn-ea"/>
                <a:cs typeface="Times New Roman" panose="02020603050405020304" pitchFamily="18" charset="0"/>
              </a:defRPr>
            </a:lvl1pPr>
          </a:lstStyle>
          <a:p>
            <a:fld id="{B6F15528-21DE-4FAA-801E-634DDDAF4B2B}" type="slidenum">
              <a:rPr lang="en-US" smtClean="0"/>
              <a:pPr/>
              <a:t>‹#›</a:t>
            </a:fld>
            <a:endParaRPr lang="en-US" dirty="0"/>
          </a:p>
        </p:txBody>
      </p:sp>
      <p:grpSp>
        <p:nvGrpSpPr>
          <p:cNvPr id="6" name="Group 5"/>
          <p:cNvGrpSpPr/>
          <p:nvPr/>
        </p:nvGrpSpPr>
        <p:grpSpPr>
          <a:xfrm>
            <a:off x="0" y="0"/>
            <a:ext cx="12192000" cy="1007492"/>
            <a:chOff x="0" y="0"/>
            <a:chExt cx="12192000" cy="1007492"/>
          </a:xfrm>
        </p:grpSpPr>
        <p:sp>
          <p:nvSpPr>
            <p:cNvPr id="7" name="Rectangle 6"/>
            <p:cNvSpPr/>
            <p:nvPr/>
          </p:nvSpPr>
          <p:spPr>
            <a:xfrm>
              <a:off x="0" y="0"/>
              <a:ext cx="12192000" cy="1001486"/>
            </a:xfrm>
            <a:prstGeom prst="rect">
              <a:avLst/>
            </a:prstGeom>
            <a:solidFill>
              <a:srgbClr val="001B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8" name="Picture 7"/>
            <p:cNvPicPr>
              <a:picLocks noChangeAspect="1"/>
            </p:cNvPicPr>
            <p:nvPr/>
          </p:nvPicPr>
          <p:blipFill>
            <a:blip r:embed="rId2"/>
            <a:stretch>
              <a:fillRect/>
            </a:stretch>
          </p:blipFill>
          <p:spPr>
            <a:xfrm>
              <a:off x="11234056" y="0"/>
              <a:ext cx="957943" cy="1007492"/>
            </a:xfrm>
            <a:prstGeom prst="rect">
              <a:avLst/>
            </a:prstGeom>
          </p:spPr>
        </p:pic>
      </p:grpSp>
      <p:sp>
        <p:nvSpPr>
          <p:cNvPr id="2" name="Title 1"/>
          <p:cNvSpPr>
            <a:spLocks noGrp="1"/>
          </p:cNvSpPr>
          <p:nvPr>
            <p:ph type="title"/>
          </p:nvPr>
        </p:nvSpPr>
        <p:spPr>
          <a:xfrm>
            <a:off x="359228" y="239170"/>
            <a:ext cx="10515600" cy="523149"/>
          </a:xfrm>
        </p:spPr>
        <p:txBody>
          <a:bodyPr>
            <a:normAutofit/>
          </a:bodyPr>
          <a:lstStyle>
            <a:lvl1pPr>
              <a:defRPr sz="3000">
                <a:solidFill>
                  <a:schemeClr val="bg1"/>
                </a:solidFill>
              </a:defRPr>
            </a:lvl1pPr>
          </a:lstStyle>
          <a:p>
            <a:r>
              <a:rPr lang="en-US"/>
              <a:t>Click to edit Master title style</a:t>
            </a:r>
          </a:p>
        </p:txBody>
      </p:sp>
    </p:spTree>
    <p:extLst>
      <p:ext uri="{BB962C8B-B14F-4D97-AF65-F5344CB8AC3E}">
        <p14:creationId xmlns:p14="http://schemas.microsoft.com/office/powerpoint/2010/main" val="1551839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85A732-97CD-4123-9F1B-A455AFBFEC33}" type="datetime1">
              <a:rPr lang="en-US" smtClean="0"/>
              <a:t>12/31/2025</a:t>
            </a:fld>
            <a:endParaRPr lang="en-US"/>
          </a:p>
        </p:txBody>
      </p:sp>
      <p:sp>
        <p:nvSpPr>
          <p:cNvPr id="3" name="Footer Placeholder 2"/>
          <p:cNvSpPr>
            <a:spLocks noGrp="1"/>
          </p:cNvSpPr>
          <p:nvPr>
            <p:ph type="ftr" sz="quarter" idx="11"/>
          </p:nvPr>
        </p:nvSpPr>
        <p:spPr>
          <a:xfrm>
            <a:off x="3733800" y="6356352"/>
            <a:ext cx="4419600" cy="365125"/>
          </a:xfrm>
        </p:spPr>
        <p:txBody>
          <a:bodyPr/>
          <a:lstStyle>
            <a:lvl1pPr>
              <a:defRPr lang="en-US" sz="1200" kern="1200" dirty="0" smtClean="0">
                <a:solidFill>
                  <a:schemeClr val="tx1"/>
                </a:solidFill>
                <a:latin typeface="Times New Roman" panose="02020603050405020304" pitchFamily="18" charset="0"/>
                <a:ea typeface="+mn-ea"/>
                <a:cs typeface="Times New Roman" panose="02020603050405020304" pitchFamily="18" charset="0"/>
              </a:defRPr>
            </a:lvl1pPr>
          </a:lstStyle>
          <a:p>
            <a:r>
              <a:rPr lang="en-US" dirty="0"/>
              <a:t>Faculty of Information Technology - Computer Science Department</a:t>
            </a:r>
          </a:p>
        </p:txBody>
      </p:sp>
      <p:sp>
        <p:nvSpPr>
          <p:cNvPr id="4" name="Slide Number Placeholder 3"/>
          <p:cNvSpPr>
            <a:spLocks noGrp="1"/>
          </p:cNvSpPr>
          <p:nvPr>
            <p:ph type="sldNum" sz="quarter" idx="12"/>
          </p:nvPr>
        </p:nvSpPr>
        <p:spPr/>
        <p:txBody>
          <a:bodyPr/>
          <a:lstStyle>
            <a:lvl1pPr>
              <a:defRPr lang="en-US" sz="1200" kern="1200" smtClean="0">
                <a:solidFill>
                  <a:schemeClr val="tx1"/>
                </a:solidFill>
                <a:latin typeface="Times New Roman" panose="02020603050405020304" pitchFamily="18" charset="0"/>
                <a:ea typeface="+mn-ea"/>
                <a:cs typeface="Times New Roman" panose="02020603050405020304" pitchFamily="18" charset="0"/>
              </a:defRPr>
            </a:lvl1pPr>
          </a:lstStyle>
          <a:p>
            <a:fld id="{B6F15528-21DE-4FAA-801E-634DDDAF4B2B}" type="slidenum">
              <a:rPr lang="en-US" smtClean="0"/>
              <a:pPr/>
              <a:t>‹#›</a:t>
            </a:fld>
            <a:endParaRPr lang="en-US" dirty="0"/>
          </a:p>
        </p:txBody>
      </p:sp>
      <p:grpSp>
        <p:nvGrpSpPr>
          <p:cNvPr id="5" name="Group 4"/>
          <p:cNvGrpSpPr/>
          <p:nvPr/>
        </p:nvGrpSpPr>
        <p:grpSpPr>
          <a:xfrm>
            <a:off x="0" y="0"/>
            <a:ext cx="12192000" cy="1007492"/>
            <a:chOff x="0" y="0"/>
            <a:chExt cx="12192000" cy="1007492"/>
          </a:xfrm>
        </p:grpSpPr>
        <p:sp>
          <p:nvSpPr>
            <p:cNvPr id="6" name="Rectangle 5"/>
            <p:cNvSpPr/>
            <p:nvPr/>
          </p:nvSpPr>
          <p:spPr>
            <a:xfrm>
              <a:off x="0" y="0"/>
              <a:ext cx="12192000" cy="1001486"/>
            </a:xfrm>
            <a:prstGeom prst="rect">
              <a:avLst/>
            </a:prstGeom>
            <a:solidFill>
              <a:srgbClr val="001B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a:stretch>
              <a:fillRect/>
            </a:stretch>
          </p:blipFill>
          <p:spPr>
            <a:xfrm>
              <a:off x="11234056" y="0"/>
              <a:ext cx="957943" cy="1007492"/>
            </a:xfrm>
            <a:prstGeom prst="rect">
              <a:avLst/>
            </a:prstGeom>
          </p:spPr>
        </p:pic>
      </p:grpSp>
    </p:spTree>
    <p:extLst>
      <p:ext uri="{BB962C8B-B14F-4D97-AF65-F5344CB8AC3E}">
        <p14:creationId xmlns:p14="http://schemas.microsoft.com/office/powerpoint/2010/main" val="1247331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1001486"/>
            <a:ext cx="3932237" cy="1055914"/>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AB83197A-9C1A-4EB6-AFF6-3BD2D060C463}" type="datetime1">
              <a:rPr lang="en-US" smtClean="0"/>
              <a:t>12/31/2025</a:t>
            </a:fld>
            <a:endParaRPr lang="en-US"/>
          </a:p>
        </p:txBody>
      </p:sp>
      <p:sp>
        <p:nvSpPr>
          <p:cNvPr id="6" name="Footer Placeholder 5"/>
          <p:cNvSpPr>
            <a:spLocks noGrp="1"/>
          </p:cNvSpPr>
          <p:nvPr>
            <p:ph type="ftr" sz="quarter" idx="11"/>
          </p:nvPr>
        </p:nvSpPr>
        <p:spPr>
          <a:xfrm>
            <a:off x="3733800" y="6356352"/>
            <a:ext cx="4419600" cy="365125"/>
          </a:xfrm>
        </p:spPr>
        <p:txBody>
          <a:bodyPr/>
          <a:lstStyle>
            <a:lvl1pPr>
              <a:defRPr lang="en-US" sz="1200" kern="1200" dirty="0" smtClean="0">
                <a:solidFill>
                  <a:schemeClr val="tx1"/>
                </a:solidFill>
                <a:latin typeface="Times New Roman" panose="02020603050405020304" pitchFamily="18" charset="0"/>
                <a:ea typeface="+mn-ea"/>
                <a:cs typeface="Times New Roman" panose="02020603050405020304" pitchFamily="18" charset="0"/>
              </a:defRPr>
            </a:lvl1pPr>
          </a:lstStyle>
          <a:p>
            <a:r>
              <a:rPr lang="en-US" dirty="0"/>
              <a:t>Faculty of Information Technology - Computer Science Department</a:t>
            </a:r>
          </a:p>
        </p:txBody>
      </p:sp>
      <p:sp>
        <p:nvSpPr>
          <p:cNvPr id="7" name="Slide Number Placeholder 6"/>
          <p:cNvSpPr>
            <a:spLocks noGrp="1"/>
          </p:cNvSpPr>
          <p:nvPr>
            <p:ph type="sldNum" sz="quarter" idx="12"/>
          </p:nvPr>
        </p:nvSpPr>
        <p:spPr/>
        <p:txBody>
          <a:bodyPr/>
          <a:lstStyle>
            <a:lvl1pPr>
              <a:defRPr lang="en-US" sz="1200" kern="1200" smtClean="0">
                <a:solidFill>
                  <a:schemeClr val="tx1"/>
                </a:solidFill>
                <a:latin typeface="Times New Roman" panose="02020603050405020304" pitchFamily="18" charset="0"/>
                <a:ea typeface="+mn-ea"/>
                <a:cs typeface="Times New Roman" panose="02020603050405020304" pitchFamily="18" charset="0"/>
              </a:defRPr>
            </a:lvl1pPr>
          </a:lstStyle>
          <a:p>
            <a:fld id="{B6F15528-21DE-4FAA-801E-634DDDAF4B2B}" type="slidenum">
              <a:rPr lang="en-US" smtClean="0"/>
              <a:pPr/>
              <a:t>‹#›</a:t>
            </a:fld>
            <a:endParaRPr lang="en-US" dirty="0"/>
          </a:p>
        </p:txBody>
      </p:sp>
      <p:grpSp>
        <p:nvGrpSpPr>
          <p:cNvPr id="8" name="Group 7"/>
          <p:cNvGrpSpPr/>
          <p:nvPr/>
        </p:nvGrpSpPr>
        <p:grpSpPr>
          <a:xfrm>
            <a:off x="0" y="0"/>
            <a:ext cx="12192000" cy="1007492"/>
            <a:chOff x="0" y="0"/>
            <a:chExt cx="12192000" cy="1007492"/>
          </a:xfrm>
        </p:grpSpPr>
        <p:sp>
          <p:nvSpPr>
            <p:cNvPr id="9" name="Rectangle 8"/>
            <p:cNvSpPr/>
            <p:nvPr/>
          </p:nvSpPr>
          <p:spPr>
            <a:xfrm>
              <a:off x="0" y="0"/>
              <a:ext cx="12192000" cy="1001486"/>
            </a:xfrm>
            <a:prstGeom prst="rect">
              <a:avLst/>
            </a:prstGeom>
            <a:solidFill>
              <a:srgbClr val="001B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p:cNvPicPr>
              <a:picLocks noChangeAspect="1"/>
            </p:cNvPicPr>
            <p:nvPr/>
          </p:nvPicPr>
          <p:blipFill>
            <a:blip r:embed="rId2"/>
            <a:stretch>
              <a:fillRect/>
            </a:stretch>
          </p:blipFill>
          <p:spPr>
            <a:xfrm>
              <a:off x="11234056" y="0"/>
              <a:ext cx="957943" cy="1007492"/>
            </a:xfrm>
            <a:prstGeom prst="rect">
              <a:avLst/>
            </a:prstGeom>
          </p:spPr>
        </p:pic>
      </p:grpSp>
    </p:spTree>
    <p:extLst>
      <p:ext uri="{BB962C8B-B14F-4D97-AF65-F5344CB8AC3E}">
        <p14:creationId xmlns:p14="http://schemas.microsoft.com/office/powerpoint/2010/main" val="1050072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1062446"/>
            <a:ext cx="3932237" cy="994954"/>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1062446"/>
            <a:ext cx="6172200" cy="4798604"/>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CD12496-B09D-4D8D-AAAF-506D86600E8A}" type="datetime1">
              <a:rPr lang="en-US" smtClean="0"/>
              <a:t>12/31/2025</a:t>
            </a:fld>
            <a:endParaRPr lang="en-US"/>
          </a:p>
        </p:txBody>
      </p:sp>
      <p:sp>
        <p:nvSpPr>
          <p:cNvPr id="6" name="Footer Placeholder 5"/>
          <p:cNvSpPr>
            <a:spLocks noGrp="1"/>
          </p:cNvSpPr>
          <p:nvPr>
            <p:ph type="ftr" sz="quarter" idx="11"/>
          </p:nvPr>
        </p:nvSpPr>
        <p:spPr>
          <a:xfrm>
            <a:off x="3733800" y="6356352"/>
            <a:ext cx="4419600" cy="365125"/>
          </a:xfrm>
        </p:spPr>
        <p:txBody>
          <a:bodyPr/>
          <a:lstStyle>
            <a:lvl1pPr>
              <a:defRPr sz="1200">
                <a:solidFill>
                  <a:schemeClr val="tx1"/>
                </a:solidFill>
                <a:latin typeface="Times New Roman" panose="02020603050405020304" pitchFamily="18" charset="0"/>
                <a:cs typeface="Times New Roman" panose="02020603050405020304" pitchFamily="18" charset="0"/>
              </a:defRPr>
            </a:lvl1pPr>
          </a:lstStyle>
          <a:p>
            <a:r>
              <a:rPr lang="en-US" dirty="0"/>
              <a:t>Faculty of Information Technology - Computer Science Department</a:t>
            </a:r>
          </a:p>
        </p:txBody>
      </p:sp>
      <p:sp>
        <p:nvSpPr>
          <p:cNvPr id="7" name="Slide Number Placeholder 6"/>
          <p:cNvSpPr>
            <a:spLocks noGrp="1"/>
          </p:cNvSpPr>
          <p:nvPr>
            <p:ph type="sldNum" sz="quarter" idx="12"/>
          </p:nvPr>
        </p:nvSpPr>
        <p:spPr/>
        <p:txBody>
          <a:bodyPr vert="horz" lIns="91440" tIns="45720" rIns="91440" bIns="45720" rtlCol="0" anchor="ctr"/>
          <a:lstStyle>
            <a:lvl1pPr algn="r">
              <a:defRPr lang="en-US" sz="1200" smtClean="0">
                <a:solidFill>
                  <a:schemeClr val="tx1"/>
                </a:solidFill>
                <a:latin typeface="Times New Roman" panose="02020603050405020304" pitchFamily="18" charset="0"/>
                <a:cs typeface="Times New Roman" panose="02020603050405020304" pitchFamily="18" charset="0"/>
              </a:defRPr>
            </a:lvl1pPr>
          </a:lstStyle>
          <a:p>
            <a:fld id="{B6F15528-21DE-4FAA-801E-634DDDAF4B2B}" type="slidenum">
              <a:rPr lang="en-US" smtClean="0"/>
              <a:pPr/>
              <a:t>‹#›</a:t>
            </a:fld>
            <a:endParaRPr lang="en-US"/>
          </a:p>
        </p:txBody>
      </p:sp>
      <p:grpSp>
        <p:nvGrpSpPr>
          <p:cNvPr id="8" name="Group 7"/>
          <p:cNvGrpSpPr/>
          <p:nvPr/>
        </p:nvGrpSpPr>
        <p:grpSpPr>
          <a:xfrm>
            <a:off x="0" y="0"/>
            <a:ext cx="12192000" cy="1007492"/>
            <a:chOff x="0" y="0"/>
            <a:chExt cx="12192000" cy="1007492"/>
          </a:xfrm>
        </p:grpSpPr>
        <p:sp>
          <p:nvSpPr>
            <p:cNvPr id="9" name="Rectangle 8"/>
            <p:cNvSpPr/>
            <p:nvPr/>
          </p:nvSpPr>
          <p:spPr>
            <a:xfrm>
              <a:off x="0" y="0"/>
              <a:ext cx="12192000" cy="1001486"/>
            </a:xfrm>
            <a:prstGeom prst="rect">
              <a:avLst/>
            </a:prstGeom>
            <a:solidFill>
              <a:srgbClr val="001B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p:cNvPicPr>
              <a:picLocks noChangeAspect="1"/>
            </p:cNvPicPr>
            <p:nvPr/>
          </p:nvPicPr>
          <p:blipFill>
            <a:blip r:embed="rId2"/>
            <a:stretch>
              <a:fillRect/>
            </a:stretch>
          </p:blipFill>
          <p:spPr>
            <a:xfrm>
              <a:off x="11234056" y="0"/>
              <a:ext cx="957943" cy="1007492"/>
            </a:xfrm>
            <a:prstGeom prst="rect">
              <a:avLst/>
            </a:prstGeom>
          </p:spPr>
        </p:pic>
      </p:grpSp>
    </p:spTree>
    <p:extLst>
      <p:ext uri="{BB962C8B-B14F-4D97-AF65-F5344CB8AC3E}">
        <p14:creationId xmlns:p14="http://schemas.microsoft.com/office/powerpoint/2010/main" val="4099306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Group 6"/>
          <p:cNvGrpSpPr/>
          <p:nvPr/>
        </p:nvGrpSpPr>
        <p:grpSpPr>
          <a:xfrm>
            <a:off x="0" y="0"/>
            <a:ext cx="12192000" cy="1007492"/>
            <a:chOff x="0" y="0"/>
            <a:chExt cx="12192000" cy="1007492"/>
          </a:xfrm>
        </p:grpSpPr>
        <p:sp>
          <p:nvSpPr>
            <p:cNvPr id="8" name="Rectangle 7"/>
            <p:cNvSpPr/>
            <p:nvPr/>
          </p:nvSpPr>
          <p:spPr>
            <a:xfrm>
              <a:off x="0" y="0"/>
              <a:ext cx="12192000" cy="1001486"/>
            </a:xfrm>
            <a:prstGeom prst="rect">
              <a:avLst/>
            </a:prstGeom>
            <a:solidFill>
              <a:srgbClr val="001B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9" name="Picture 8"/>
            <p:cNvPicPr>
              <a:picLocks noChangeAspect="1"/>
            </p:cNvPicPr>
            <p:nvPr/>
          </p:nvPicPr>
          <p:blipFill>
            <a:blip r:embed="rId2"/>
            <a:stretch>
              <a:fillRect/>
            </a:stretch>
          </p:blipFill>
          <p:spPr>
            <a:xfrm>
              <a:off x="11234056" y="0"/>
              <a:ext cx="957943" cy="1007492"/>
            </a:xfrm>
            <a:prstGeom prst="rect">
              <a:avLst/>
            </a:prstGeom>
          </p:spPr>
        </p:pic>
      </p:grpSp>
      <p:sp>
        <p:nvSpPr>
          <p:cNvPr id="2" name="Title 1"/>
          <p:cNvSpPr>
            <a:spLocks noGrp="1"/>
          </p:cNvSpPr>
          <p:nvPr>
            <p:ph type="title"/>
          </p:nvPr>
        </p:nvSpPr>
        <p:spPr>
          <a:xfrm>
            <a:off x="489859" y="182564"/>
            <a:ext cx="10515600" cy="636361"/>
          </a:xfrm>
        </p:spPr>
        <p:txBody>
          <a:bodyPr>
            <a:normAutofit/>
          </a:bodyPr>
          <a:lstStyle>
            <a:lvl1pPr>
              <a:defRPr sz="3000">
                <a:solidFill>
                  <a:schemeClr val="bg1"/>
                </a:solidFill>
              </a:defRPr>
            </a:lvl1pPr>
          </a:lstStyle>
          <a:p>
            <a:r>
              <a:rPr lang="en-US"/>
              <a:t>Click to edit Master title style</a:t>
            </a:r>
          </a:p>
        </p:txBody>
      </p:sp>
      <p:sp>
        <p:nvSpPr>
          <p:cNvPr id="3" name="Vertical Text Placeholder 2"/>
          <p:cNvSpPr>
            <a:spLocks noGrp="1"/>
          </p:cNvSpPr>
          <p:nvPr>
            <p:ph type="body" orient="vert" idx="1"/>
          </p:nvPr>
        </p:nvSpPr>
        <p:spPr>
          <a:xfrm>
            <a:off x="838200" y="1001485"/>
            <a:ext cx="10515600" cy="517547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885F24-CC96-4527-8ECB-F4BF9C5F8CAF}" type="datetime1">
              <a:rPr lang="en-US" smtClean="0"/>
              <a:t>12/31/2025</a:t>
            </a:fld>
            <a:endParaRPr lang="en-US"/>
          </a:p>
        </p:txBody>
      </p:sp>
      <p:sp>
        <p:nvSpPr>
          <p:cNvPr id="5" name="Footer Placeholder 4"/>
          <p:cNvSpPr>
            <a:spLocks noGrp="1"/>
          </p:cNvSpPr>
          <p:nvPr>
            <p:ph type="ftr" sz="quarter" idx="11"/>
          </p:nvPr>
        </p:nvSpPr>
        <p:spPr>
          <a:xfrm>
            <a:off x="3733800" y="6356352"/>
            <a:ext cx="4419600" cy="365125"/>
          </a:xfrm>
        </p:spPr>
        <p:txBody>
          <a:bodyPr/>
          <a:lstStyle>
            <a:lvl1pPr>
              <a:defRPr lang="en-US" sz="1200" kern="1200" dirty="0" smtClean="0">
                <a:solidFill>
                  <a:schemeClr val="tx1"/>
                </a:solidFill>
                <a:latin typeface="Times New Roman" panose="02020603050405020304" pitchFamily="18" charset="0"/>
                <a:ea typeface="+mn-ea"/>
                <a:cs typeface="Times New Roman" panose="02020603050405020304" pitchFamily="18" charset="0"/>
              </a:defRPr>
            </a:lvl1pPr>
          </a:lstStyle>
          <a:p>
            <a:r>
              <a:rPr lang="en-US" dirty="0"/>
              <a:t>Faculty of Information Technology - Computer Science Department</a:t>
            </a:r>
          </a:p>
        </p:txBody>
      </p:sp>
      <p:sp>
        <p:nvSpPr>
          <p:cNvPr id="6" name="Slide Number Placeholder 5"/>
          <p:cNvSpPr>
            <a:spLocks noGrp="1"/>
          </p:cNvSpPr>
          <p:nvPr>
            <p:ph type="sldNum" sz="quarter" idx="12"/>
          </p:nvPr>
        </p:nvSpPr>
        <p:spPr/>
        <p:txBody>
          <a:bodyPr/>
          <a:lstStyle>
            <a:lvl1pPr marL="0" algn="r" defTabSz="914400" rtl="0" eaLnBrk="1" latinLnBrk="0" hangingPunct="1">
              <a:defRPr lang="en-US" sz="1200" kern="1200" smtClean="0">
                <a:solidFill>
                  <a:schemeClr val="tx1"/>
                </a:solidFill>
                <a:latin typeface="Times New Roman" panose="02020603050405020304" pitchFamily="18" charset="0"/>
                <a:ea typeface="+mn-ea"/>
                <a:cs typeface="Times New Roman" panose="02020603050405020304" pitchFamily="18"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45832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1001487"/>
            <a:ext cx="2628900" cy="51754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1001485"/>
            <a:ext cx="7734300" cy="517547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9550D28-12A2-4555-BE48-F95AD3B2DCA5}" type="datetime1">
              <a:rPr lang="en-US" smtClean="0"/>
              <a:t>12/31/2025</a:t>
            </a:fld>
            <a:endParaRPr lang="en-US"/>
          </a:p>
        </p:txBody>
      </p:sp>
      <p:sp>
        <p:nvSpPr>
          <p:cNvPr id="5" name="Footer Placeholder 4"/>
          <p:cNvSpPr>
            <a:spLocks noGrp="1"/>
          </p:cNvSpPr>
          <p:nvPr>
            <p:ph type="ftr" sz="quarter" idx="11"/>
          </p:nvPr>
        </p:nvSpPr>
        <p:spPr>
          <a:xfrm>
            <a:off x="3733800" y="6356352"/>
            <a:ext cx="4419600" cy="365125"/>
          </a:xfrm>
        </p:spPr>
        <p:txBody>
          <a:bodyPr/>
          <a:lstStyle>
            <a:lvl1pPr>
              <a:defRPr sz="1200">
                <a:solidFill>
                  <a:schemeClr val="tx1"/>
                </a:solidFill>
                <a:latin typeface="Times New Roman" panose="02020603050405020304" pitchFamily="18" charset="0"/>
                <a:cs typeface="Times New Roman" panose="02020603050405020304" pitchFamily="18" charset="0"/>
              </a:defRPr>
            </a:lvl1pPr>
          </a:lstStyle>
          <a:p>
            <a:r>
              <a:rPr lang="en-US" dirty="0"/>
              <a:t>Faculty of Information Technology - Computer Science Department</a:t>
            </a:r>
          </a:p>
        </p:txBody>
      </p:sp>
      <p:sp>
        <p:nvSpPr>
          <p:cNvPr id="6" name="Slide Number Placeholder 5"/>
          <p:cNvSpPr>
            <a:spLocks noGrp="1"/>
          </p:cNvSpPr>
          <p:nvPr>
            <p:ph type="sldNum" sz="quarter" idx="12"/>
          </p:nvPr>
        </p:nvSpPr>
        <p:spPr/>
        <p:txBody>
          <a:bodyPr/>
          <a:lstStyle>
            <a:lvl1pPr>
              <a:defRPr sz="1200">
                <a:solidFill>
                  <a:schemeClr val="tx1"/>
                </a:solidFill>
                <a:latin typeface="Times New Roman" panose="02020603050405020304" pitchFamily="18" charset="0"/>
                <a:cs typeface="Times New Roman" panose="02020603050405020304" pitchFamily="18" charset="0"/>
              </a:defRPr>
            </a:lvl1pPr>
          </a:lstStyle>
          <a:p>
            <a:fld id="{B6F15528-21DE-4FAA-801E-634DDDAF4B2B}" type="slidenum">
              <a:rPr lang="en-US" smtClean="0"/>
              <a:pPr/>
              <a:t>‹#›</a:t>
            </a:fld>
            <a:endParaRPr lang="en-US" dirty="0"/>
          </a:p>
        </p:txBody>
      </p:sp>
      <p:grpSp>
        <p:nvGrpSpPr>
          <p:cNvPr id="7" name="Group 6"/>
          <p:cNvGrpSpPr/>
          <p:nvPr/>
        </p:nvGrpSpPr>
        <p:grpSpPr>
          <a:xfrm>
            <a:off x="0" y="0"/>
            <a:ext cx="12192000" cy="1007492"/>
            <a:chOff x="0" y="0"/>
            <a:chExt cx="12192000" cy="1007492"/>
          </a:xfrm>
        </p:grpSpPr>
        <p:sp>
          <p:nvSpPr>
            <p:cNvPr id="8" name="Rectangle 7"/>
            <p:cNvSpPr/>
            <p:nvPr/>
          </p:nvSpPr>
          <p:spPr>
            <a:xfrm>
              <a:off x="0" y="0"/>
              <a:ext cx="12192000" cy="1001486"/>
            </a:xfrm>
            <a:prstGeom prst="rect">
              <a:avLst/>
            </a:prstGeom>
            <a:solidFill>
              <a:srgbClr val="001B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9" name="Picture 8"/>
            <p:cNvPicPr>
              <a:picLocks noChangeAspect="1"/>
            </p:cNvPicPr>
            <p:nvPr/>
          </p:nvPicPr>
          <p:blipFill>
            <a:blip r:embed="rId2"/>
            <a:stretch>
              <a:fillRect/>
            </a:stretch>
          </p:blipFill>
          <p:spPr>
            <a:xfrm>
              <a:off x="11234056" y="0"/>
              <a:ext cx="957943" cy="1007492"/>
            </a:xfrm>
            <a:prstGeom prst="rect">
              <a:avLst/>
            </a:prstGeom>
          </p:spPr>
        </p:pic>
      </p:grpSp>
    </p:spTree>
    <p:extLst>
      <p:ext uri="{BB962C8B-B14F-4D97-AF65-F5344CB8AC3E}">
        <p14:creationId xmlns:p14="http://schemas.microsoft.com/office/powerpoint/2010/main" val="1881660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737600" y="6245225"/>
            <a:ext cx="2844800" cy="476250"/>
          </a:xfrm>
        </p:spPr>
        <p:txBody>
          <a:bodyPr/>
          <a:lstStyle>
            <a:lvl1pPr>
              <a:defRPr/>
            </a:lvl1pPr>
          </a:lstStyle>
          <a:p>
            <a:pPr>
              <a:defRPr/>
            </a:pPr>
            <a:endParaRPr lang="en-US"/>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09600" y="6245225"/>
            <a:ext cx="2844800" cy="476250"/>
          </a:xfrm>
        </p:spPr>
        <p:txBody>
          <a:bodyPr/>
          <a:lstStyle>
            <a:lvl1pPr>
              <a:defRPr/>
            </a:lvl1pPr>
          </a:lstStyle>
          <a:p>
            <a:pPr>
              <a:defRPr/>
            </a:pPr>
            <a:fld id="{0AE7D234-2832-4B47-84BE-0F483099955C}" type="slidenum">
              <a:rPr lang="ar-SA"/>
              <a:pPr>
                <a:defRPr/>
              </a:pPr>
              <a:t>‹#›</a:t>
            </a:fld>
            <a:endParaRPr lang="en-US"/>
          </a:p>
        </p:txBody>
      </p:sp>
    </p:spTree>
    <p:extLst>
      <p:ext uri="{BB962C8B-B14F-4D97-AF65-F5344CB8AC3E}">
        <p14:creationId xmlns:p14="http://schemas.microsoft.com/office/powerpoint/2010/main" val="3217522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59229" y="1101228"/>
            <a:ext cx="10994572" cy="507573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latin typeface="Times New Roman" panose="02020603050405020304" pitchFamily="18" charset="0"/>
                <a:cs typeface="Times New Roman" panose="02020603050405020304" pitchFamily="18" charset="0"/>
              </a:defRPr>
            </a:lvl1pPr>
          </a:lstStyle>
          <a:p>
            <a:fld id="{ED870266-8C8D-4A83-8FE7-755E460323A3}" type="datetime1">
              <a:rPr lang="en-US" smtClean="0"/>
              <a:pPr/>
              <a:t>12/31/2025</a:t>
            </a:fld>
            <a:endParaRPr lang="en-US"/>
          </a:p>
        </p:txBody>
      </p:sp>
      <p:sp>
        <p:nvSpPr>
          <p:cNvPr id="5" name="Footer Placeholder 4"/>
          <p:cNvSpPr>
            <a:spLocks noGrp="1"/>
          </p:cNvSpPr>
          <p:nvPr>
            <p:ph type="ftr" sz="quarter" idx="3"/>
          </p:nvPr>
        </p:nvSpPr>
        <p:spPr>
          <a:xfrm>
            <a:off x="3581400" y="6356352"/>
            <a:ext cx="4572000" cy="365125"/>
          </a:xfrm>
          <a:prstGeom prst="rect">
            <a:avLst/>
          </a:prstGeom>
        </p:spPr>
        <p:txBody>
          <a:bodyPr vert="horz" lIns="91440" tIns="45720" rIns="91440" bIns="45720" rtlCol="0" anchor="ctr"/>
          <a:lstStyle>
            <a:lvl1pPr algn="ctr">
              <a:defRPr sz="1200">
                <a:solidFill>
                  <a:schemeClr val="tx1"/>
                </a:solidFill>
                <a:latin typeface="Times New Roman" panose="02020603050405020304" pitchFamily="18" charset="0"/>
                <a:cs typeface="Times New Roman" panose="02020603050405020304" pitchFamily="18" charset="0"/>
              </a:defRPr>
            </a:lvl1pPr>
          </a:lstStyle>
          <a:p>
            <a:r>
              <a:rPr lang="en-US"/>
              <a:t>Faculty of Information Technology - Computer Science Department</a:t>
            </a:r>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lang="en-US" sz="1200" kern="1200" smtClean="0">
                <a:solidFill>
                  <a:schemeClr val="tx1"/>
                </a:solidFill>
                <a:latin typeface="Times New Roman" panose="02020603050405020304" pitchFamily="18" charset="0"/>
                <a:ea typeface="+mn-ea"/>
                <a:cs typeface="Times New Roman" panose="02020603050405020304" pitchFamily="18" charset="0"/>
              </a:defRPr>
            </a:lvl1pPr>
          </a:lstStyle>
          <a:p>
            <a:fld id="{B6F15528-21DE-4FAA-801E-634DDDAF4B2B}" type="slidenum">
              <a:rPr lang="en-US" smtClean="0"/>
              <a:pPr/>
              <a:t>‹#›</a:t>
            </a:fld>
            <a:endParaRPr lang="en-US" dirty="0"/>
          </a:p>
        </p:txBody>
      </p:sp>
      <p:grpSp>
        <p:nvGrpSpPr>
          <p:cNvPr id="7" name="Group 6"/>
          <p:cNvGrpSpPr/>
          <p:nvPr/>
        </p:nvGrpSpPr>
        <p:grpSpPr>
          <a:xfrm>
            <a:off x="0" y="0"/>
            <a:ext cx="12192000" cy="1007492"/>
            <a:chOff x="0" y="0"/>
            <a:chExt cx="12192000" cy="1007492"/>
          </a:xfrm>
        </p:grpSpPr>
        <p:sp>
          <p:nvSpPr>
            <p:cNvPr id="8" name="Rectangle 7"/>
            <p:cNvSpPr/>
            <p:nvPr/>
          </p:nvSpPr>
          <p:spPr>
            <a:xfrm>
              <a:off x="0" y="0"/>
              <a:ext cx="12192000" cy="1001486"/>
            </a:xfrm>
            <a:prstGeom prst="rect">
              <a:avLst/>
            </a:prstGeom>
            <a:solidFill>
              <a:srgbClr val="001B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14"/>
            <a:stretch>
              <a:fillRect/>
            </a:stretch>
          </p:blipFill>
          <p:spPr>
            <a:xfrm>
              <a:off x="11234056" y="0"/>
              <a:ext cx="957943" cy="1007492"/>
            </a:xfrm>
            <a:prstGeom prst="rect">
              <a:avLst/>
            </a:prstGeom>
          </p:spPr>
        </p:pic>
      </p:grpSp>
      <p:sp>
        <p:nvSpPr>
          <p:cNvPr id="2" name="Title Placeholder 1"/>
          <p:cNvSpPr>
            <a:spLocks noGrp="1"/>
          </p:cNvSpPr>
          <p:nvPr>
            <p:ph type="title"/>
          </p:nvPr>
        </p:nvSpPr>
        <p:spPr>
          <a:xfrm>
            <a:off x="359228" y="280331"/>
            <a:ext cx="10515600" cy="540566"/>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162487251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hf hdr="0" dt="0"/>
  <p:txStyles>
    <p:titleStyle>
      <a:lvl1pPr algn="l" defTabSz="685800" rtl="0" eaLnBrk="1" latinLnBrk="0" hangingPunct="1">
        <a:lnSpc>
          <a:spcPct val="90000"/>
        </a:lnSpc>
        <a:spcBef>
          <a:spcPct val="0"/>
        </a:spcBef>
        <a:buNone/>
        <a:defRPr sz="3000" kern="1200">
          <a:solidFill>
            <a:schemeClr val="bg1"/>
          </a:solidFill>
          <a:latin typeface="Times New Roman" panose="02020603050405020304" pitchFamily="18" charset="0"/>
          <a:ea typeface="+mj-ea"/>
          <a:cs typeface="Times New Roman" panose="02020603050405020304" pitchFamily="18"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Times New Roman" panose="02020603050405020304" pitchFamily="18" charset="0"/>
          <a:ea typeface="+mn-ea"/>
          <a:cs typeface="Times New Roman" panose="02020603050405020304" pitchFamily="18"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26.jpeg"/><Relationship Id="rId7" Type="http://schemas.openxmlformats.org/officeDocument/2006/relationships/image" Target="../media/image30.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54.jpeg"/><Relationship Id="rId4" Type="http://schemas.openxmlformats.org/officeDocument/2006/relationships/image" Target="../media/image53.jpe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6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60.jpeg"/><Relationship Id="rId4" Type="http://schemas.openxmlformats.org/officeDocument/2006/relationships/image" Target="../media/image59.jpeg"/></Relationships>
</file>

<file path=ppt/slides/_rels/slide6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9"/>
          <p:cNvSpPr>
            <a:spLocks noGrp="1"/>
          </p:cNvSpPr>
          <p:nvPr>
            <p:ph type="ftr" sz="quarter" idx="11"/>
          </p:nvPr>
        </p:nvSpPr>
        <p:spPr/>
        <p:txBody>
          <a:bodyPr/>
          <a:lstStyle/>
          <a:p>
            <a:r>
              <a:rPr lang="en-US"/>
              <a:t>Faculty of Information Technology - Computer Science Department</a:t>
            </a:r>
          </a:p>
        </p:txBody>
      </p:sp>
      <p:sp>
        <p:nvSpPr>
          <p:cNvPr id="11" name="Slide Number Placeholder 10"/>
          <p:cNvSpPr>
            <a:spLocks noGrp="1"/>
          </p:cNvSpPr>
          <p:nvPr>
            <p:ph type="sldNum" sz="quarter" idx="12"/>
          </p:nvPr>
        </p:nvSpPr>
        <p:spPr/>
        <p:txBody>
          <a:bodyPr/>
          <a:lstStyle/>
          <a:p>
            <a:fld id="{B6F15528-21DE-4FAA-801E-634DDDAF4B2B}" type="slidenum">
              <a:rPr lang="en-US" smtClean="0"/>
              <a:t>1</a:t>
            </a:fld>
            <a:endParaRPr lang="en-US"/>
          </a:p>
        </p:txBody>
      </p:sp>
      <p:pic>
        <p:nvPicPr>
          <p:cNvPr id="2" name="Picture 1"/>
          <p:cNvPicPr>
            <a:picLocks noChangeAspect="1"/>
          </p:cNvPicPr>
          <p:nvPr/>
        </p:nvPicPr>
        <p:blipFill>
          <a:blip r:embed="rId2"/>
          <a:stretch>
            <a:fillRect/>
          </a:stretch>
        </p:blipFill>
        <p:spPr>
          <a:xfrm>
            <a:off x="3415758" y="1219200"/>
            <a:ext cx="4733925" cy="4609348"/>
          </a:xfrm>
          <a:prstGeom prst="rect">
            <a:avLst/>
          </a:prstGeom>
        </p:spPr>
      </p:pic>
      <p:sp>
        <p:nvSpPr>
          <p:cNvPr id="6" name="Rectangle 5"/>
          <p:cNvSpPr/>
          <p:nvPr/>
        </p:nvSpPr>
        <p:spPr>
          <a:xfrm>
            <a:off x="1466984" y="45847"/>
            <a:ext cx="8343631" cy="830997"/>
          </a:xfrm>
          <a:prstGeom prst="rect">
            <a:avLst/>
          </a:prstGeom>
        </p:spPr>
        <p:txBody>
          <a:bodyPr wrap="none">
            <a:spAutoFit/>
          </a:bodyPr>
          <a:lstStyle/>
          <a:p>
            <a:pPr algn="ctr"/>
            <a:r>
              <a:rPr lang="en-US" sz="4800" b="1" dirty="0">
                <a:solidFill>
                  <a:schemeClr val="bg1"/>
                </a:solidFill>
                <a:latin typeface="Times New Roman" panose="02020603050405020304" pitchFamily="18" charset="0"/>
                <a:cs typeface="Times New Roman" panose="02020603050405020304" pitchFamily="18" charset="0"/>
              </a:rPr>
              <a:t>Algorithm Design and Analysis</a:t>
            </a:r>
          </a:p>
        </p:txBody>
      </p:sp>
    </p:spTree>
  </p:cSld>
  <p:clrMapOvr>
    <a:masterClrMapping/>
  </p:clrMapOvr>
  <mc:AlternateContent xmlns:mc="http://schemas.openxmlformats.org/markup-compatibility/2006" xmlns:p15="http://schemas.microsoft.com/office/powerpoint/2012/main">
    <mc:Choice Requires="p15">
      <p:transition spd="med">
        <p15:prstTrans prst="peelOff"/>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9"/>
          <p:cNvSpPr>
            <a:spLocks noGrp="1"/>
          </p:cNvSpPr>
          <p:nvPr>
            <p:ph type="ftr" sz="quarter" idx="11"/>
          </p:nvPr>
        </p:nvSpPr>
        <p:spPr>
          <a:xfrm>
            <a:off x="3352800" y="6356352"/>
            <a:ext cx="4572000" cy="365125"/>
          </a:xfrm>
        </p:spPr>
        <p:txBody>
          <a:bodyPr/>
          <a:lstStyle/>
          <a:p>
            <a:r>
              <a:rPr lang="en-US"/>
              <a:t>Faculty of Information Technology - Computer Science Department</a:t>
            </a:r>
          </a:p>
        </p:txBody>
      </p:sp>
      <p:sp>
        <p:nvSpPr>
          <p:cNvPr id="11" name="Slide Number Placeholder 10"/>
          <p:cNvSpPr>
            <a:spLocks noGrp="1"/>
          </p:cNvSpPr>
          <p:nvPr>
            <p:ph type="sldNum" sz="quarter" idx="12"/>
          </p:nvPr>
        </p:nvSpPr>
        <p:spPr/>
        <p:txBody>
          <a:bodyPr/>
          <a:lstStyle/>
          <a:p>
            <a:fld id="{B6F15528-21DE-4FAA-801E-634DDDAF4B2B}" type="slidenum">
              <a:rPr lang="en-US" smtClean="0"/>
              <a:t>2</a:t>
            </a:fld>
            <a:endParaRPr lang="en-US"/>
          </a:p>
        </p:txBody>
      </p:sp>
      <p:pic>
        <p:nvPicPr>
          <p:cNvPr id="6" name="Picture 5"/>
          <p:cNvPicPr/>
          <p:nvPr/>
        </p:nvPicPr>
        <p:blipFill>
          <a:blip r:embed="rId2"/>
          <a:srcRect/>
          <a:stretch>
            <a:fillRect/>
          </a:stretch>
        </p:blipFill>
        <p:spPr bwMode="auto">
          <a:xfrm>
            <a:off x="3733800" y="1214393"/>
            <a:ext cx="3714750" cy="4804410"/>
          </a:xfrm>
          <a:prstGeom prst="rect">
            <a:avLst/>
          </a:prstGeom>
          <a:noFill/>
          <a:ln w="9525">
            <a:solidFill>
              <a:schemeClr val="tx1"/>
            </a:solidFill>
            <a:miter lim="800000"/>
            <a:headEnd/>
            <a:tailEnd/>
          </a:ln>
        </p:spPr>
      </p:pic>
      <p:sp>
        <p:nvSpPr>
          <p:cNvPr id="3" name="Rectangle 2"/>
          <p:cNvSpPr/>
          <p:nvPr/>
        </p:nvSpPr>
        <p:spPr>
          <a:xfrm>
            <a:off x="1466984" y="45847"/>
            <a:ext cx="8343631" cy="830997"/>
          </a:xfrm>
          <a:prstGeom prst="rect">
            <a:avLst/>
          </a:prstGeom>
        </p:spPr>
        <p:txBody>
          <a:bodyPr wrap="none">
            <a:spAutoFit/>
          </a:bodyPr>
          <a:lstStyle/>
          <a:p>
            <a:pPr algn="ctr"/>
            <a:r>
              <a:rPr lang="en-US" sz="4800" b="1" dirty="0">
                <a:solidFill>
                  <a:schemeClr val="bg1"/>
                </a:solidFill>
                <a:latin typeface="Times New Roman" panose="02020603050405020304" pitchFamily="18" charset="0"/>
                <a:cs typeface="Times New Roman" panose="02020603050405020304" pitchFamily="18" charset="0"/>
              </a:rPr>
              <a:t>Algorithm Design and Analysis</a:t>
            </a:r>
          </a:p>
        </p:txBody>
      </p:sp>
    </p:spTree>
    <p:extLst>
      <p:ext uri="{BB962C8B-B14F-4D97-AF65-F5344CB8AC3E}">
        <p14:creationId xmlns:p14="http://schemas.microsoft.com/office/powerpoint/2010/main" val="1735035035"/>
      </p:ext>
    </p:extLst>
  </p:cSld>
  <p:clrMapOvr>
    <a:masterClrMapping/>
  </p:clrMapOvr>
  <mc:AlternateContent xmlns:mc="http://schemas.openxmlformats.org/markup-compatibility/2006" xmlns:p15="http://schemas.microsoft.com/office/powerpoint/2012/main">
    <mc:Choice Requires="p15">
      <p:transition spd="med">
        <p15:prstTrans prst="peelOff"/>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84048"/>
            <a:ext cx="11353799" cy="5064352"/>
          </a:xfrm>
        </p:spPr>
        <p:txBody>
          <a:bodyPr>
            <a:normAutofit/>
          </a:bodyPr>
          <a:lstStyle/>
          <a:p>
            <a:pPr marL="0" indent="0" algn="ctr">
              <a:lnSpc>
                <a:spcPct val="160000"/>
              </a:lnSpc>
              <a:buSzPct val="120000"/>
              <a:buNone/>
            </a:pPr>
            <a:endParaRPr lang="en-US" sz="5400" b="1" dirty="0"/>
          </a:p>
          <a:p>
            <a:pPr marL="0" indent="0" algn="ctr">
              <a:lnSpc>
                <a:spcPct val="160000"/>
              </a:lnSpc>
              <a:buSzPct val="120000"/>
              <a:buNone/>
            </a:pPr>
            <a:r>
              <a:rPr lang="en-US" sz="4300" b="1" dirty="0"/>
              <a:t>Chapter 5: Greedy Algorithms </a:t>
            </a:r>
          </a:p>
        </p:txBody>
      </p:sp>
      <p:sp>
        <p:nvSpPr>
          <p:cNvPr id="5" name="Slide Number Placeholder 4"/>
          <p:cNvSpPr>
            <a:spLocks noGrp="1"/>
          </p:cNvSpPr>
          <p:nvPr>
            <p:ph type="sldNum" sz="quarter" idx="12"/>
          </p:nvPr>
        </p:nvSpPr>
        <p:spPr/>
        <p:txBody>
          <a:bodyPr/>
          <a:lstStyle/>
          <a:p>
            <a:fld id="{E31375A4-56A4-47D6-9801-1991572033F7}" type="slidenum">
              <a:rPr lang="en-US" smtClean="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t>Faculty of Information Technology - Computer Science Department</a:t>
            </a:r>
          </a:p>
        </p:txBody>
      </p:sp>
    </p:spTree>
    <p:extLst>
      <p:ext uri="{BB962C8B-B14F-4D97-AF65-F5344CB8AC3E}">
        <p14:creationId xmlns:p14="http://schemas.microsoft.com/office/powerpoint/2010/main" val="3622495007"/>
      </p:ext>
    </p:extLst>
  </p:cSld>
  <p:clrMapOvr>
    <a:masterClrMapping/>
  </p:clrMapOvr>
  <mc:AlternateContent xmlns:mc="http://schemas.openxmlformats.org/markup-compatibility/2006" xmlns:p15="http://schemas.microsoft.com/office/powerpoint/2012/main">
    <mc:Choice Requires="p15">
      <p:transition spd="med">
        <p15:prstTrans prst="peelOff"/>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53085"/>
            <a:ext cx="3934539" cy="584775"/>
          </a:xfrm>
          <a:prstGeom prst="rect">
            <a:avLst/>
          </a:prstGeom>
        </p:spPr>
        <p:txBody>
          <a:bodyPr wrap="none">
            <a:spAutoFit/>
          </a:bodyPr>
          <a:lstStyle/>
          <a:p>
            <a:r>
              <a:rPr lang="en-GB" sz="3200" b="1" dirty="0">
                <a:solidFill>
                  <a:schemeClr val="bg1"/>
                </a:solidFill>
              </a:rPr>
              <a:t>Optimization problem</a:t>
            </a:r>
          </a:p>
        </p:txBody>
      </p:sp>
      <p:sp>
        <p:nvSpPr>
          <p:cNvPr id="3" name="Rectangle 2"/>
          <p:cNvSpPr/>
          <p:nvPr/>
        </p:nvSpPr>
        <p:spPr>
          <a:xfrm>
            <a:off x="228600" y="1082909"/>
            <a:ext cx="11506200" cy="707886"/>
          </a:xfrm>
          <a:prstGeom prst="rect">
            <a:avLst/>
          </a:prstGeom>
        </p:spPr>
        <p:txBody>
          <a:bodyPr wrap="square">
            <a:spAutoFit/>
          </a:bodyPr>
          <a:lstStyle/>
          <a:p>
            <a:pPr algn="just"/>
            <a:r>
              <a:rPr lang="en-GB" sz="2000" dirty="0"/>
              <a:t>In mathematics and computer science, an </a:t>
            </a:r>
            <a:r>
              <a:rPr lang="en-GB" sz="2000" b="1" dirty="0">
                <a:solidFill>
                  <a:srgbClr val="002060"/>
                </a:solidFill>
              </a:rPr>
              <a:t>optimization problem</a:t>
            </a:r>
            <a:r>
              <a:rPr lang="en-GB" sz="2000" dirty="0"/>
              <a:t> is the problem of finding the </a:t>
            </a:r>
            <a:r>
              <a:rPr lang="en-GB" sz="2000" i="1" dirty="0"/>
              <a:t>best</a:t>
            </a:r>
            <a:r>
              <a:rPr lang="en-GB" sz="2000" dirty="0"/>
              <a:t> solution from all </a:t>
            </a:r>
            <a:r>
              <a:rPr lang="en-GB" sz="2000" u="sng" dirty="0">
                <a:solidFill>
                  <a:srgbClr val="002060"/>
                </a:solidFill>
              </a:rPr>
              <a:t>feasible solutions</a:t>
            </a:r>
            <a:r>
              <a:rPr lang="en-GB" sz="2000" dirty="0">
                <a:solidFill>
                  <a:srgbClr val="002060"/>
                </a:solidFill>
              </a:rPr>
              <a:t>.</a:t>
            </a:r>
          </a:p>
        </p:txBody>
      </p:sp>
      <p:sp>
        <p:nvSpPr>
          <p:cNvPr id="4" name="Rectangle 3"/>
          <p:cNvSpPr/>
          <p:nvPr/>
        </p:nvSpPr>
        <p:spPr>
          <a:xfrm>
            <a:off x="403285" y="1872051"/>
            <a:ext cx="1192121" cy="400110"/>
          </a:xfrm>
          <a:prstGeom prst="rect">
            <a:avLst/>
          </a:prstGeom>
        </p:spPr>
        <p:txBody>
          <a:bodyPr wrap="none">
            <a:spAutoFit/>
          </a:bodyPr>
          <a:lstStyle/>
          <a:p>
            <a:r>
              <a:rPr lang="en-GB" sz="2000" b="1" u="sng" dirty="0">
                <a:solidFill>
                  <a:srgbClr val="002060"/>
                </a:solidFill>
              </a:rPr>
              <a:t>Examples</a:t>
            </a:r>
          </a:p>
        </p:txBody>
      </p:sp>
      <p:sp>
        <p:nvSpPr>
          <p:cNvPr id="5" name="Rectangle 4"/>
          <p:cNvSpPr/>
          <p:nvPr/>
        </p:nvSpPr>
        <p:spPr>
          <a:xfrm>
            <a:off x="533400" y="2292650"/>
            <a:ext cx="11201400" cy="2400657"/>
          </a:xfrm>
          <a:prstGeom prst="rect">
            <a:avLst/>
          </a:prstGeom>
        </p:spPr>
        <p:txBody>
          <a:bodyPr wrap="square">
            <a:spAutoFit/>
          </a:bodyPr>
          <a:lstStyle/>
          <a:p>
            <a:pPr marL="457200" indent="-457200" algn="just">
              <a:lnSpc>
                <a:spcPct val="150000"/>
              </a:lnSpc>
              <a:buFont typeface="+mj-lt"/>
              <a:buAutoNum type="arabicPeriod"/>
            </a:pPr>
            <a:r>
              <a:rPr lang="en-US" sz="2000" dirty="0"/>
              <a:t>The </a:t>
            </a:r>
            <a:r>
              <a:rPr lang="en-US" sz="2000" b="1" dirty="0">
                <a:solidFill>
                  <a:srgbClr val="002060"/>
                </a:solidFill>
              </a:rPr>
              <a:t>minimum</a:t>
            </a:r>
            <a:r>
              <a:rPr lang="en-US" sz="2000" dirty="0"/>
              <a:t> cost for travelling from city A to City B.</a:t>
            </a:r>
          </a:p>
          <a:p>
            <a:pPr marL="457200" indent="-457200" algn="just">
              <a:lnSpc>
                <a:spcPct val="150000"/>
              </a:lnSpc>
              <a:buFont typeface="+mj-lt"/>
              <a:buAutoNum type="arabicPeriod"/>
            </a:pPr>
            <a:r>
              <a:rPr lang="en-US" sz="2000" dirty="0"/>
              <a:t>The </a:t>
            </a:r>
            <a:r>
              <a:rPr lang="en-US" sz="2000" b="1" dirty="0">
                <a:solidFill>
                  <a:srgbClr val="002060"/>
                </a:solidFill>
              </a:rPr>
              <a:t>minimum</a:t>
            </a:r>
            <a:r>
              <a:rPr lang="en-US" sz="2000" dirty="0"/>
              <a:t> waiting time to process several processes where each process has a different execution time.</a:t>
            </a:r>
          </a:p>
          <a:p>
            <a:pPr marL="457200" indent="-457200" algn="just">
              <a:lnSpc>
                <a:spcPct val="150000"/>
              </a:lnSpc>
              <a:buFont typeface="+mj-lt"/>
              <a:buAutoNum type="arabicPeriod"/>
            </a:pPr>
            <a:r>
              <a:rPr lang="en-US" sz="2000" b="1" dirty="0">
                <a:solidFill>
                  <a:srgbClr val="002060"/>
                </a:solidFill>
              </a:rPr>
              <a:t>Maximizing</a:t>
            </a:r>
            <a:r>
              <a:rPr lang="en-US" sz="2000" dirty="0"/>
              <a:t> the revenue in a factory the produces different items, with different prices, and different production time.</a:t>
            </a:r>
            <a:endParaRPr lang="en-GB" sz="2000" dirty="0"/>
          </a:p>
        </p:txBody>
      </p:sp>
      <p:sp>
        <p:nvSpPr>
          <p:cNvPr id="6" name="Rectangle 5"/>
          <p:cNvSpPr/>
          <p:nvPr/>
        </p:nvSpPr>
        <p:spPr>
          <a:xfrm>
            <a:off x="533400" y="4753810"/>
            <a:ext cx="11201400" cy="1785104"/>
          </a:xfrm>
          <a:prstGeom prst="rect">
            <a:avLst/>
          </a:prstGeom>
        </p:spPr>
        <p:txBody>
          <a:bodyPr wrap="square">
            <a:spAutoFit/>
          </a:bodyPr>
          <a:lstStyle/>
          <a:p>
            <a:r>
              <a:rPr lang="en-GB" sz="2000" dirty="0"/>
              <a:t>Usually, optimization problems are handled through these types of algorithms:</a:t>
            </a:r>
          </a:p>
          <a:p>
            <a:pPr marL="457200" indent="-457200">
              <a:lnSpc>
                <a:spcPct val="150000"/>
              </a:lnSpc>
              <a:buAutoNum type="arabicPeriod"/>
            </a:pPr>
            <a:r>
              <a:rPr lang="en-US" sz="2000" b="1" dirty="0">
                <a:solidFill>
                  <a:srgbClr val="002060"/>
                </a:solidFill>
              </a:rPr>
              <a:t>Greedy methods</a:t>
            </a:r>
          </a:p>
          <a:p>
            <a:pPr marL="457200" indent="-457200">
              <a:lnSpc>
                <a:spcPct val="150000"/>
              </a:lnSpc>
              <a:buAutoNum type="arabicPeriod"/>
            </a:pPr>
            <a:r>
              <a:rPr lang="en-US" sz="2000" b="1" dirty="0"/>
              <a:t>Dynamic programming</a:t>
            </a:r>
          </a:p>
          <a:p>
            <a:pPr marL="457200" indent="-457200">
              <a:lnSpc>
                <a:spcPct val="150000"/>
              </a:lnSpc>
              <a:buAutoNum type="arabicPeriod"/>
            </a:pPr>
            <a:r>
              <a:rPr lang="en-US" sz="2000" b="1" dirty="0"/>
              <a:t>Branch and bound algorithms </a:t>
            </a:r>
            <a:endParaRPr lang="en-GB" sz="2000" b="1" dirty="0"/>
          </a:p>
        </p:txBody>
      </p:sp>
      <p:sp>
        <p:nvSpPr>
          <p:cNvPr id="7" name="Slide Number Placeholder 6"/>
          <p:cNvSpPr>
            <a:spLocks noGrp="1"/>
          </p:cNvSpPr>
          <p:nvPr>
            <p:ph type="sldNum" sz="quarter" idx="12"/>
          </p:nvPr>
        </p:nvSpPr>
        <p:spPr/>
        <p:txBody>
          <a:bodyPr/>
          <a:lstStyle/>
          <a:p>
            <a:fld id="{13A4B214-EE3B-48DE-9402-23100A7A65CC}" type="slidenum">
              <a:rPr lang="en-GB" smtClean="0"/>
              <a:pPr/>
              <a:t>4</a:t>
            </a:fld>
            <a:endParaRPr lang="en-GB"/>
          </a:p>
        </p:txBody>
      </p:sp>
    </p:spTree>
    <p:extLst>
      <p:ext uri="{BB962C8B-B14F-4D97-AF65-F5344CB8AC3E}">
        <p14:creationId xmlns:p14="http://schemas.microsoft.com/office/powerpoint/2010/main" val="1604266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238349" y="1227526"/>
            <a:ext cx="7658393" cy="351594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2238349" y="4743466"/>
            <a:ext cx="7727443" cy="900113"/>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13A4B214-EE3B-48DE-9402-23100A7A65CC}" type="slidenum">
              <a:rPr lang="en-GB" smtClean="0"/>
              <a:pPr/>
              <a:t>5</a:t>
            </a:fld>
            <a:endParaRPr lang="en-GB"/>
          </a:p>
        </p:txBody>
      </p:sp>
      <p:sp>
        <p:nvSpPr>
          <p:cNvPr id="5" name="Rectangle 4"/>
          <p:cNvSpPr/>
          <p:nvPr/>
        </p:nvSpPr>
        <p:spPr>
          <a:xfrm>
            <a:off x="228600" y="353085"/>
            <a:ext cx="3934539" cy="584775"/>
          </a:xfrm>
          <a:prstGeom prst="rect">
            <a:avLst/>
          </a:prstGeom>
        </p:spPr>
        <p:txBody>
          <a:bodyPr wrap="none">
            <a:spAutoFit/>
          </a:bodyPr>
          <a:lstStyle/>
          <a:p>
            <a:r>
              <a:rPr lang="en-GB" sz="3200" b="1" dirty="0">
                <a:solidFill>
                  <a:schemeClr val="bg1"/>
                </a:solidFill>
              </a:rPr>
              <a:t>Optimization problem</a:t>
            </a:r>
          </a:p>
        </p:txBody>
      </p:sp>
    </p:spTree>
    <p:extLst>
      <p:ext uri="{BB962C8B-B14F-4D97-AF65-F5344CB8AC3E}">
        <p14:creationId xmlns:p14="http://schemas.microsoft.com/office/powerpoint/2010/main" val="3820866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588753" y="1122438"/>
            <a:ext cx="9007809" cy="2677624"/>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1595406" y="4018670"/>
            <a:ext cx="9001156" cy="2702808"/>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13A4B214-EE3B-48DE-9402-23100A7A65CC}" type="slidenum">
              <a:rPr lang="en-GB" smtClean="0"/>
              <a:pPr/>
              <a:t>6</a:t>
            </a:fld>
            <a:endParaRPr lang="en-GB"/>
          </a:p>
        </p:txBody>
      </p:sp>
      <p:sp>
        <p:nvSpPr>
          <p:cNvPr id="5" name="Rectangle 4"/>
          <p:cNvSpPr/>
          <p:nvPr/>
        </p:nvSpPr>
        <p:spPr>
          <a:xfrm>
            <a:off x="228600" y="353085"/>
            <a:ext cx="3934539" cy="584775"/>
          </a:xfrm>
          <a:prstGeom prst="rect">
            <a:avLst/>
          </a:prstGeom>
        </p:spPr>
        <p:txBody>
          <a:bodyPr wrap="none">
            <a:spAutoFit/>
          </a:bodyPr>
          <a:lstStyle/>
          <a:p>
            <a:r>
              <a:rPr lang="en-GB" sz="3200" b="1" dirty="0">
                <a:solidFill>
                  <a:schemeClr val="bg1"/>
                </a:solidFill>
              </a:rPr>
              <a:t>Optimization problem</a:t>
            </a:r>
          </a:p>
        </p:txBody>
      </p:sp>
    </p:spTree>
    <p:extLst>
      <p:ext uri="{BB962C8B-B14F-4D97-AF65-F5344CB8AC3E}">
        <p14:creationId xmlns:p14="http://schemas.microsoft.com/office/powerpoint/2010/main" val="1738938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1209884" y="1284326"/>
            <a:ext cx="9010650" cy="3562350"/>
          </a:xfrm>
          <a:prstGeom prst="rect">
            <a:avLst/>
          </a:prstGeom>
          <a:noFill/>
          <a:ln w="9525">
            <a:noFill/>
            <a:miter lim="800000"/>
            <a:headEnd/>
            <a:tailEnd/>
          </a:ln>
          <a:effectLst/>
        </p:spPr>
      </p:pic>
      <p:sp>
        <p:nvSpPr>
          <p:cNvPr id="3" name="Rectangle 2"/>
          <p:cNvSpPr/>
          <p:nvPr/>
        </p:nvSpPr>
        <p:spPr>
          <a:xfrm>
            <a:off x="1391530" y="5032913"/>
            <a:ext cx="8858312" cy="1323439"/>
          </a:xfrm>
          <a:prstGeom prst="rect">
            <a:avLst/>
          </a:prstGeom>
        </p:spPr>
        <p:txBody>
          <a:bodyPr wrap="square">
            <a:spAutoFit/>
          </a:bodyPr>
          <a:lstStyle/>
          <a:p>
            <a:r>
              <a:rPr lang="en-GB" sz="2000" dirty="0"/>
              <a:t>Here, the thing to note is that:</a:t>
            </a:r>
          </a:p>
          <a:p>
            <a:endParaRPr lang="en-GB" sz="2000" dirty="0"/>
          </a:p>
          <a:p>
            <a:r>
              <a:rPr lang="en-US" sz="2000" dirty="0"/>
              <a:t>After each iteration, he is making an </a:t>
            </a:r>
            <a:r>
              <a:rPr lang="en-US" sz="2000" b="1" dirty="0">
                <a:solidFill>
                  <a:srgbClr val="002060"/>
                </a:solidFill>
              </a:rPr>
              <a:t>optimal local choice</a:t>
            </a:r>
            <a:r>
              <a:rPr lang="en-US" sz="2000" dirty="0"/>
              <a:t>, a choice that is greedy in its nature, </a:t>
            </a:r>
            <a:r>
              <a:rPr lang="en-US" sz="2000" b="1" dirty="0">
                <a:solidFill>
                  <a:srgbClr val="002060"/>
                </a:solidFill>
              </a:rPr>
              <a:t>hoping to find the optimal global choice for solving the problem.</a:t>
            </a:r>
            <a:endParaRPr lang="en-GB" sz="2000" b="1" dirty="0">
              <a:solidFill>
                <a:srgbClr val="002060"/>
              </a:solidFill>
            </a:endParaRPr>
          </a:p>
        </p:txBody>
      </p:sp>
      <p:sp>
        <p:nvSpPr>
          <p:cNvPr id="4" name="Slide Number Placeholder 3"/>
          <p:cNvSpPr>
            <a:spLocks noGrp="1"/>
          </p:cNvSpPr>
          <p:nvPr>
            <p:ph type="sldNum" sz="quarter" idx="12"/>
          </p:nvPr>
        </p:nvSpPr>
        <p:spPr/>
        <p:txBody>
          <a:bodyPr/>
          <a:lstStyle/>
          <a:p>
            <a:fld id="{13A4B214-EE3B-48DE-9402-23100A7A65CC}" type="slidenum">
              <a:rPr lang="en-GB" smtClean="0"/>
              <a:pPr/>
              <a:t>7</a:t>
            </a:fld>
            <a:endParaRPr lang="en-GB"/>
          </a:p>
        </p:txBody>
      </p:sp>
      <p:sp>
        <p:nvSpPr>
          <p:cNvPr id="5" name="Rectangle 4"/>
          <p:cNvSpPr/>
          <p:nvPr/>
        </p:nvSpPr>
        <p:spPr>
          <a:xfrm>
            <a:off x="228600" y="353085"/>
            <a:ext cx="3934539" cy="584775"/>
          </a:xfrm>
          <a:prstGeom prst="rect">
            <a:avLst/>
          </a:prstGeom>
        </p:spPr>
        <p:txBody>
          <a:bodyPr wrap="none">
            <a:spAutoFit/>
          </a:bodyPr>
          <a:lstStyle/>
          <a:p>
            <a:r>
              <a:rPr lang="en-GB" sz="3200" b="1" dirty="0">
                <a:solidFill>
                  <a:schemeClr val="bg1"/>
                </a:solidFill>
              </a:rPr>
              <a:t>Optimization problem</a:t>
            </a:r>
          </a:p>
        </p:txBody>
      </p:sp>
    </p:spTree>
    <p:extLst>
      <p:ext uri="{BB962C8B-B14F-4D97-AF65-F5344CB8AC3E}">
        <p14:creationId xmlns:p14="http://schemas.microsoft.com/office/powerpoint/2010/main" val="3172017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146809"/>
            <a:ext cx="9072594" cy="1477328"/>
          </a:xfrm>
          <a:prstGeom prst="rect">
            <a:avLst/>
          </a:prstGeom>
        </p:spPr>
        <p:txBody>
          <a:bodyPr wrap="square">
            <a:spAutoFit/>
          </a:bodyPr>
          <a:lstStyle/>
          <a:p>
            <a:pPr algn="just">
              <a:lnSpc>
                <a:spcPct val="150000"/>
              </a:lnSpc>
            </a:pPr>
            <a:r>
              <a:rPr lang="en-GB" sz="2000" b="1" dirty="0">
                <a:solidFill>
                  <a:srgbClr val="002060"/>
                </a:solidFill>
              </a:rPr>
              <a:t>Greedy algorithms</a:t>
            </a:r>
            <a:r>
              <a:rPr lang="en-GB" sz="2000" dirty="0">
                <a:solidFill>
                  <a:srgbClr val="002060"/>
                </a:solidFill>
              </a:rPr>
              <a:t>: </a:t>
            </a:r>
            <a:r>
              <a:rPr lang="en-GB" sz="2000" dirty="0"/>
              <a:t>an algorithmic paradigm that follows the problem solving approach of making the locally optimal choice at each stage with the hope of finding a global optimum.</a:t>
            </a:r>
          </a:p>
        </p:txBody>
      </p:sp>
      <p:sp>
        <p:nvSpPr>
          <p:cNvPr id="3" name="Rectangle 2"/>
          <p:cNvSpPr/>
          <p:nvPr/>
        </p:nvSpPr>
        <p:spPr>
          <a:xfrm>
            <a:off x="762000" y="2505086"/>
            <a:ext cx="7314054" cy="1323439"/>
          </a:xfrm>
          <a:prstGeom prst="rect">
            <a:avLst/>
          </a:prstGeom>
        </p:spPr>
        <p:txBody>
          <a:bodyPr wrap="none">
            <a:spAutoFit/>
          </a:bodyPr>
          <a:lstStyle/>
          <a:p>
            <a:pPr marL="342900" indent="-342900">
              <a:lnSpc>
                <a:spcPct val="200000"/>
              </a:lnSpc>
              <a:buFont typeface="Wingdings" panose="05000000000000000000" pitchFamily="2" charset="2"/>
              <a:buChar char="Ø"/>
            </a:pPr>
            <a:r>
              <a:rPr lang="en-GB" sz="2000" b="1" dirty="0">
                <a:solidFill>
                  <a:srgbClr val="002060"/>
                </a:solidFill>
              </a:rPr>
              <a:t>Pros:</a:t>
            </a:r>
            <a:r>
              <a:rPr lang="en-GB" sz="2000" b="1" dirty="0"/>
              <a:t> </a:t>
            </a:r>
            <a:r>
              <a:rPr lang="en-GB" sz="2000" dirty="0"/>
              <a:t>simple, easy to implement, run fast</a:t>
            </a:r>
          </a:p>
          <a:p>
            <a:pPr marL="342900" indent="-342900">
              <a:lnSpc>
                <a:spcPct val="200000"/>
              </a:lnSpc>
              <a:buFont typeface="Wingdings" panose="05000000000000000000" pitchFamily="2" charset="2"/>
              <a:buChar char="Ø"/>
            </a:pPr>
            <a:r>
              <a:rPr lang="en-US" sz="2000" b="1" dirty="0">
                <a:solidFill>
                  <a:srgbClr val="002060"/>
                </a:solidFill>
              </a:rPr>
              <a:t>Cons:</a:t>
            </a:r>
            <a:r>
              <a:rPr lang="en-US" sz="2000" b="1" dirty="0"/>
              <a:t> </a:t>
            </a:r>
            <a:r>
              <a:rPr lang="en-US" sz="2000" dirty="0"/>
              <a:t>very often they do not provide a globally optimum solution</a:t>
            </a:r>
            <a:endParaRPr lang="en-GB" sz="2000" b="1" dirty="0"/>
          </a:p>
        </p:txBody>
      </p:sp>
      <p:sp>
        <p:nvSpPr>
          <p:cNvPr id="4" name="Title 1"/>
          <p:cNvSpPr txBox="1">
            <a:spLocks/>
          </p:cNvSpPr>
          <p:nvPr/>
        </p:nvSpPr>
        <p:spPr>
          <a:xfrm>
            <a:off x="2345" y="338884"/>
            <a:ext cx="3289510" cy="727071"/>
          </a:xfrm>
          <a:prstGeom prst="rect">
            <a:avLst/>
          </a:prstGeom>
        </p:spPr>
        <p:txBody>
          <a:bodyPr vert="horz" lIns="91440" tIns="45720" rIns="91440" bIns="45720" rtlCol="0" anchor="ctr">
            <a:normAutofit/>
          </a:bodyPr>
          <a:lstStyle/>
          <a:p>
            <a:pPr algn="ctr">
              <a:spcBef>
                <a:spcPct val="0"/>
              </a:spcBef>
              <a:defRPr/>
            </a:pPr>
            <a:r>
              <a:rPr lang="en-US" sz="3200" b="1" dirty="0">
                <a:solidFill>
                  <a:schemeClr val="bg1"/>
                </a:solidFill>
                <a:latin typeface="+mj-lt"/>
                <a:ea typeface="+mj-ea"/>
                <a:cs typeface="+mj-cs"/>
              </a:rPr>
              <a:t>Greedy Algorithms</a:t>
            </a:r>
            <a:endParaRPr lang="en-GB" sz="3200" b="1" dirty="0">
              <a:solidFill>
                <a:schemeClr val="bg1"/>
              </a:solidFill>
              <a:latin typeface="+mj-lt"/>
              <a:ea typeface="+mj-ea"/>
              <a:cs typeface="+mj-cs"/>
            </a:endParaRPr>
          </a:p>
        </p:txBody>
      </p:sp>
      <p:sp>
        <p:nvSpPr>
          <p:cNvPr id="5" name="Slide Number Placeholder 4"/>
          <p:cNvSpPr>
            <a:spLocks noGrp="1"/>
          </p:cNvSpPr>
          <p:nvPr>
            <p:ph type="sldNum" sz="quarter" idx="12"/>
          </p:nvPr>
        </p:nvSpPr>
        <p:spPr/>
        <p:txBody>
          <a:bodyPr/>
          <a:lstStyle/>
          <a:p>
            <a:fld id="{13A4B214-EE3B-48DE-9402-23100A7A65CC}" type="slidenum">
              <a:rPr lang="en-GB" smtClean="0"/>
              <a:pPr/>
              <a:t>8</a:t>
            </a:fld>
            <a:endParaRPr lang="en-GB"/>
          </a:p>
        </p:txBody>
      </p:sp>
    </p:spTree>
    <p:extLst>
      <p:ext uri="{BB962C8B-B14F-4D97-AF65-F5344CB8AC3E}">
        <p14:creationId xmlns:p14="http://schemas.microsoft.com/office/powerpoint/2010/main" val="3715406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292610" y="2602870"/>
            <a:ext cx="3360301" cy="3340952"/>
          </a:xfrm>
          <a:prstGeom prst="rect">
            <a:avLst/>
          </a:prstGeom>
          <a:noFill/>
          <a:ln w="9525">
            <a:noFill/>
            <a:miter lim="800000"/>
            <a:headEnd/>
            <a:tailEnd/>
          </a:ln>
          <a:effectLst/>
        </p:spPr>
      </p:pic>
      <p:sp>
        <p:nvSpPr>
          <p:cNvPr id="3" name="TextBox 2"/>
          <p:cNvSpPr txBox="1"/>
          <p:nvPr/>
        </p:nvSpPr>
        <p:spPr>
          <a:xfrm>
            <a:off x="123092" y="1126472"/>
            <a:ext cx="6887308" cy="1015663"/>
          </a:xfrm>
          <a:prstGeom prst="rect">
            <a:avLst/>
          </a:prstGeom>
          <a:noFill/>
        </p:spPr>
        <p:txBody>
          <a:bodyPr wrap="square" rtlCol="0">
            <a:spAutoFit/>
          </a:bodyPr>
          <a:lstStyle/>
          <a:p>
            <a:r>
              <a:rPr lang="en-US" sz="2000" dirty="0"/>
              <a:t>With this example, we will see how greedy algorithms makes locally optimal choices. However, ending up at a non optima solution.</a:t>
            </a:r>
            <a:endParaRPr lang="en-GB" sz="2000" dirty="0"/>
          </a:p>
        </p:txBody>
      </p:sp>
      <p:sp>
        <p:nvSpPr>
          <p:cNvPr id="4" name="Rectangle 3"/>
          <p:cNvSpPr/>
          <p:nvPr/>
        </p:nvSpPr>
        <p:spPr>
          <a:xfrm>
            <a:off x="152400" y="420458"/>
            <a:ext cx="1630575" cy="584775"/>
          </a:xfrm>
          <a:prstGeom prst="rect">
            <a:avLst/>
          </a:prstGeom>
        </p:spPr>
        <p:txBody>
          <a:bodyPr wrap="none">
            <a:spAutoFit/>
          </a:bodyPr>
          <a:lstStyle/>
          <a:p>
            <a:r>
              <a:rPr lang="en-GB" sz="3200" b="1" dirty="0">
                <a:solidFill>
                  <a:schemeClr val="bg1"/>
                </a:solidFill>
              </a:rPr>
              <a:t>Example</a:t>
            </a:r>
          </a:p>
        </p:txBody>
      </p:sp>
      <p:sp>
        <p:nvSpPr>
          <p:cNvPr id="5" name="TextBox 4"/>
          <p:cNvSpPr txBox="1"/>
          <p:nvPr/>
        </p:nvSpPr>
        <p:spPr>
          <a:xfrm>
            <a:off x="26963" y="2108389"/>
            <a:ext cx="8643998" cy="400110"/>
          </a:xfrm>
          <a:prstGeom prst="rect">
            <a:avLst/>
          </a:prstGeom>
          <a:noFill/>
        </p:spPr>
        <p:txBody>
          <a:bodyPr wrap="square" rtlCol="0">
            <a:spAutoFit/>
          </a:bodyPr>
          <a:lstStyle/>
          <a:p>
            <a:r>
              <a:rPr lang="en-US" sz="2000" b="1" dirty="0">
                <a:solidFill>
                  <a:srgbClr val="002060"/>
                </a:solidFill>
              </a:rPr>
              <a:t>The problem is to find the largest sum from the root to  a leaf</a:t>
            </a:r>
            <a:endParaRPr lang="en-GB" sz="2000" b="1" dirty="0">
              <a:solidFill>
                <a:srgbClr val="002060"/>
              </a:solidFill>
            </a:endParaRPr>
          </a:p>
        </p:txBody>
      </p:sp>
      <p:sp>
        <p:nvSpPr>
          <p:cNvPr id="6" name="Slide Number Placeholder 5"/>
          <p:cNvSpPr>
            <a:spLocks noGrp="1"/>
          </p:cNvSpPr>
          <p:nvPr>
            <p:ph type="sldNum" sz="quarter" idx="12"/>
          </p:nvPr>
        </p:nvSpPr>
        <p:spPr/>
        <p:txBody>
          <a:bodyPr/>
          <a:lstStyle/>
          <a:p>
            <a:fld id="{13A4B214-EE3B-48DE-9402-23100A7A65CC}" type="slidenum">
              <a:rPr lang="en-GB" smtClean="0"/>
              <a:pPr/>
              <a:t>9</a:t>
            </a:fld>
            <a:endParaRPr lang="en-GB"/>
          </a:p>
        </p:txBody>
      </p:sp>
      <p:pic>
        <p:nvPicPr>
          <p:cNvPr id="7" name="Picture 2"/>
          <p:cNvPicPr>
            <a:picLocks noChangeAspect="1" noChangeArrowheads="1"/>
          </p:cNvPicPr>
          <p:nvPr/>
        </p:nvPicPr>
        <p:blipFill>
          <a:blip r:embed="rId3"/>
          <a:srcRect/>
          <a:stretch>
            <a:fillRect/>
          </a:stretch>
        </p:blipFill>
        <p:spPr bwMode="auto">
          <a:xfrm>
            <a:off x="7290582" y="1603433"/>
            <a:ext cx="4899915" cy="2514600"/>
          </a:xfrm>
          <a:prstGeom prst="rect">
            <a:avLst/>
          </a:prstGeom>
          <a:noFill/>
          <a:ln w="9525">
            <a:noFill/>
            <a:miter lim="800000"/>
            <a:headEnd/>
            <a:tailEnd/>
          </a:ln>
          <a:effectLst/>
        </p:spPr>
      </p:pic>
      <p:pic>
        <p:nvPicPr>
          <p:cNvPr id="8" name="Picture 3"/>
          <p:cNvPicPr>
            <a:picLocks noChangeAspect="1" noChangeArrowheads="1"/>
          </p:cNvPicPr>
          <p:nvPr/>
        </p:nvPicPr>
        <p:blipFill>
          <a:blip r:embed="rId4"/>
          <a:srcRect/>
          <a:stretch>
            <a:fillRect/>
          </a:stretch>
        </p:blipFill>
        <p:spPr bwMode="auto">
          <a:xfrm>
            <a:off x="7321904" y="4340613"/>
            <a:ext cx="4876799" cy="2540327"/>
          </a:xfrm>
          <a:prstGeom prst="rect">
            <a:avLst/>
          </a:prstGeom>
          <a:noFill/>
          <a:ln w="9525">
            <a:noFill/>
            <a:miter lim="800000"/>
            <a:headEnd/>
            <a:tailEnd/>
          </a:ln>
          <a:effectLst/>
        </p:spPr>
      </p:pic>
      <p:sp>
        <p:nvSpPr>
          <p:cNvPr id="9" name="TextBox 8"/>
          <p:cNvSpPr txBox="1"/>
          <p:nvPr/>
        </p:nvSpPr>
        <p:spPr>
          <a:xfrm>
            <a:off x="152400" y="6002409"/>
            <a:ext cx="6641590" cy="707886"/>
          </a:xfrm>
          <a:prstGeom prst="rect">
            <a:avLst/>
          </a:prstGeom>
          <a:noFill/>
        </p:spPr>
        <p:txBody>
          <a:bodyPr wrap="square" rtlCol="0">
            <a:spAutoFit/>
          </a:bodyPr>
          <a:lstStyle/>
          <a:p>
            <a:pPr algn="just"/>
            <a:r>
              <a:rPr lang="en-US" sz="2000" b="1" dirty="0">
                <a:solidFill>
                  <a:srgbClr val="002060"/>
                </a:solidFill>
              </a:rPr>
              <a:t>Conclusion:</a:t>
            </a:r>
            <a:r>
              <a:rPr lang="en-US" sz="2000" b="1" dirty="0">
                <a:solidFill>
                  <a:srgbClr val="FF0000"/>
                </a:solidFill>
              </a:rPr>
              <a:t> </a:t>
            </a:r>
            <a:r>
              <a:rPr lang="en-US" sz="2000" dirty="0"/>
              <a:t>making optimal locally greedy choices do not always leads to a global optimal choice.</a:t>
            </a:r>
            <a:endParaRPr lang="en-GB" sz="2000" dirty="0">
              <a:solidFill>
                <a:srgbClr val="FF0000"/>
              </a:solidFill>
            </a:endParaRPr>
          </a:p>
        </p:txBody>
      </p:sp>
      <p:sp>
        <p:nvSpPr>
          <p:cNvPr id="2" name="Right Arrow 1"/>
          <p:cNvSpPr/>
          <p:nvPr/>
        </p:nvSpPr>
        <p:spPr>
          <a:xfrm>
            <a:off x="4038600" y="3581400"/>
            <a:ext cx="2971800" cy="1219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p:cNvPicPr>
            <a:picLocks noChangeAspect="1" noChangeArrowheads="1"/>
          </p:cNvPicPr>
          <p:nvPr/>
        </p:nvPicPr>
        <p:blipFill>
          <a:blip r:embed="rId3"/>
          <a:srcRect/>
          <a:stretch>
            <a:fillRect/>
          </a:stretch>
        </p:blipFill>
        <p:spPr bwMode="auto">
          <a:xfrm>
            <a:off x="7290582" y="1659704"/>
            <a:ext cx="4899915" cy="2514600"/>
          </a:xfrm>
          <a:prstGeom prst="rect">
            <a:avLst/>
          </a:prstGeom>
          <a:noFill/>
          <a:ln w="9525">
            <a:noFill/>
            <a:miter lim="800000"/>
            <a:headEnd/>
            <a:tailEnd/>
          </a:ln>
          <a:effectLst/>
        </p:spPr>
      </p:pic>
      <p:pic>
        <p:nvPicPr>
          <p:cNvPr id="12" name="Picture 3"/>
          <p:cNvPicPr>
            <a:picLocks noChangeAspect="1" noChangeArrowheads="1"/>
          </p:cNvPicPr>
          <p:nvPr/>
        </p:nvPicPr>
        <p:blipFill>
          <a:blip r:embed="rId4"/>
          <a:srcRect/>
          <a:stretch>
            <a:fillRect/>
          </a:stretch>
        </p:blipFill>
        <p:spPr bwMode="auto">
          <a:xfrm>
            <a:off x="7321904" y="4440101"/>
            <a:ext cx="4876799" cy="2540327"/>
          </a:xfrm>
          <a:prstGeom prst="rect">
            <a:avLst/>
          </a:prstGeom>
          <a:noFill/>
          <a:ln w="9525">
            <a:noFill/>
            <a:miter lim="800000"/>
            <a:headEnd/>
            <a:tailEnd/>
          </a:ln>
          <a:effectLst/>
        </p:spPr>
      </p:pic>
      <p:sp>
        <p:nvSpPr>
          <p:cNvPr id="13" name="Right Arrow 12"/>
          <p:cNvSpPr/>
          <p:nvPr/>
        </p:nvSpPr>
        <p:spPr>
          <a:xfrm>
            <a:off x="4038600" y="3637671"/>
            <a:ext cx="2971800" cy="1219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7873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9" grpId="0"/>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3A4B214-EE3B-48DE-9402-23100A7A65CC}" type="slidenum">
              <a:rPr lang="en-GB" smtClean="0"/>
              <a:pPr/>
              <a:t>10</a:t>
            </a:fld>
            <a:endParaRPr lang="en-GB"/>
          </a:p>
        </p:txBody>
      </p:sp>
      <p:sp>
        <p:nvSpPr>
          <p:cNvPr id="3" name="Rectangle 2"/>
          <p:cNvSpPr/>
          <p:nvPr/>
        </p:nvSpPr>
        <p:spPr>
          <a:xfrm>
            <a:off x="152400" y="304800"/>
            <a:ext cx="4902111" cy="523220"/>
          </a:xfrm>
          <a:prstGeom prst="rect">
            <a:avLst/>
          </a:prstGeom>
        </p:spPr>
        <p:txBody>
          <a:bodyPr wrap="none">
            <a:spAutoFit/>
          </a:bodyPr>
          <a:lstStyle/>
          <a:p>
            <a:r>
              <a:rPr lang="en-US" sz="2800" b="1" dirty="0">
                <a:solidFill>
                  <a:schemeClr val="bg1"/>
                </a:solidFill>
              </a:rPr>
              <a:t>Greedy Algorithms Applications</a:t>
            </a:r>
            <a:endParaRPr lang="en-GB" sz="2800" dirty="0">
              <a:solidFill>
                <a:schemeClr val="bg1"/>
              </a:solidFill>
            </a:endParaRPr>
          </a:p>
        </p:txBody>
      </p:sp>
      <p:sp>
        <p:nvSpPr>
          <p:cNvPr id="4" name="TextBox 3"/>
          <p:cNvSpPr txBox="1"/>
          <p:nvPr/>
        </p:nvSpPr>
        <p:spPr>
          <a:xfrm>
            <a:off x="152400" y="1143000"/>
            <a:ext cx="8643998" cy="4401205"/>
          </a:xfrm>
          <a:prstGeom prst="rect">
            <a:avLst/>
          </a:prstGeom>
          <a:noFill/>
        </p:spPr>
        <p:txBody>
          <a:bodyPr wrap="square" rtlCol="0">
            <a:spAutoFit/>
          </a:bodyPr>
          <a:lstStyle/>
          <a:p>
            <a:pPr marL="342900">
              <a:buClr>
                <a:srgbClr val="002060"/>
              </a:buClr>
              <a:buFont typeface="Wingdings" panose="05000000000000000000" pitchFamily="2" charset="2"/>
              <a:buChar char="q"/>
            </a:pPr>
            <a:r>
              <a:rPr lang="en-US" sz="2000" dirty="0"/>
              <a:t> </a:t>
            </a:r>
            <a:r>
              <a:rPr lang="en-US" sz="2000" b="1" dirty="0">
                <a:solidFill>
                  <a:srgbClr val="002060"/>
                </a:solidFill>
              </a:rPr>
              <a:t>Scheduling:</a:t>
            </a:r>
          </a:p>
          <a:p>
            <a:pPr marL="1600200" lvl="2" indent="-342900">
              <a:buFont typeface="Wingdings" panose="05000000000000000000" pitchFamily="2" charset="2"/>
              <a:buChar char="§"/>
            </a:pPr>
            <a:r>
              <a:rPr lang="en-US" sz="2000" b="1" dirty="0">
                <a:solidFill>
                  <a:srgbClr val="FF0000"/>
                </a:solidFill>
              </a:rPr>
              <a:t>Activity Selection Problem</a:t>
            </a:r>
          </a:p>
          <a:p>
            <a:pPr marL="1600200" lvl="2" indent="-342900">
              <a:buFont typeface="Wingdings" panose="05000000000000000000" pitchFamily="2" charset="2"/>
              <a:buChar char="§"/>
            </a:pPr>
            <a:r>
              <a:rPr lang="en-US" sz="2000" dirty="0"/>
              <a:t>Job Scheduling Problem</a:t>
            </a:r>
          </a:p>
          <a:p>
            <a:pPr marL="1257300" lvl="2"/>
            <a:endParaRPr lang="en-US" sz="2000" dirty="0"/>
          </a:p>
          <a:p>
            <a:pPr marL="342900">
              <a:buClr>
                <a:srgbClr val="002060"/>
              </a:buClr>
              <a:buFont typeface="Wingdings" panose="05000000000000000000" pitchFamily="2" charset="2"/>
              <a:buChar char="q"/>
            </a:pPr>
            <a:r>
              <a:rPr lang="en-US" sz="2000" dirty="0"/>
              <a:t> </a:t>
            </a:r>
            <a:r>
              <a:rPr lang="en-US" sz="2000" b="1" dirty="0">
                <a:solidFill>
                  <a:srgbClr val="002060"/>
                </a:solidFill>
              </a:rPr>
              <a:t>Graph Algorithms</a:t>
            </a:r>
          </a:p>
          <a:p>
            <a:pPr marL="800100" lvl="1">
              <a:buFont typeface="Wingdings" panose="05000000000000000000" pitchFamily="2" charset="2"/>
              <a:buChar char="Ø"/>
            </a:pPr>
            <a:r>
              <a:rPr lang="en-US" sz="2000" dirty="0"/>
              <a:t> </a:t>
            </a:r>
            <a:r>
              <a:rPr lang="en-US" sz="2000" dirty="0">
                <a:solidFill>
                  <a:srgbClr val="0070C0"/>
                </a:solidFill>
              </a:rPr>
              <a:t>Minimum Spanning Tree</a:t>
            </a:r>
          </a:p>
          <a:p>
            <a:pPr marL="1257300" lvl="2">
              <a:buFont typeface="Wingdings" panose="05000000000000000000" pitchFamily="2" charset="2"/>
              <a:buChar char="§"/>
            </a:pPr>
            <a:r>
              <a:rPr lang="en-GB" sz="2000" dirty="0">
                <a:solidFill>
                  <a:srgbClr val="FF0000"/>
                </a:solidFill>
              </a:rPr>
              <a:t>  </a:t>
            </a:r>
            <a:r>
              <a:rPr lang="en-GB" sz="2000" b="1" dirty="0">
                <a:solidFill>
                  <a:srgbClr val="FF0000"/>
                </a:solidFill>
              </a:rPr>
              <a:t>Prime Algorithm</a:t>
            </a:r>
          </a:p>
          <a:p>
            <a:pPr marL="1257300" lvl="2">
              <a:buFont typeface="Wingdings" panose="05000000000000000000" pitchFamily="2" charset="2"/>
              <a:buChar char="§"/>
            </a:pPr>
            <a:r>
              <a:rPr lang="en-GB" sz="2000" b="1" dirty="0">
                <a:solidFill>
                  <a:srgbClr val="FF0000"/>
                </a:solidFill>
              </a:rPr>
              <a:t>  </a:t>
            </a:r>
            <a:r>
              <a:rPr lang="en-GB" sz="2000" b="1" dirty="0" err="1">
                <a:solidFill>
                  <a:srgbClr val="FF0000"/>
                </a:solidFill>
              </a:rPr>
              <a:t>Kruskal's</a:t>
            </a:r>
            <a:r>
              <a:rPr lang="en-GB" sz="2000" b="1" dirty="0">
                <a:solidFill>
                  <a:srgbClr val="FF0000"/>
                </a:solidFill>
              </a:rPr>
              <a:t> Algorithm</a:t>
            </a:r>
          </a:p>
          <a:p>
            <a:pPr marL="1257300" lvl="2"/>
            <a:endParaRPr lang="en-GB" sz="2000" dirty="0"/>
          </a:p>
          <a:p>
            <a:pPr marL="800100" lvl="1">
              <a:buFont typeface="Wingdings" panose="05000000000000000000" pitchFamily="2" charset="2"/>
              <a:buChar char="Ø"/>
            </a:pPr>
            <a:r>
              <a:rPr lang="en-US" sz="2000" dirty="0"/>
              <a:t> </a:t>
            </a:r>
            <a:r>
              <a:rPr lang="en-US" sz="2000" dirty="0">
                <a:solidFill>
                  <a:srgbClr val="0070C0"/>
                </a:solidFill>
              </a:rPr>
              <a:t>Shortest path </a:t>
            </a:r>
          </a:p>
          <a:p>
            <a:pPr marL="1257300" lvl="2">
              <a:buClr>
                <a:srgbClr val="FF0000"/>
              </a:buClr>
              <a:buFont typeface="Wingdings" panose="05000000000000000000" pitchFamily="2" charset="2"/>
              <a:buChar char="§"/>
            </a:pPr>
            <a:r>
              <a:rPr lang="en-US" sz="2000" dirty="0"/>
              <a:t>   </a:t>
            </a:r>
            <a:r>
              <a:rPr lang="en-US" sz="2000" b="1" dirty="0">
                <a:solidFill>
                  <a:srgbClr val="FF0000"/>
                </a:solidFill>
              </a:rPr>
              <a:t>Dijkstra Algorithm</a:t>
            </a:r>
          </a:p>
          <a:p>
            <a:pPr marL="1257300" lvl="2"/>
            <a:endParaRPr lang="en-US" sz="2000" dirty="0"/>
          </a:p>
          <a:p>
            <a:pPr marL="342900">
              <a:buClr>
                <a:srgbClr val="002060"/>
              </a:buClr>
              <a:buFont typeface="Wingdings" panose="05000000000000000000" pitchFamily="2" charset="2"/>
              <a:buChar char="q"/>
            </a:pPr>
            <a:r>
              <a:rPr lang="en-US" sz="2000" dirty="0"/>
              <a:t>  </a:t>
            </a:r>
            <a:r>
              <a:rPr lang="en-US" sz="2000" b="1" dirty="0">
                <a:solidFill>
                  <a:srgbClr val="002060"/>
                </a:solidFill>
              </a:rPr>
              <a:t>Other Optimization Problems</a:t>
            </a:r>
          </a:p>
          <a:p>
            <a:pPr marL="1600200" lvl="2" indent="-342900">
              <a:buFont typeface="Wingdings" panose="05000000000000000000" pitchFamily="2" charset="2"/>
              <a:buChar char="§"/>
            </a:pPr>
            <a:r>
              <a:rPr lang="en-US" sz="2000" b="1" dirty="0">
                <a:solidFill>
                  <a:srgbClr val="FF0000"/>
                </a:solidFill>
              </a:rPr>
              <a:t>Fractional Knapsack problem</a:t>
            </a:r>
          </a:p>
        </p:txBody>
      </p:sp>
    </p:spTree>
    <p:extLst>
      <p:ext uri="{BB962C8B-B14F-4D97-AF65-F5344CB8AC3E}">
        <p14:creationId xmlns:p14="http://schemas.microsoft.com/office/powerpoint/2010/main" val="137388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3A4B214-EE3B-48DE-9402-23100A7A65CC}" type="slidenum">
              <a:rPr lang="en-GB" smtClean="0"/>
              <a:pPr/>
              <a:t>11</a:t>
            </a:fld>
            <a:endParaRPr lang="en-GB"/>
          </a:p>
        </p:txBody>
      </p:sp>
      <p:sp>
        <p:nvSpPr>
          <p:cNvPr id="3" name="Rectangle 2"/>
          <p:cNvSpPr/>
          <p:nvPr/>
        </p:nvSpPr>
        <p:spPr>
          <a:xfrm>
            <a:off x="152400" y="350408"/>
            <a:ext cx="4800601" cy="523220"/>
          </a:xfrm>
          <a:prstGeom prst="rect">
            <a:avLst/>
          </a:prstGeom>
        </p:spPr>
        <p:txBody>
          <a:bodyPr wrap="square">
            <a:spAutoFit/>
          </a:bodyPr>
          <a:lstStyle/>
          <a:p>
            <a:r>
              <a:rPr lang="en-GB" sz="2800" b="1" dirty="0">
                <a:solidFill>
                  <a:schemeClr val="bg1"/>
                </a:solidFill>
              </a:rPr>
              <a:t>Activity Selection Problem</a:t>
            </a:r>
          </a:p>
        </p:txBody>
      </p:sp>
      <p:sp>
        <p:nvSpPr>
          <p:cNvPr id="4" name="Rectangle 3"/>
          <p:cNvSpPr/>
          <p:nvPr/>
        </p:nvSpPr>
        <p:spPr>
          <a:xfrm>
            <a:off x="304800" y="1097158"/>
            <a:ext cx="11049000" cy="707886"/>
          </a:xfrm>
          <a:prstGeom prst="rect">
            <a:avLst/>
          </a:prstGeom>
        </p:spPr>
        <p:txBody>
          <a:bodyPr wrap="square">
            <a:spAutoFit/>
          </a:bodyPr>
          <a:lstStyle/>
          <a:p>
            <a:pPr algn="just"/>
            <a:r>
              <a:rPr lang="en-GB" sz="2000" dirty="0"/>
              <a:t>In the </a:t>
            </a:r>
            <a:r>
              <a:rPr lang="en-GB" sz="2000" b="1" dirty="0">
                <a:solidFill>
                  <a:srgbClr val="002060"/>
                </a:solidFill>
              </a:rPr>
              <a:t>activity-selection problem</a:t>
            </a:r>
            <a:r>
              <a:rPr lang="en-GB" sz="2000" b="1" dirty="0"/>
              <a:t>, we wish to select </a:t>
            </a:r>
            <a:r>
              <a:rPr lang="en-GB" sz="2000" b="1" dirty="0">
                <a:solidFill>
                  <a:srgbClr val="002060"/>
                </a:solidFill>
              </a:rPr>
              <a:t>a maximum-size </a:t>
            </a:r>
            <a:r>
              <a:rPr lang="en-GB" sz="2000" dirty="0"/>
              <a:t>subset of </a:t>
            </a:r>
            <a:r>
              <a:rPr lang="en-GB" sz="2000" dirty="0">
                <a:solidFill>
                  <a:srgbClr val="002060"/>
                </a:solidFill>
              </a:rPr>
              <a:t>mutually</a:t>
            </a:r>
            <a:r>
              <a:rPr lang="en-GB" sz="2000" dirty="0"/>
              <a:t> compatible activities. We assume that the activities are sorted in monotonically increasing order of finish time:</a:t>
            </a:r>
          </a:p>
        </p:txBody>
      </p:sp>
      <p:pic>
        <p:nvPicPr>
          <p:cNvPr id="6147" name="Picture 3"/>
          <p:cNvPicPr>
            <a:picLocks noChangeAspect="1" noChangeArrowheads="1"/>
          </p:cNvPicPr>
          <p:nvPr/>
        </p:nvPicPr>
        <p:blipFill>
          <a:blip r:embed="rId2"/>
          <a:srcRect/>
          <a:stretch>
            <a:fillRect/>
          </a:stretch>
        </p:blipFill>
        <p:spPr bwMode="auto">
          <a:xfrm>
            <a:off x="2572629" y="1974765"/>
            <a:ext cx="4404456" cy="538165"/>
          </a:xfrm>
          <a:prstGeom prst="rect">
            <a:avLst/>
          </a:prstGeom>
          <a:noFill/>
          <a:ln w="9525">
            <a:noFill/>
            <a:miter lim="800000"/>
            <a:headEnd/>
            <a:tailEnd/>
          </a:ln>
          <a:effectLst/>
        </p:spPr>
      </p:pic>
      <p:pic>
        <p:nvPicPr>
          <p:cNvPr id="6148" name="Picture 4"/>
          <p:cNvPicPr>
            <a:picLocks noChangeAspect="1" noChangeArrowheads="1"/>
          </p:cNvPicPr>
          <p:nvPr/>
        </p:nvPicPr>
        <p:blipFill>
          <a:blip r:embed="rId3"/>
          <a:srcRect/>
          <a:stretch>
            <a:fillRect/>
          </a:stretch>
        </p:blipFill>
        <p:spPr bwMode="auto">
          <a:xfrm>
            <a:off x="488142" y="3493944"/>
            <a:ext cx="6882104" cy="1209681"/>
          </a:xfrm>
          <a:prstGeom prst="rect">
            <a:avLst/>
          </a:prstGeom>
          <a:noFill/>
          <a:ln w="9525">
            <a:noFill/>
            <a:miter lim="800000"/>
            <a:headEnd/>
            <a:tailEnd/>
          </a:ln>
          <a:effectLst/>
        </p:spPr>
      </p:pic>
      <p:sp>
        <p:nvSpPr>
          <p:cNvPr id="8" name="Rectangle 7"/>
          <p:cNvSpPr/>
          <p:nvPr/>
        </p:nvSpPr>
        <p:spPr>
          <a:xfrm>
            <a:off x="488142" y="2786058"/>
            <a:ext cx="8929718" cy="707886"/>
          </a:xfrm>
          <a:prstGeom prst="rect">
            <a:avLst/>
          </a:prstGeom>
        </p:spPr>
        <p:txBody>
          <a:bodyPr wrap="square">
            <a:spAutoFit/>
          </a:bodyPr>
          <a:lstStyle/>
          <a:p>
            <a:r>
              <a:rPr lang="en-GB" sz="2000" b="1" u="sng" dirty="0">
                <a:solidFill>
                  <a:srgbClr val="002060"/>
                </a:solidFill>
              </a:rPr>
              <a:t>For example</a:t>
            </a:r>
          </a:p>
          <a:p>
            <a:r>
              <a:rPr lang="en-GB" sz="2000" dirty="0"/>
              <a:t>consider the following set S of activities:</a:t>
            </a:r>
          </a:p>
        </p:txBody>
      </p:sp>
      <p:sp>
        <p:nvSpPr>
          <p:cNvPr id="9" name="Rectangle 8"/>
          <p:cNvSpPr/>
          <p:nvPr/>
        </p:nvSpPr>
        <p:spPr>
          <a:xfrm>
            <a:off x="401010" y="4975594"/>
            <a:ext cx="11105190" cy="1015663"/>
          </a:xfrm>
          <a:prstGeom prst="rect">
            <a:avLst/>
          </a:prstGeom>
        </p:spPr>
        <p:txBody>
          <a:bodyPr wrap="square">
            <a:spAutoFit/>
          </a:bodyPr>
          <a:lstStyle/>
          <a:p>
            <a:pPr algn="just"/>
            <a:r>
              <a:rPr lang="en-GB" sz="2000" dirty="0"/>
              <a:t>For this example, the subset</a:t>
            </a:r>
            <a:r>
              <a:rPr lang="en-GB" sz="2000" dirty="0">
                <a:solidFill>
                  <a:srgbClr val="002060"/>
                </a:solidFill>
              </a:rPr>
              <a:t>{a3, a9, a11} </a:t>
            </a:r>
            <a:r>
              <a:rPr lang="en-GB" sz="2000" dirty="0"/>
              <a:t>consists of mutually compatible activities. It is not a maximum subset, however, since the subset </a:t>
            </a:r>
            <a:r>
              <a:rPr lang="en-GB" sz="2000" dirty="0">
                <a:solidFill>
                  <a:srgbClr val="002060"/>
                </a:solidFill>
              </a:rPr>
              <a:t>{a1, a4, a8, a11} </a:t>
            </a:r>
            <a:r>
              <a:rPr lang="en-GB" sz="2000" dirty="0"/>
              <a:t>is larger. In fact, </a:t>
            </a:r>
            <a:r>
              <a:rPr lang="en-GB" sz="2000" dirty="0">
                <a:solidFill>
                  <a:srgbClr val="002060"/>
                </a:solidFill>
              </a:rPr>
              <a:t>{a1, a4, a8, a11} </a:t>
            </a:r>
            <a:r>
              <a:rPr lang="en-GB" sz="2000" dirty="0"/>
              <a:t>is a largest subset of mutually compatible activities; another largest subset is </a:t>
            </a:r>
            <a:r>
              <a:rPr lang="en-GB" sz="2000" dirty="0">
                <a:solidFill>
                  <a:srgbClr val="002060"/>
                </a:solidFill>
              </a:rPr>
              <a:t>{a2, a4, a9, a11}.</a:t>
            </a:r>
          </a:p>
        </p:txBody>
      </p:sp>
    </p:spTree>
    <p:extLst>
      <p:ext uri="{BB962C8B-B14F-4D97-AF65-F5344CB8AC3E}">
        <p14:creationId xmlns:p14="http://schemas.microsoft.com/office/powerpoint/2010/main" val="3325221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3A4B214-EE3B-48DE-9402-23100A7A65CC}" type="slidenum">
              <a:rPr lang="en-GB" smtClean="0"/>
              <a:pPr/>
              <a:t>12</a:t>
            </a:fld>
            <a:endParaRPr lang="en-GB"/>
          </a:p>
        </p:txBody>
      </p:sp>
      <p:sp>
        <p:nvSpPr>
          <p:cNvPr id="3" name="Rectangle 2"/>
          <p:cNvSpPr/>
          <p:nvPr/>
        </p:nvSpPr>
        <p:spPr>
          <a:xfrm>
            <a:off x="152400" y="204408"/>
            <a:ext cx="4559453" cy="584775"/>
          </a:xfrm>
          <a:prstGeom prst="rect">
            <a:avLst/>
          </a:prstGeom>
        </p:spPr>
        <p:txBody>
          <a:bodyPr wrap="none">
            <a:spAutoFit/>
          </a:bodyPr>
          <a:lstStyle/>
          <a:p>
            <a:r>
              <a:rPr lang="en-GB" sz="3200" b="1" dirty="0">
                <a:solidFill>
                  <a:schemeClr val="bg1"/>
                </a:solidFill>
              </a:rPr>
              <a:t>Making the greedy choice</a:t>
            </a:r>
          </a:p>
        </p:txBody>
      </p:sp>
      <p:sp>
        <p:nvSpPr>
          <p:cNvPr id="4" name="Rectangle 3"/>
          <p:cNvSpPr/>
          <p:nvPr/>
        </p:nvSpPr>
        <p:spPr>
          <a:xfrm>
            <a:off x="186396" y="1299761"/>
            <a:ext cx="11791071" cy="1015663"/>
          </a:xfrm>
          <a:prstGeom prst="rect">
            <a:avLst/>
          </a:prstGeom>
        </p:spPr>
        <p:txBody>
          <a:bodyPr wrap="square">
            <a:spAutoFit/>
          </a:bodyPr>
          <a:lstStyle/>
          <a:p>
            <a:pPr marL="342900" indent="-342900" algn="just">
              <a:buClr>
                <a:srgbClr val="002060"/>
              </a:buClr>
              <a:buFont typeface="Wingdings" panose="05000000000000000000" pitchFamily="2" charset="2"/>
              <a:buChar char="Ø"/>
            </a:pPr>
            <a:r>
              <a:rPr lang="en-GB" sz="2000" dirty="0"/>
              <a:t>In fact, for the </a:t>
            </a:r>
            <a:r>
              <a:rPr lang="en-GB" sz="2000" b="1" dirty="0">
                <a:solidFill>
                  <a:srgbClr val="002060"/>
                </a:solidFill>
              </a:rPr>
              <a:t>activity-selection problem</a:t>
            </a:r>
            <a:r>
              <a:rPr lang="en-GB" sz="2000" dirty="0"/>
              <a:t>, we need consider only one choice: </a:t>
            </a:r>
            <a:r>
              <a:rPr lang="en-GB" sz="2000" b="1" dirty="0">
                <a:solidFill>
                  <a:srgbClr val="002060"/>
                </a:solidFill>
              </a:rPr>
              <a:t>the greedy choice </a:t>
            </a:r>
            <a:r>
              <a:rPr lang="en-GB" sz="2000" dirty="0"/>
              <a:t>in order to leave the resource available for as many other activities as possible by </a:t>
            </a:r>
            <a:r>
              <a:rPr lang="en-GB" sz="2000" b="1" dirty="0">
                <a:solidFill>
                  <a:srgbClr val="002060"/>
                </a:solidFill>
              </a:rPr>
              <a:t>choosing the activity in S with the earliest finish time </a:t>
            </a:r>
            <a:r>
              <a:rPr lang="en-GB" sz="2000" dirty="0"/>
              <a:t>(</a:t>
            </a:r>
            <a:r>
              <a:rPr lang="en-GB" sz="2000" b="1" i="1" dirty="0">
                <a:solidFill>
                  <a:srgbClr val="002060"/>
                </a:solidFill>
              </a:rPr>
              <a:t>a1</a:t>
            </a:r>
            <a:r>
              <a:rPr lang="en-GB" sz="2000" dirty="0"/>
              <a:t>).  </a:t>
            </a:r>
          </a:p>
        </p:txBody>
      </p:sp>
      <p:sp>
        <p:nvSpPr>
          <p:cNvPr id="6" name="Rectangle 5"/>
          <p:cNvSpPr/>
          <p:nvPr/>
        </p:nvSpPr>
        <p:spPr>
          <a:xfrm>
            <a:off x="152399" y="2767156"/>
            <a:ext cx="11811000" cy="707886"/>
          </a:xfrm>
          <a:prstGeom prst="rect">
            <a:avLst/>
          </a:prstGeom>
        </p:spPr>
        <p:txBody>
          <a:bodyPr wrap="square">
            <a:spAutoFit/>
          </a:bodyPr>
          <a:lstStyle/>
          <a:p>
            <a:pPr marL="342900" indent="-342900" algn="just">
              <a:buClr>
                <a:srgbClr val="002060"/>
              </a:buClr>
              <a:buFont typeface="Wingdings" panose="05000000000000000000" pitchFamily="2" charset="2"/>
              <a:buChar char="Ø"/>
            </a:pPr>
            <a:r>
              <a:rPr lang="en-GB" sz="2000" dirty="0"/>
              <a:t>If we make the greedy choice, we have only one remaining subproblem to solve: </a:t>
            </a:r>
            <a:r>
              <a:rPr lang="en-GB" sz="2000" b="1" dirty="0">
                <a:solidFill>
                  <a:srgbClr val="002060"/>
                </a:solidFill>
              </a:rPr>
              <a:t>finding activities that start after a1 finishes</a:t>
            </a:r>
            <a:r>
              <a:rPr lang="en-GB" sz="2000" dirty="0"/>
              <a:t>. Thus, all activities that are compatible with activity </a:t>
            </a:r>
            <a:r>
              <a:rPr lang="en-GB" sz="2000" b="1" i="1" dirty="0">
                <a:solidFill>
                  <a:srgbClr val="002060"/>
                </a:solidFill>
              </a:rPr>
              <a:t>a1</a:t>
            </a:r>
            <a:r>
              <a:rPr lang="en-GB" sz="2000" dirty="0"/>
              <a:t> must start after </a:t>
            </a:r>
            <a:r>
              <a:rPr lang="en-GB" sz="2000" b="1" i="1" dirty="0">
                <a:solidFill>
                  <a:srgbClr val="002060"/>
                </a:solidFill>
              </a:rPr>
              <a:t>a1</a:t>
            </a:r>
            <a:r>
              <a:rPr lang="en-GB" sz="2000" dirty="0"/>
              <a:t> finishes.</a:t>
            </a:r>
          </a:p>
        </p:txBody>
      </p:sp>
      <p:sp>
        <p:nvSpPr>
          <p:cNvPr id="7" name="Rectangle 6"/>
          <p:cNvSpPr/>
          <p:nvPr/>
        </p:nvSpPr>
        <p:spPr>
          <a:xfrm>
            <a:off x="699868" y="3607028"/>
            <a:ext cx="11277599" cy="707886"/>
          </a:xfrm>
          <a:prstGeom prst="rect">
            <a:avLst/>
          </a:prstGeom>
        </p:spPr>
        <p:txBody>
          <a:bodyPr wrap="square">
            <a:spAutoFit/>
          </a:bodyPr>
          <a:lstStyle/>
          <a:p>
            <a:pPr marL="285750" indent="-285750" algn="just">
              <a:buFont typeface="Wingdings" panose="05000000000000000000" pitchFamily="2" charset="2"/>
              <a:buChar char="§"/>
            </a:pPr>
            <a:r>
              <a:rPr lang="en-GB" sz="2000" dirty="0"/>
              <a:t>Optimal substructure tells us that if </a:t>
            </a:r>
            <a:r>
              <a:rPr lang="en-GB" sz="2000" b="1" i="1" dirty="0">
                <a:solidFill>
                  <a:srgbClr val="002060"/>
                </a:solidFill>
              </a:rPr>
              <a:t>a</a:t>
            </a:r>
            <a:r>
              <a:rPr lang="en-GB" sz="2000" b="1" i="1" baseline="-25000" dirty="0">
                <a:solidFill>
                  <a:srgbClr val="002060"/>
                </a:solidFill>
              </a:rPr>
              <a:t>1</a:t>
            </a:r>
            <a:r>
              <a:rPr lang="en-GB" sz="2000" dirty="0"/>
              <a:t> is in the optimal solution, then an optimal solution to the original problem consists of activity </a:t>
            </a:r>
            <a:r>
              <a:rPr lang="en-GB" sz="2000" b="1" i="1" dirty="0">
                <a:solidFill>
                  <a:srgbClr val="002060"/>
                </a:solidFill>
              </a:rPr>
              <a:t>a</a:t>
            </a:r>
            <a:r>
              <a:rPr lang="en-GB" sz="2000" b="1" i="1" baseline="-25000" dirty="0">
                <a:solidFill>
                  <a:srgbClr val="002060"/>
                </a:solidFill>
              </a:rPr>
              <a:t>1</a:t>
            </a:r>
            <a:r>
              <a:rPr lang="en-GB" sz="2000" dirty="0"/>
              <a:t> and all the activities in an optimal solution to the subproblem </a:t>
            </a:r>
            <a:r>
              <a:rPr lang="en-GB" sz="2000" b="1" i="1" dirty="0">
                <a:solidFill>
                  <a:srgbClr val="002060"/>
                </a:solidFill>
              </a:rPr>
              <a:t>S</a:t>
            </a:r>
            <a:r>
              <a:rPr lang="en-GB" sz="2000" b="1" i="1" baseline="-25000" dirty="0">
                <a:solidFill>
                  <a:srgbClr val="002060"/>
                </a:solidFill>
              </a:rPr>
              <a:t>1</a:t>
            </a:r>
            <a:r>
              <a:rPr lang="en-GB" sz="2000" b="1" i="1" dirty="0">
                <a:solidFill>
                  <a:srgbClr val="002060"/>
                </a:solidFill>
              </a:rPr>
              <a:t>.</a:t>
            </a:r>
          </a:p>
        </p:txBody>
      </p:sp>
      <p:sp>
        <p:nvSpPr>
          <p:cNvPr id="8" name="Rectangle 7"/>
          <p:cNvSpPr/>
          <p:nvPr/>
        </p:nvSpPr>
        <p:spPr>
          <a:xfrm>
            <a:off x="131298" y="4656839"/>
            <a:ext cx="11819206" cy="1015663"/>
          </a:xfrm>
          <a:prstGeom prst="rect">
            <a:avLst/>
          </a:prstGeom>
        </p:spPr>
        <p:txBody>
          <a:bodyPr wrap="square">
            <a:spAutoFit/>
          </a:bodyPr>
          <a:lstStyle/>
          <a:p>
            <a:pPr marL="342900" indent="-342900" algn="just">
              <a:buClr>
                <a:srgbClr val="002060"/>
              </a:buClr>
              <a:buFont typeface="Wingdings" panose="05000000000000000000" pitchFamily="2" charset="2"/>
              <a:buChar char="Ø"/>
            </a:pPr>
            <a:r>
              <a:rPr lang="en-GB" sz="2000" b="1" dirty="0">
                <a:solidFill>
                  <a:srgbClr val="002060"/>
                </a:solidFill>
              </a:rPr>
              <a:t>Greedy algorithms</a:t>
            </a:r>
            <a:r>
              <a:rPr lang="en-GB" sz="2000" dirty="0"/>
              <a:t> typically have a </a:t>
            </a:r>
            <a:r>
              <a:rPr lang="en-GB" sz="2000" b="1" dirty="0">
                <a:solidFill>
                  <a:srgbClr val="002060"/>
                </a:solidFill>
              </a:rPr>
              <a:t>top-down design</a:t>
            </a:r>
            <a:endParaRPr lang="en-GB" sz="2000" dirty="0"/>
          </a:p>
          <a:p>
            <a:pPr marL="800100" lvl="1" indent="-342900" algn="just">
              <a:buClr>
                <a:srgbClr val="002060"/>
              </a:buClr>
              <a:buFont typeface="Wingdings" panose="05000000000000000000" pitchFamily="2" charset="2"/>
              <a:buChar char="§"/>
            </a:pPr>
            <a:r>
              <a:rPr lang="en-GB" sz="2000" dirty="0"/>
              <a:t>make a choice and then solve a subproblem, rather than the bottom-up technique of solving subproblems before making a choice.</a:t>
            </a:r>
          </a:p>
        </p:txBody>
      </p:sp>
    </p:spTree>
    <p:extLst>
      <p:ext uri="{BB962C8B-B14F-4D97-AF65-F5344CB8AC3E}">
        <p14:creationId xmlns:p14="http://schemas.microsoft.com/office/powerpoint/2010/main" val="704205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3A4B214-EE3B-48DE-9402-23100A7A65CC}" type="slidenum">
              <a:rPr lang="en-GB" smtClean="0"/>
              <a:pPr/>
              <a:t>13</a:t>
            </a:fld>
            <a:endParaRPr lang="en-GB"/>
          </a:p>
        </p:txBody>
      </p:sp>
      <p:sp>
        <p:nvSpPr>
          <p:cNvPr id="3" name="Rectangle 2"/>
          <p:cNvSpPr/>
          <p:nvPr/>
        </p:nvSpPr>
        <p:spPr>
          <a:xfrm>
            <a:off x="152400" y="377072"/>
            <a:ext cx="2045753" cy="584775"/>
          </a:xfrm>
          <a:prstGeom prst="rect">
            <a:avLst/>
          </a:prstGeom>
        </p:spPr>
        <p:txBody>
          <a:bodyPr wrap="none">
            <a:spAutoFit/>
          </a:bodyPr>
          <a:lstStyle/>
          <a:p>
            <a:r>
              <a:rPr lang="en-GB" sz="3200" b="1" dirty="0">
                <a:solidFill>
                  <a:schemeClr val="bg1"/>
                </a:solidFill>
              </a:rPr>
              <a:t>Example 1:</a:t>
            </a:r>
          </a:p>
        </p:txBody>
      </p:sp>
      <p:sp>
        <p:nvSpPr>
          <p:cNvPr id="4" name="Rectangle 3"/>
          <p:cNvSpPr/>
          <p:nvPr/>
        </p:nvSpPr>
        <p:spPr>
          <a:xfrm>
            <a:off x="167816" y="1228357"/>
            <a:ext cx="11719383" cy="707886"/>
          </a:xfrm>
          <a:prstGeom prst="rect">
            <a:avLst/>
          </a:prstGeom>
        </p:spPr>
        <p:txBody>
          <a:bodyPr wrap="square">
            <a:spAutoFit/>
          </a:bodyPr>
          <a:lstStyle/>
          <a:p>
            <a:pPr algn="just"/>
            <a:r>
              <a:rPr lang="en-GB" sz="2000" b="1" dirty="0">
                <a:solidFill>
                  <a:srgbClr val="002060"/>
                </a:solidFill>
              </a:rPr>
              <a:t>Problem</a:t>
            </a:r>
            <a:r>
              <a:rPr lang="en-GB" sz="2000" dirty="0">
                <a:solidFill>
                  <a:srgbClr val="002060"/>
                </a:solidFill>
              </a:rPr>
              <a:t>:</a:t>
            </a:r>
            <a:r>
              <a:rPr lang="en-GB" sz="2000" dirty="0"/>
              <a:t> Given n activities with their start and finish times. Select the </a:t>
            </a:r>
            <a:r>
              <a:rPr lang="en-GB" sz="2000" b="1" dirty="0">
                <a:solidFill>
                  <a:srgbClr val="002060"/>
                </a:solidFill>
              </a:rPr>
              <a:t>maximum number of activities</a:t>
            </a:r>
            <a:r>
              <a:rPr lang="en-GB" sz="2000" dirty="0"/>
              <a:t> that can be performed by a single person, assuming that a person can only work on a single activity at a time.</a:t>
            </a:r>
          </a:p>
        </p:txBody>
      </p:sp>
      <p:graphicFrame>
        <p:nvGraphicFramePr>
          <p:cNvPr id="6" name="Table 5"/>
          <p:cNvGraphicFramePr>
            <a:graphicFrameLocks noGrp="1"/>
          </p:cNvGraphicFramePr>
          <p:nvPr>
            <p:extLst>
              <p:ext uri="{D42A27DB-BD31-4B8C-83A1-F6EECF244321}">
                <p14:modId xmlns:p14="http://schemas.microsoft.com/office/powerpoint/2010/main" val="1362699269"/>
              </p:ext>
            </p:extLst>
          </p:nvPr>
        </p:nvGraphicFramePr>
        <p:xfrm>
          <a:off x="2819400" y="2119405"/>
          <a:ext cx="5634694" cy="992127"/>
        </p:xfrm>
        <a:graphic>
          <a:graphicData uri="http://schemas.openxmlformats.org/drawingml/2006/table">
            <a:tbl>
              <a:tblPr/>
              <a:tblGrid>
                <a:gridCol w="1408343">
                  <a:extLst>
                    <a:ext uri="{9D8B030D-6E8A-4147-A177-3AD203B41FA5}">
                      <a16:colId xmlns:a16="http://schemas.microsoft.com/office/drawing/2014/main" val="20000"/>
                    </a:ext>
                  </a:extLst>
                </a:gridCol>
                <a:gridCol w="1408343">
                  <a:extLst>
                    <a:ext uri="{9D8B030D-6E8A-4147-A177-3AD203B41FA5}">
                      <a16:colId xmlns:a16="http://schemas.microsoft.com/office/drawing/2014/main" val="20001"/>
                    </a:ext>
                  </a:extLst>
                </a:gridCol>
                <a:gridCol w="1409004">
                  <a:extLst>
                    <a:ext uri="{9D8B030D-6E8A-4147-A177-3AD203B41FA5}">
                      <a16:colId xmlns:a16="http://schemas.microsoft.com/office/drawing/2014/main" val="20002"/>
                    </a:ext>
                  </a:extLst>
                </a:gridCol>
                <a:gridCol w="1409004">
                  <a:extLst>
                    <a:ext uri="{9D8B030D-6E8A-4147-A177-3AD203B41FA5}">
                      <a16:colId xmlns:a16="http://schemas.microsoft.com/office/drawing/2014/main" val="20003"/>
                    </a:ext>
                  </a:extLst>
                </a:gridCol>
              </a:tblGrid>
              <a:tr h="330709">
                <a:tc>
                  <a:txBody>
                    <a:bodyPr/>
                    <a:lstStyle/>
                    <a:p>
                      <a:pPr algn="ctr">
                        <a:lnSpc>
                          <a:spcPct val="115000"/>
                        </a:lnSpc>
                        <a:spcAft>
                          <a:spcPts val="0"/>
                        </a:spcAft>
                      </a:pPr>
                      <a:r>
                        <a:rPr lang="en-GB" sz="1600" b="1">
                          <a:latin typeface="Calibri"/>
                          <a:ea typeface="Calibri"/>
                          <a:cs typeface="Arial"/>
                        </a:rPr>
                        <a:t>Activity</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b="1">
                          <a:latin typeface="Calibri"/>
                          <a:ea typeface="Calibri"/>
                          <a:cs typeface="Arial"/>
                        </a:rPr>
                        <a:t>A1</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b="1">
                          <a:latin typeface="Calibri"/>
                          <a:ea typeface="Calibri"/>
                          <a:cs typeface="Arial"/>
                        </a:rPr>
                        <a:t>A2</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b="1">
                          <a:latin typeface="Calibri"/>
                          <a:ea typeface="Calibri"/>
                          <a:cs typeface="Arial"/>
                        </a:rPr>
                        <a:t>A3</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30709">
                <a:tc>
                  <a:txBody>
                    <a:bodyPr/>
                    <a:lstStyle/>
                    <a:p>
                      <a:pPr algn="ctr">
                        <a:lnSpc>
                          <a:spcPct val="115000"/>
                        </a:lnSpc>
                        <a:spcAft>
                          <a:spcPts val="0"/>
                        </a:spcAft>
                      </a:pPr>
                      <a:r>
                        <a:rPr lang="en-GB" sz="1600" b="1">
                          <a:latin typeface="Calibri"/>
                          <a:ea typeface="Calibri"/>
                          <a:cs typeface="Arial"/>
                        </a:rPr>
                        <a:t>Start</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a:latin typeface="Calibri"/>
                          <a:ea typeface="Calibri"/>
                          <a:cs typeface="Arial"/>
                        </a:rPr>
                        <a:t>12</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a:latin typeface="Calibri"/>
                          <a:ea typeface="Calibri"/>
                          <a:cs typeface="Arial"/>
                        </a:rPr>
                        <a:t>10</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a:latin typeface="Calibri"/>
                          <a:ea typeface="Calibri"/>
                          <a:cs typeface="Arial"/>
                        </a:rPr>
                        <a:t>20</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30709">
                <a:tc>
                  <a:txBody>
                    <a:bodyPr/>
                    <a:lstStyle/>
                    <a:p>
                      <a:pPr algn="ctr">
                        <a:lnSpc>
                          <a:spcPct val="115000"/>
                        </a:lnSpc>
                        <a:spcAft>
                          <a:spcPts val="0"/>
                        </a:spcAft>
                      </a:pPr>
                      <a:r>
                        <a:rPr lang="en-GB" sz="1600" b="1">
                          <a:latin typeface="Calibri"/>
                          <a:ea typeface="Calibri"/>
                          <a:cs typeface="Arial"/>
                        </a:rPr>
                        <a:t>Finish</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a:latin typeface="Calibri"/>
                          <a:ea typeface="Calibri"/>
                          <a:cs typeface="Arial"/>
                        </a:rPr>
                        <a:t>25</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a:latin typeface="Calibri"/>
                          <a:ea typeface="Calibri"/>
                          <a:cs typeface="Arial"/>
                        </a:rPr>
                        <a:t>20</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dirty="0">
                          <a:latin typeface="Calibri"/>
                          <a:ea typeface="Calibri"/>
                          <a:cs typeface="Arial"/>
                        </a:rPr>
                        <a:t>30</a:t>
                      </a:r>
                      <a:endParaRPr lang="en-GB" sz="11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Rectangle 6"/>
          <p:cNvSpPr/>
          <p:nvPr/>
        </p:nvSpPr>
        <p:spPr>
          <a:xfrm>
            <a:off x="1595406" y="3493237"/>
            <a:ext cx="8858312" cy="400110"/>
          </a:xfrm>
          <a:prstGeom prst="rect">
            <a:avLst/>
          </a:prstGeom>
        </p:spPr>
        <p:txBody>
          <a:bodyPr wrap="square">
            <a:spAutoFit/>
          </a:bodyPr>
          <a:lstStyle/>
          <a:p>
            <a:pPr algn="just"/>
            <a:r>
              <a:rPr lang="en-GB" sz="2000" b="1" dirty="0">
                <a:solidFill>
                  <a:srgbClr val="002060"/>
                </a:solidFill>
              </a:rPr>
              <a:t>1. </a:t>
            </a:r>
            <a:r>
              <a:rPr lang="en-GB" sz="2000" dirty="0"/>
              <a:t>Sort the activities according to their Finishing time</a:t>
            </a:r>
          </a:p>
        </p:txBody>
      </p:sp>
      <p:graphicFrame>
        <p:nvGraphicFramePr>
          <p:cNvPr id="8" name="Table 7"/>
          <p:cNvGraphicFramePr>
            <a:graphicFrameLocks noGrp="1"/>
          </p:cNvGraphicFramePr>
          <p:nvPr>
            <p:extLst>
              <p:ext uri="{D42A27DB-BD31-4B8C-83A1-F6EECF244321}">
                <p14:modId xmlns:p14="http://schemas.microsoft.com/office/powerpoint/2010/main" val="3443878187"/>
              </p:ext>
            </p:extLst>
          </p:nvPr>
        </p:nvGraphicFramePr>
        <p:xfrm>
          <a:off x="2941909" y="4068341"/>
          <a:ext cx="5634694" cy="1143009"/>
        </p:xfrm>
        <a:graphic>
          <a:graphicData uri="http://schemas.openxmlformats.org/drawingml/2006/table">
            <a:tbl>
              <a:tblPr/>
              <a:tblGrid>
                <a:gridCol w="1408343">
                  <a:extLst>
                    <a:ext uri="{9D8B030D-6E8A-4147-A177-3AD203B41FA5}">
                      <a16:colId xmlns:a16="http://schemas.microsoft.com/office/drawing/2014/main" val="20000"/>
                    </a:ext>
                  </a:extLst>
                </a:gridCol>
                <a:gridCol w="1408343">
                  <a:extLst>
                    <a:ext uri="{9D8B030D-6E8A-4147-A177-3AD203B41FA5}">
                      <a16:colId xmlns:a16="http://schemas.microsoft.com/office/drawing/2014/main" val="20001"/>
                    </a:ext>
                  </a:extLst>
                </a:gridCol>
                <a:gridCol w="1409004">
                  <a:extLst>
                    <a:ext uri="{9D8B030D-6E8A-4147-A177-3AD203B41FA5}">
                      <a16:colId xmlns:a16="http://schemas.microsoft.com/office/drawing/2014/main" val="20002"/>
                    </a:ext>
                  </a:extLst>
                </a:gridCol>
                <a:gridCol w="1409004">
                  <a:extLst>
                    <a:ext uri="{9D8B030D-6E8A-4147-A177-3AD203B41FA5}">
                      <a16:colId xmlns:a16="http://schemas.microsoft.com/office/drawing/2014/main" val="20003"/>
                    </a:ext>
                  </a:extLst>
                </a:gridCol>
              </a:tblGrid>
              <a:tr h="381003">
                <a:tc>
                  <a:txBody>
                    <a:bodyPr/>
                    <a:lstStyle/>
                    <a:p>
                      <a:pPr algn="ctr">
                        <a:lnSpc>
                          <a:spcPct val="115000"/>
                        </a:lnSpc>
                        <a:spcAft>
                          <a:spcPts val="0"/>
                        </a:spcAft>
                      </a:pPr>
                      <a:r>
                        <a:rPr lang="en-GB" sz="1600" b="1" dirty="0">
                          <a:latin typeface="Calibri"/>
                          <a:ea typeface="Calibri"/>
                          <a:cs typeface="Arial"/>
                        </a:rPr>
                        <a:t>Activity</a:t>
                      </a:r>
                      <a:endParaRPr lang="en-GB" sz="11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b="1">
                          <a:latin typeface="Calibri"/>
                          <a:ea typeface="Calibri"/>
                          <a:cs typeface="Arial"/>
                        </a:rPr>
                        <a:t>A1</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b="1">
                          <a:latin typeface="Calibri"/>
                          <a:ea typeface="Calibri"/>
                          <a:cs typeface="Arial"/>
                        </a:rPr>
                        <a:t>A2</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b="1">
                          <a:latin typeface="Calibri"/>
                          <a:ea typeface="Calibri"/>
                          <a:cs typeface="Arial"/>
                        </a:rPr>
                        <a:t>A3</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81003">
                <a:tc>
                  <a:txBody>
                    <a:bodyPr/>
                    <a:lstStyle/>
                    <a:p>
                      <a:pPr algn="ctr">
                        <a:lnSpc>
                          <a:spcPct val="115000"/>
                        </a:lnSpc>
                        <a:spcAft>
                          <a:spcPts val="0"/>
                        </a:spcAft>
                      </a:pPr>
                      <a:r>
                        <a:rPr lang="en-GB" sz="1600" b="1">
                          <a:latin typeface="Calibri"/>
                          <a:ea typeface="Calibri"/>
                          <a:cs typeface="Arial"/>
                        </a:rPr>
                        <a:t>Start</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b="1" dirty="0">
                          <a:solidFill>
                            <a:schemeClr val="accent2">
                              <a:lumMod val="75000"/>
                            </a:schemeClr>
                          </a:solidFill>
                          <a:latin typeface="Calibri"/>
                          <a:ea typeface="Calibri"/>
                          <a:cs typeface="Arial"/>
                        </a:rPr>
                        <a:t>10</a:t>
                      </a:r>
                      <a:endParaRPr lang="en-GB" sz="1100" b="1" dirty="0">
                        <a:solidFill>
                          <a:schemeClr val="accent2">
                            <a:lumMod val="75000"/>
                          </a:schemeClr>
                        </a:solidFill>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15000"/>
                        </a:lnSpc>
                        <a:spcAft>
                          <a:spcPts val="0"/>
                        </a:spcAft>
                      </a:pPr>
                      <a:r>
                        <a:rPr lang="en-GB" sz="1600">
                          <a:latin typeface="Calibri"/>
                          <a:ea typeface="Calibri"/>
                          <a:cs typeface="Arial"/>
                        </a:rPr>
                        <a:t>12</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b="1" dirty="0">
                          <a:solidFill>
                            <a:schemeClr val="accent2">
                              <a:lumMod val="75000"/>
                            </a:schemeClr>
                          </a:solidFill>
                          <a:latin typeface="Calibri"/>
                          <a:ea typeface="Calibri"/>
                          <a:cs typeface="Arial"/>
                        </a:rPr>
                        <a:t>20</a:t>
                      </a:r>
                      <a:endParaRPr lang="en-GB" sz="1100" b="1" dirty="0">
                        <a:solidFill>
                          <a:schemeClr val="accent2">
                            <a:lumMod val="75000"/>
                          </a:schemeClr>
                        </a:solidFill>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1003">
                <a:tc>
                  <a:txBody>
                    <a:bodyPr/>
                    <a:lstStyle/>
                    <a:p>
                      <a:pPr algn="ctr">
                        <a:lnSpc>
                          <a:spcPct val="115000"/>
                        </a:lnSpc>
                        <a:spcAft>
                          <a:spcPts val="0"/>
                        </a:spcAft>
                      </a:pPr>
                      <a:r>
                        <a:rPr lang="en-GB" sz="1600" b="1">
                          <a:latin typeface="Calibri"/>
                          <a:ea typeface="Calibri"/>
                          <a:cs typeface="Arial"/>
                        </a:rPr>
                        <a:t>Finish</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b="1" dirty="0">
                          <a:solidFill>
                            <a:schemeClr val="accent2">
                              <a:lumMod val="75000"/>
                            </a:schemeClr>
                          </a:solidFill>
                          <a:latin typeface="Calibri"/>
                          <a:ea typeface="Calibri"/>
                          <a:cs typeface="Arial"/>
                        </a:rPr>
                        <a:t>20</a:t>
                      </a:r>
                      <a:endParaRPr lang="en-GB" sz="1100" b="1" dirty="0">
                        <a:solidFill>
                          <a:schemeClr val="accent2">
                            <a:lumMod val="75000"/>
                          </a:schemeClr>
                        </a:solidFill>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15000"/>
                        </a:lnSpc>
                        <a:spcAft>
                          <a:spcPts val="0"/>
                        </a:spcAft>
                      </a:pPr>
                      <a:r>
                        <a:rPr lang="en-GB" sz="1600">
                          <a:latin typeface="Calibri"/>
                          <a:ea typeface="Calibri"/>
                          <a:cs typeface="Arial"/>
                        </a:rPr>
                        <a:t>25</a:t>
                      </a:r>
                      <a:endParaRPr lang="en-GB" sz="11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1600" b="1" dirty="0">
                          <a:solidFill>
                            <a:schemeClr val="accent2">
                              <a:lumMod val="75000"/>
                            </a:schemeClr>
                          </a:solidFill>
                          <a:latin typeface="Calibri"/>
                          <a:ea typeface="Calibri"/>
                          <a:cs typeface="Arial"/>
                        </a:rPr>
                        <a:t>30</a:t>
                      </a:r>
                      <a:endParaRPr lang="en-GB" sz="1100" b="1" dirty="0">
                        <a:solidFill>
                          <a:schemeClr val="accent2">
                            <a:lumMod val="75000"/>
                          </a:schemeClr>
                        </a:solidFill>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bl>
          </a:graphicData>
        </a:graphic>
      </p:graphicFrame>
      <p:sp>
        <p:nvSpPr>
          <p:cNvPr id="9" name="Rectangle 8"/>
          <p:cNvSpPr/>
          <p:nvPr/>
        </p:nvSpPr>
        <p:spPr>
          <a:xfrm>
            <a:off x="1595406" y="5404121"/>
            <a:ext cx="8858312" cy="1015663"/>
          </a:xfrm>
          <a:prstGeom prst="rect">
            <a:avLst/>
          </a:prstGeom>
        </p:spPr>
        <p:txBody>
          <a:bodyPr wrap="square">
            <a:spAutoFit/>
          </a:bodyPr>
          <a:lstStyle/>
          <a:p>
            <a:pPr algn="just">
              <a:lnSpc>
                <a:spcPct val="150000"/>
              </a:lnSpc>
            </a:pPr>
            <a:r>
              <a:rPr lang="en-GB" sz="2000" b="1" dirty="0">
                <a:solidFill>
                  <a:srgbClr val="002060"/>
                </a:solidFill>
              </a:rPr>
              <a:t>2. </a:t>
            </a:r>
            <a:r>
              <a:rPr lang="en-GB" sz="2000" dirty="0"/>
              <a:t>Select the optimal local solution one by one as following</a:t>
            </a:r>
          </a:p>
          <a:p>
            <a:pPr algn="just">
              <a:lnSpc>
                <a:spcPct val="150000"/>
              </a:lnSpc>
            </a:pPr>
            <a:r>
              <a:rPr lang="en-US" sz="2000" dirty="0"/>
              <a:t>	</a:t>
            </a:r>
            <a:r>
              <a:rPr lang="en-US" sz="2000" dirty="0">
                <a:solidFill>
                  <a:srgbClr val="002060"/>
                </a:solidFill>
              </a:rPr>
              <a:t>       </a:t>
            </a:r>
            <a:r>
              <a:rPr lang="en-US" sz="2000" b="1" dirty="0">
                <a:solidFill>
                  <a:srgbClr val="002060"/>
                </a:solidFill>
              </a:rPr>
              <a:t>A1 </a:t>
            </a:r>
            <a:r>
              <a:rPr lang="en-US" sz="2000" b="1" dirty="0">
                <a:solidFill>
                  <a:srgbClr val="002060"/>
                </a:solidFill>
                <a:sym typeface="Wingdings" panose="05000000000000000000" pitchFamily="2" charset="2"/>
              </a:rPr>
              <a:t></a:t>
            </a:r>
            <a:r>
              <a:rPr lang="en-US" sz="2000" b="1" dirty="0">
                <a:solidFill>
                  <a:srgbClr val="002060"/>
                </a:solidFill>
              </a:rPr>
              <a:t> A3                                           Total Activities = 2</a:t>
            </a:r>
            <a:endParaRPr lang="en-GB" sz="2000" b="1" dirty="0">
              <a:solidFill>
                <a:srgbClr val="002060"/>
              </a:solidFill>
            </a:endParaRPr>
          </a:p>
        </p:txBody>
      </p:sp>
    </p:spTree>
    <p:extLst>
      <p:ext uri="{BB962C8B-B14F-4D97-AF65-F5344CB8AC3E}">
        <p14:creationId xmlns:p14="http://schemas.microsoft.com/office/powerpoint/2010/main" val="1544203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3A4B214-EE3B-48DE-9402-23100A7A65CC}" type="slidenum">
              <a:rPr lang="en-GB" smtClean="0"/>
              <a:pPr/>
              <a:t>14</a:t>
            </a:fld>
            <a:endParaRPr lang="en-GB"/>
          </a:p>
        </p:txBody>
      </p:sp>
      <p:sp>
        <p:nvSpPr>
          <p:cNvPr id="4" name="Rectangle 3"/>
          <p:cNvSpPr/>
          <p:nvPr/>
        </p:nvSpPr>
        <p:spPr>
          <a:xfrm>
            <a:off x="275492" y="1321042"/>
            <a:ext cx="11277600" cy="707886"/>
          </a:xfrm>
          <a:prstGeom prst="rect">
            <a:avLst/>
          </a:prstGeom>
        </p:spPr>
        <p:txBody>
          <a:bodyPr wrap="square">
            <a:spAutoFit/>
          </a:bodyPr>
          <a:lstStyle/>
          <a:p>
            <a:pPr algn="just"/>
            <a:r>
              <a:rPr lang="en-GB" sz="2000" b="1" dirty="0">
                <a:solidFill>
                  <a:srgbClr val="002060"/>
                </a:solidFill>
              </a:rPr>
              <a:t>Problem</a:t>
            </a:r>
            <a:r>
              <a:rPr lang="en-GB" sz="2000" dirty="0">
                <a:solidFill>
                  <a:srgbClr val="002060"/>
                </a:solidFill>
              </a:rPr>
              <a:t>:</a:t>
            </a:r>
            <a:r>
              <a:rPr lang="en-GB" sz="2000" dirty="0"/>
              <a:t> Given n activities with their start and finish times. Select the maximum number of activities that can be performed by a single person, assuming that a person can only work on a single activity at a time.</a:t>
            </a:r>
          </a:p>
        </p:txBody>
      </p:sp>
      <p:graphicFrame>
        <p:nvGraphicFramePr>
          <p:cNvPr id="6" name="Table 5"/>
          <p:cNvGraphicFramePr>
            <a:graphicFrameLocks noGrp="1"/>
          </p:cNvGraphicFramePr>
          <p:nvPr/>
        </p:nvGraphicFramePr>
        <p:xfrm>
          <a:off x="3095604" y="2214554"/>
          <a:ext cx="6634826" cy="1261872"/>
        </p:xfrm>
        <a:graphic>
          <a:graphicData uri="http://schemas.openxmlformats.org/drawingml/2006/table">
            <a:tbl>
              <a:tblPr/>
              <a:tblGrid>
                <a:gridCol w="1260476">
                  <a:extLst>
                    <a:ext uri="{9D8B030D-6E8A-4147-A177-3AD203B41FA5}">
                      <a16:colId xmlns:a16="http://schemas.microsoft.com/office/drawing/2014/main" val="20000"/>
                    </a:ext>
                  </a:extLst>
                </a:gridCol>
                <a:gridCol w="973191">
                  <a:extLst>
                    <a:ext uri="{9D8B030D-6E8A-4147-A177-3AD203B41FA5}">
                      <a16:colId xmlns:a16="http://schemas.microsoft.com/office/drawing/2014/main" val="20001"/>
                    </a:ext>
                  </a:extLst>
                </a:gridCol>
                <a:gridCol w="973191">
                  <a:extLst>
                    <a:ext uri="{9D8B030D-6E8A-4147-A177-3AD203B41FA5}">
                      <a16:colId xmlns:a16="http://schemas.microsoft.com/office/drawing/2014/main" val="20002"/>
                    </a:ext>
                  </a:extLst>
                </a:gridCol>
                <a:gridCol w="973191">
                  <a:extLst>
                    <a:ext uri="{9D8B030D-6E8A-4147-A177-3AD203B41FA5}">
                      <a16:colId xmlns:a16="http://schemas.microsoft.com/office/drawing/2014/main" val="20003"/>
                    </a:ext>
                  </a:extLst>
                </a:gridCol>
                <a:gridCol w="818259">
                  <a:extLst>
                    <a:ext uri="{9D8B030D-6E8A-4147-A177-3AD203B41FA5}">
                      <a16:colId xmlns:a16="http://schemas.microsoft.com/office/drawing/2014/main" val="20004"/>
                    </a:ext>
                  </a:extLst>
                </a:gridCol>
                <a:gridCol w="818259">
                  <a:extLst>
                    <a:ext uri="{9D8B030D-6E8A-4147-A177-3AD203B41FA5}">
                      <a16:colId xmlns:a16="http://schemas.microsoft.com/office/drawing/2014/main" val="20005"/>
                    </a:ext>
                  </a:extLst>
                </a:gridCol>
                <a:gridCol w="818259">
                  <a:extLst>
                    <a:ext uri="{9D8B030D-6E8A-4147-A177-3AD203B41FA5}">
                      <a16:colId xmlns:a16="http://schemas.microsoft.com/office/drawing/2014/main" val="20006"/>
                    </a:ext>
                  </a:extLst>
                </a:gridCol>
              </a:tblGrid>
              <a:tr h="0">
                <a:tc>
                  <a:txBody>
                    <a:bodyPr/>
                    <a:lstStyle/>
                    <a:p>
                      <a:pPr algn="ctr">
                        <a:lnSpc>
                          <a:spcPct val="115000"/>
                        </a:lnSpc>
                        <a:spcAft>
                          <a:spcPts val="0"/>
                        </a:spcAft>
                      </a:pPr>
                      <a:r>
                        <a:rPr lang="en-GB" sz="2400" b="1" dirty="0">
                          <a:latin typeface="Calibri"/>
                          <a:ea typeface="Calibri"/>
                          <a:cs typeface="Arial"/>
                        </a:rPr>
                        <a:t>Activity</a:t>
                      </a:r>
                      <a:endParaRPr lang="en-GB" sz="16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b="1">
                          <a:latin typeface="Calibri"/>
                          <a:ea typeface="Calibri"/>
                          <a:cs typeface="Arial"/>
                        </a:rPr>
                        <a:t>A1</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b="1">
                          <a:latin typeface="Calibri"/>
                          <a:ea typeface="Calibri"/>
                          <a:cs typeface="Arial"/>
                        </a:rPr>
                        <a:t>A2</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b="1">
                          <a:latin typeface="Calibri"/>
                          <a:ea typeface="Calibri"/>
                          <a:cs typeface="Arial"/>
                        </a:rPr>
                        <a:t>A3</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b="1" dirty="0">
                          <a:latin typeface="Calibri"/>
                          <a:ea typeface="Calibri"/>
                          <a:cs typeface="Arial"/>
                        </a:rPr>
                        <a:t>A4</a:t>
                      </a:r>
                      <a:endParaRPr lang="en-GB" sz="16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b="1">
                          <a:latin typeface="Calibri"/>
                          <a:ea typeface="Calibri"/>
                          <a:cs typeface="Arial"/>
                        </a:rPr>
                        <a:t>A5</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b="1">
                          <a:latin typeface="Calibri"/>
                          <a:ea typeface="Calibri"/>
                          <a:cs typeface="Arial"/>
                        </a:rPr>
                        <a:t>A6</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lnSpc>
                          <a:spcPct val="115000"/>
                        </a:lnSpc>
                        <a:spcAft>
                          <a:spcPts val="0"/>
                        </a:spcAft>
                      </a:pPr>
                      <a:r>
                        <a:rPr lang="en-GB" sz="2400" b="1">
                          <a:latin typeface="Calibri"/>
                          <a:ea typeface="Calibri"/>
                          <a:cs typeface="Arial"/>
                        </a:rPr>
                        <a:t>Start</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Calibri"/>
                          <a:ea typeface="Calibri"/>
                          <a:cs typeface="Arial"/>
                        </a:rPr>
                        <a:t>0</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Calibri"/>
                          <a:ea typeface="Calibri"/>
                          <a:cs typeface="Arial"/>
                        </a:rPr>
                        <a:t>3</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Calibri"/>
                          <a:ea typeface="Calibri"/>
                          <a:cs typeface="Arial"/>
                        </a:rPr>
                        <a:t>1</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Calibri"/>
                          <a:ea typeface="Calibri"/>
                          <a:cs typeface="Arial"/>
                        </a:rPr>
                        <a:t>5</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Calibri"/>
                          <a:ea typeface="Calibri"/>
                          <a:cs typeface="Arial"/>
                        </a:rPr>
                        <a:t>5</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dirty="0">
                          <a:latin typeface="Calibri"/>
                          <a:ea typeface="Calibri"/>
                          <a:cs typeface="Arial"/>
                        </a:rPr>
                        <a:t>8</a:t>
                      </a:r>
                      <a:endParaRPr lang="en-GB" sz="16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lnSpc>
                          <a:spcPct val="115000"/>
                        </a:lnSpc>
                        <a:spcAft>
                          <a:spcPts val="0"/>
                        </a:spcAft>
                      </a:pPr>
                      <a:r>
                        <a:rPr lang="en-GB" sz="2400" b="1">
                          <a:latin typeface="Calibri"/>
                          <a:ea typeface="Calibri"/>
                          <a:cs typeface="Arial"/>
                        </a:rPr>
                        <a:t>Finish</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Calibri"/>
                          <a:ea typeface="Calibri"/>
                          <a:cs typeface="Arial"/>
                        </a:rPr>
                        <a:t>6</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Calibri"/>
                          <a:ea typeface="Calibri"/>
                          <a:cs typeface="Arial"/>
                        </a:rPr>
                        <a:t>4</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Calibri"/>
                          <a:ea typeface="Calibri"/>
                          <a:cs typeface="Arial"/>
                        </a:rPr>
                        <a:t>2</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Calibri"/>
                          <a:ea typeface="Calibri"/>
                          <a:cs typeface="Arial"/>
                        </a:rPr>
                        <a:t>9</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Calibri"/>
                          <a:ea typeface="Calibri"/>
                          <a:cs typeface="Arial"/>
                        </a:rPr>
                        <a:t>7</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dirty="0">
                          <a:latin typeface="Calibri"/>
                          <a:ea typeface="Calibri"/>
                          <a:cs typeface="Arial"/>
                        </a:rPr>
                        <a:t>9</a:t>
                      </a:r>
                      <a:endParaRPr lang="en-GB" sz="16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Rectangle 6"/>
          <p:cNvSpPr/>
          <p:nvPr/>
        </p:nvSpPr>
        <p:spPr>
          <a:xfrm>
            <a:off x="304800" y="3539366"/>
            <a:ext cx="10601356" cy="1015663"/>
          </a:xfrm>
          <a:prstGeom prst="rect">
            <a:avLst/>
          </a:prstGeom>
        </p:spPr>
        <p:txBody>
          <a:bodyPr wrap="square">
            <a:spAutoFit/>
          </a:bodyPr>
          <a:lstStyle/>
          <a:p>
            <a:pPr algn="just">
              <a:lnSpc>
                <a:spcPct val="150000"/>
              </a:lnSpc>
            </a:pPr>
            <a:r>
              <a:rPr lang="en-GB" sz="2000" b="1" dirty="0">
                <a:solidFill>
                  <a:srgbClr val="002060"/>
                </a:solidFill>
              </a:rPr>
              <a:t>Solution steps: </a:t>
            </a:r>
          </a:p>
          <a:p>
            <a:pPr algn="just">
              <a:lnSpc>
                <a:spcPct val="150000"/>
              </a:lnSpc>
            </a:pPr>
            <a:r>
              <a:rPr lang="en-GB" sz="2000" b="1" dirty="0">
                <a:solidFill>
                  <a:srgbClr val="002060"/>
                </a:solidFill>
              </a:rPr>
              <a:t>1. </a:t>
            </a:r>
            <a:r>
              <a:rPr lang="en-GB" sz="2000" dirty="0"/>
              <a:t>Sort the activities according to their finishing time.</a:t>
            </a:r>
          </a:p>
        </p:txBody>
      </p:sp>
      <p:sp>
        <p:nvSpPr>
          <p:cNvPr id="8" name="Rectangle 7"/>
          <p:cNvSpPr/>
          <p:nvPr/>
        </p:nvSpPr>
        <p:spPr>
          <a:xfrm>
            <a:off x="152400" y="377072"/>
            <a:ext cx="2045753" cy="584775"/>
          </a:xfrm>
          <a:prstGeom prst="rect">
            <a:avLst/>
          </a:prstGeom>
        </p:spPr>
        <p:txBody>
          <a:bodyPr wrap="none">
            <a:spAutoFit/>
          </a:bodyPr>
          <a:lstStyle/>
          <a:p>
            <a:r>
              <a:rPr lang="en-GB" sz="3200" b="1" dirty="0">
                <a:solidFill>
                  <a:schemeClr val="bg1"/>
                </a:solidFill>
              </a:rPr>
              <a:t>Example 2:</a:t>
            </a:r>
          </a:p>
        </p:txBody>
      </p:sp>
      <p:graphicFrame>
        <p:nvGraphicFramePr>
          <p:cNvPr id="9" name="Table 8"/>
          <p:cNvGraphicFramePr>
            <a:graphicFrameLocks noGrp="1"/>
          </p:cNvGraphicFramePr>
          <p:nvPr>
            <p:extLst>
              <p:ext uri="{D42A27DB-BD31-4B8C-83A1-F6EECF244321}">
                <p14:modId xmlns:p14="http://schemas.microsoft.com/office/powerpoint/2010/main" val="1407625579"/>
              </p:ext>
            </p:extLst>
          </p:nvPr>
        </p:nvGraphicFramePr>
        <p:xfrm>
          <a:off x="3117878" y="4738309"/>
          <a:ext cx="6634826" cy="1434762"/>
        </p:xfrm>
        <a:graphic>
          <a:graphicData uri="http://schemas.openxmlformats.org/drawingml/2006/table">
            <a:tbl>
              <a:tblPr/>
              <a:tblGrid>
                <a:gridCol w="1260476">
                  <a:extLst>
                    <a:ext uri="{9D8B030D-6E8A-4147-A177-3AD203B41FA5}">
                      <a16:colId xmlns:a16="http://schemas.microsoft.com/office/drawing/2014/main" val="20000"/>
                    </a:ext>
                  </a:extLst>
                </a:gridCol>
                <a:gridCol w="973191">
                  <a:extLst>
                    <a:ext uri="{9D8B030D-6E8A-4147-A177-3AD203B41FA5}">
                      <a16:colId xmlns:a16="http://schemas.microsoft.com/office/drawing/2014/main" val="20001"/>
                    </a:ext>
                  </a:extLst>
                </a:gridCol>
                <a:gridCol w="973191">
                  <a:extLst>
                    <a:ext uri="{9D8B030D-6E8A-4147-A177-3AD203B41FA5}">
                      <a16:colId xmlns:a16="http://schemas.microsoft.com/office/drawing/2014/main" val="20002"/>
                    </a:ext>
                  </a:extLst>
                </a:gridCol>
                <a:gridCol w="973191">
                  <a:extLst>
                    <a:ext uri="{9D8B030D-6E8A-4147-A177-3AD203B41FA5}">
                      <a16:colId xmlns:a16="http://schemas.microsoft.com/office/drawing/2014/main" val="20003"/>
                    </a:ext>
                  </a:extLst>
                </a:gridCol>
                <a:gridCol w="818259">
                  <a:extLst>
                    <a:ext uri="{9D8B030D-6E8A-4147-A177-3AD203B41FA5}">
                      <a16:colId xmlns:a16="http://schemas.microsoft.com/office/drawing/2014/main" val="20004"/>
                    </a:ext>
                  </a:extLst>
                </a:gridCol>
                <a:gridCol w="818259">
                  <a:extLst>
                    <a:ext uri="{9D8B030D-6E8A-4147-A177-3AD203B41FA5}">
                      <a16:colId xmlns:a16="http://schemas.microsoft.com/office/drawing/2014/main" val="20005"/>
                    </a:ext>
                  </a:extLst>
                </a:gridCol>
                <a:gridCol w="818259">
                  <a:extLst>
                    <a:ext uri="{9D8B030D-6E8A-4147-A177-3AD203B41FA5}">
                      <a16:colId xmlns:a16="http://schemas.microsoft.com/office/drawing/2014/main" val="20006"/>
                    </a:ext>
                  </a:extLst>
                </a:gridCol>
              </a:tblGrid>
              <a:tr h="478254">
                <a:tc>
                  <a:txBody>
                    <a:bodyPr/>
                    <a:lstStyle/>
                    <a:p>
                      <a:pPr algn="ctr">
                        <a:lnSpc>
                          <a:spcPct val="115000"/>
                        </a:lnSpc>
                        <a:spcAft>
                          <a:spcPts val="0"/>
                        </a:spcAft>
                      </a:pPr>
                      <a:r>
                        <a:rPr lang="en-GB" sz="2400" b="1" dirty="0">
                          <a:latin typeface="Calibri"/>
                          <a:ea typeface="Calibri"/>
                          <a:cs typeface="Arial"/>
                        </a:rPr>
                        <a:t>Activity</a:t>
                      </a:r>
                      <a:endParaRPr lang="en-GB" sz="16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b="1" dirty="0">
                          <a:latin typeface="Calibri"/>
                          <a:ea typeface="Calibri"/>
                          <a:cs typeface="Arial"/>
                        </a:rPr>
                        <a:t>A3</a:t>
                      </a:r>
                      <a:endParaRPr lang="en-GB" sz="16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b="1">
                          <a:latin typeface="Calibri"/>
                          <a:ea typeface="Calibri"/>
                          <a:cs typeface="Arial"/>
                        </a:rPr>
                        <a:t>A2</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b="1" dirty="0">
                          <a:latin typeface="Calibri"/>
                          <a:ea typeface="Calibri"/>
                          <a:cs typeface="Arial"/>
                        </a:rPr>
                        <a:t>A2</a:t>
                      </a:r>
                      <a:endParaRPr lang="en-GB" sz="16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b="1" dirty="0">
                          <a:latin typeface="Calibri"/>
                          <a:ea typeface="Calibri"/>
                          <a:cs typeface="Arial"/>
                        </a:rPr>
                        <a:t>A5</a:t>
                      </a:r>
                      <a:endParaRPr lang="en-GB" sz="16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b="1" dirty="0">
                          <a:latin typeface="Calibri"/>
                          <a:ea typeface="Calibri"/>
                          <a:cs typeface="Arial"/>
                        </a:rPr>
                        <a:t>A6</a:t>
                      </a:r>
                      <a:endParaRPr lang="en-GB" sz="16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b="1" dirty="0">
                          <a:latin typeface="Calibri"/>
                          <a:ea typeface="Calibri"/>
                          <a:cs typeface="Arial"/>
                        </a:rPr>
                        <a:t>A4</a:t>
                      </a:r>
                      <a:endParaRPr lang="en-GB" sz="16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78254">
                <a:tc>
                  <a:txBody>
                    <a:bodyPr/>
                    <a:lstStyle/>
                    <a:p>
                      <a:pPr algn="ctr">
                        <a:lnSpc>
                          <a:spcPct val="115000"/>
                        </a:lnSpc>
                        <a:spcAft>
                          <a:spcPts val="0"/>
                        </a:spcAft>
                      </a:pPr>
                      <a:r>
                        <a:rPr lang="en-GB" sz="2400" b="1" dirty="0">
                          <a:latin typeface="Calibri"/>
                          <a:ea typeface="Calibri"/>
                          <a:cs typeface="Arial"/>
                        </a:rPr>
                        <a:t>Start</a:t>
                      </a:r>
                      <a:endParaRPr lang="en-GB" sz="16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2400" b="1" dirty="0">
                          <a:solidFill>
                            <a:schemeClr val="accent2">
                              <a:lumMod val="75000"/>
                            </a:schemeClr>
                          </a:solidFill>
                          <a:latin typeface="Calibri"/>
                          <a:ea typeface="Calibri"/>
                          <a:cs typeface="Arial"/>
                        </a:rPr>
                        <a:t>1</a:t>
                      </a:r>
                      <a:endParaRPr lang="en-GB" sz="2400" b="1" dirty="0">
                        <a:solidFill>
                          <a:schemeClr val="accent2">
                            <a:lumMod val="75000"/>
                          </a:schemeClr>
                        </a:solidFill>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15000"/>
                        </a:lnSpc>
                        <a:spcAft>
                          <a:spcPts val="0"/>
                        </a:spcAft>
                      </a:pPr>
                      <a:r>
                        <a:rPr lang="en-US" sz="2400" b="1" dirty="0">
                          <a:solidFill>
                            <a:schemeClr val="accent2">
                              <a:lumMod val="75000"/>
                            </a:schemeClr>
                          </a:solidFill>
                          <a:latin typeface="Calibri"/>
                          <a:ea typeface="Calibri"/>
                          <a:cs typeface="Arial"/>
                        </a:rPr>
                        <a:t>3</a:t>
                      </a:r>
                      <a:endParaRPr lang="en-GB" sz="2400" b="1" dirty="0">
                        <a:solidFill>
                          <a:schemeClr val="accent2">
                            <a:lumMod val="75000"/>
                          </a:schemeClr>
                        </a:solidFill>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15000"/>
                        </a:lnSpc>
                        <a:spcAft>
                          <a:spcPts val="0"/>
                        </a:spcAft>
                      </a:pPr>
                      <a:r>
                        <a:rPr lang="en-US" sz="2400" dirty="0">
                          <a:latin typeface="Calibri"/>
                          <a:ea typeface="Calibri"/>
                          <a:cs typeface="Arial"/>
                        </a:rPr>
                        <a:t>0</a:t>
                      </a:r>
                      <a:endParaRPr lang="en-GB" sz="24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2400" b="1" dirty="0">
                          <a:solidFill>
                            <a:schemeClr val="accent2">
                              <a:lumMod val="75000"/>
                            </a:schemeClr>
                          </a:solidFill>
                          <a:latin typeface="Calibri"/>
                          <a:ea typeface="Calibri"/>
                          <a:cs typeface="Arial"/>
                        </a:rPr>
                        <a:t>5</a:t>
                      </a:r>
                      <a:endParaRPr lang="en-GB" sz="2400" b="1" dirty="0">
                        <a:solidFill>
                          <a:schemeClr val="accent2">
                            <a:lumMod val="75000"/>
                          </a:schemeClr>
                        </a:solidFill>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15000"/>
                        </a:lnSpc>
                        <a:spcAft>
                          <a:spcPts val="0"/>
                        </a:spcAft>
                      </a:pPr>
                      <a:r>
                        <a:rPr lang="en-US" sz="2400" b="1" dirty="0">
                          <a:solidFill>
                            <a:schemeClr val="accent2">
                              <a:lumMod val="75000"/>
                            </a:schemeClr>
                          </a:solidFill>
                          <a:latin typeface="Calibri"/>
                          <a:ea typeface="Calibri"/>
                          <a:cs typeface="Arial"/>
                        </a:rPr>
                        <a:t>8</a:t>
                      </a:r>
                      <a:endParaRPr lang="en-GB" sz="2400" b="1" dirty="0">
                        <a:solidFill>
                          <a:schemeClr val="accent2">
                            <a:lumMod val="75000"/>
                          </a:schemeClr>
                        </a:solidFill>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15000"/>
                        </a:lnSpc>
                        <a:spcAft>
                          <a:spcPts val="0"/>
                        </a:spcAft>
                      </a:pPr>
                      <a:r>
                        <a:rPr lang="en-US" sz="2400" dirty="0">
                          <a:latin typeface="Calibri"/>
                          <a:ea typeface="Calibri"/>
                          <a:cs typeface="Arial"/>
                        </a:rPr>
                        <a:t>5</a:t>
                      </a:r>
                      <a:endParaRPr lang="en-GB" sz="24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78254">
                <a:tc>
                  <a:txBody>
                    <a:bodyPr/>
                    <a:lstStyle/>
                    <a:p>
                      <a:pPr algn="ctr">
                        <a:lnSpc>
                          <a:spcPct val="115000"/>
                        </a:lnSpc>
                        <a:spcAft>
                          <a:spcPts val="0"/>
                        </a:spcAft>
                      </a:pPr>
                      <a:r>
                        <a:rPr lang="en-GB" sz="2400" b="1">
                          <a:latin typeface="Calibri"/>
                          <a:ea typeface="Calibri"/>
                          <a:cs typeface="Arial"/>
                        </a:rPr>
                        <a:t>Finish</a:t>
                      </a:r>
                      <a:endParaRPr lang="en-GB" sz="16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2400" b="1" dirty="0">
                          <a:solidFill>
                            <a:schemeClr val="accent2">
                              <a:lumMod val="75000"/>
                            </a:schemeClr>
                          </a:solidFill>
                          <a:latin typeface="Calibri"/>
                          <a:ea typeface="Calibri"/>
                          <a:cs typeface="Arial"/>
                        </a:rPr>
                        <a:t>2</a:t>
                      </a:r>
                      <a:endParaRPr lang="en-GB" sz="2400" b="1" dirty="0">
                        <a:solidFill>
                          <a:schemeClr val="accent2">
                            <a:lumMod val="75000"/>
                          </a:schemeClr>
                        </a:solidFill>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15000"/>
                        </a:lnSpc>
                        <a:spcAft>
                          <a:spcPts val="0"/>
                        </a:spcAft>
                      </a:pPr>
                      <a:r>
                        <a:rPr lang="en-US" sz="2400" b="1" dirty="0">
                          <a:solidFill>
                            <a:schemeClr val="accent2">
                              <a:lumMod val="75000"/>
                            </a:schemeClr>
                          </a:solidFill>
                          <a:latin typeface="Calibri"/>
                          <a:ea typeface="Calibri"/>
                          <a:cs typeface="Arial"/>
                        </a:rPr>
                        <a:t>4</a:t>
                      </a:r>
                      <a:endParaRPr lang="en-GB" sz="2400" b="1" dirty="0">
                        <a:solidFill>
                          <a:schemeClr val="accent2">
                            <a:lumMod val="75000"/>
                          </a:schemeClr>
                        </a:solidFill>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15000"/>
                        </a:lnSpc>
                        <a:spcAft>
                          <a:spcPts val="0"/>
                        </a:spcAft>
                      </a:pPr>
                      <a:r>
                        <a:rPr lang="en-US" sz="2400" dirty="0">
                          <a:latin typeface="Calibri"/>
                          <a:ea typeface="Calibri"/>
                          <a:cs typeface="Arial"/>
                        </a:rPr>
                        <a:t>6</a:t>
                      </a:r>
                      <a:endParaRPr lang="en-GB" sz="24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2400" b="1" dirty="0">
                          <a:solidFill>
                            <a:schemeClr val="accent2">
                              <a:lumMod val="75000"/>
                            </a:schemeClr>
                          </a:solidFill>
                          <a:latin typeface="Calibri"/>
                          <a:ea typeface="Calibri"/>
                          <a:cs typeface="Arial"/>
                        </a:rPr>
                        <a:t>7</a:t>
                      </a:r>
                      <a:endParaRPr lang="en-GB" sz="2400" b="1" dirty="0">
                        <a:solidFill>
                          <a:schemeClr val="accent2">
                            <a:lumMod val="75000"/>
                          </a:schemeClr>
                        </a:solidFill>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15000"/>
                        </a:lnSpc>
                        <a:spcAft>
                          <a:spcPts val="0"/>
                        </a:spcAft>
                      </a:pPr>
                      <a:r>
                        <a:rPr lang="en-US" sz="2400" b="1" dirty="0">
                          <a:solidFill>
                            <a:schemeClr val="accent2">
                              <a:lumMod val="75000"/>
                            </a:schemeClr>
                          </a:solidFill>
                          <a:latin typeface="Calibri"/>
                          <a:ea typeface="Calibri"/>
                          <a:cs typeface="Arial"/>
                        </a:rPr>
                        <a:t>9</a:t>
                      </a:r>
                      <a:endParaRPr lang="en-GB" sz="2400" b="1" dirty="0">
                        <a:solidFill>
                          <a:schemeClr val="accent2">
                            <a:lumMod val="75000"/>
                          </a:schemeClr>
                        </a:solidFill>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gn="ctr">
                        <a:lnSpc>
                          <a:spcPct val="115000"/>
                        </a:lnSpc>
                        <a:spcAft>
                          <a:spcPts val="0"/>
                        </a:spcAft>
                      </a:pPr>
                      <a:r>
                        <a:rPr lang="en-US" sz="2400" dirty="0">
                          <a:latin typeface="Calibri"/>
                          <a:ea typeface="Calibri"/>
                          <a:cs typeface="Arial"/>
                        </a:rPr>
                        <a:t>9</a:t>
                      </a:r>
                      <a:endParaRPr lang="en-GB" sz="24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3739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077200" y="6421462"/>
            <a:ext cx="2133600" cy="365125"/>
          </a:xfrm>
        </p:spPr>
        <p:txBody>
          <a:bodyPr/>
          <a:lstStyle/>
          <a:p>
            <a:fld id="{13A4B214-EE3B-48DE-9402-23100A7A65CC}" type="slidenum">
              <a:rPr lang="en-GB" smtClean="0"/>
              <a:pPr/>
              <a:t>15</a:t>
            </a:fld>
            <a:endParaRPr lang="en-GB"/>
          </a:p>
        </p:txBody>
      </p:sp>
      <p:sp>
        <p:nvSpPr>
          <p:cNvPr id="2" name="Rectangle 1"/>
          <p:cNvSpPr/>
          <p:nvPr/>
        </p:nvSpPr>
        <p:spPr>
          <a:xfrm>
            <a:off x="457200" y="1028440"/>
            <a:ext cx="11353800" cy="1938992"/>
          </a:xfrm>
          <a:prstGeom prst="rect">
            <a:avLst/>
          </a:prstGeom>
        </p:spPr>
        <p:txBody>
          <a:bodyPr wrap="square">
            <a:spAutoFit/>
          </a:bodyPr>
          <a:lstStyle/>
          <a:p>
            <a:pPr algn="just">
              <a:lnSpc>
                <a:spcPct val="150000"/>
              </a:lnSpc>
            </a:pPr>
            <a:r>
              <a:rPr lang="en-US" sz="2000" b="1" dirty="0">
                <a:solidFill>
                  <a:srgbClr val="002060"/>
                </a:solidFill>
              </a:rPr>
              <a:t>2.  </a:t>
            </a:r>
            <a:r>
              <a:rPr lang="en-US" sz="2000" dirty="0"/>
              <a:t>Select the first activity from the sorted array</a:t>
            </a:r>
          </a:p>
          <a:p>
            <a:pPr algn="just">
              <a:lnSpc>
                <a:spcPct val="150000"/>
              </a:lnSpc>
            </a:pPr>
            <a:r>
              <a:rPr lang="en-US" sz="2000" b="1" dirty="0">
                <a:solidFill>
                  <a:srgbClr val="002060"/>
                </a:solidFill>
              </a:rPr>
              <a:t>3.</a:t>
            </a:r>
            <a:r>
              <a:rPr lang="en-US" sz="2000" dirty="0"/>
              <a:t> Do the following for the remaining activities in the sorted array:</a:t>
            </a:r>
          </a:p>
          <a:p>
            <a:pPr marL="800100" lvl="1" indent="-342900" algn="just">
              <a:lnSpc>
                <a:spcPct val="150000"/>
              </a:lnSpc>
              <a:buFont typeface="Wingdings" panose="05000000000000000000" pitchFamily="2" charset="2"/>
              <a:buChar char="§"/>
            </a:pPr>
            <a:r>
              <a:rPr lang="en-US" sz="2000" dirty="0"/>
              <a:t>If the start time of this activity is greater than or equal to the finish time of the previously selected activity then select this activity. </a:t>
            </a:r>
            <a:endParaRPr lang="en-GB" sz="2000" dirty="0"/>
          </a:p>
        </p:txBody>
      </p:sp>
      <p:sp>
        <p:nvSpPr>
          <p:cNvPr id="10" name="Rectangle 9"/>
          <p:cNvSpPr/>
          <p:nvPr/>
        </p:nvSpPr>
        <p:spPr>
          <a:xfrm>
            <a:off x="952464" y="3098591"/>
            <a:ext cx="7358114" cy="461665"/>
          </a:xfrm>
          <a:prstGeom prst="rect">
            <a:avLst/>
          </a:prstGeom>
        </p:spPr>
        <p:txBody>
          <a:bodyPr wrap="square">
            <a:spAutoFit/>
          </a:bodyPr>
          <a:lstStyle/>
          <a:p>
            <a:r>
              <a:rPr lang="en-US" sz="2200" b="1" dirty="0">
                <a:solidFill>
                  <a:srgbClr val="002060"/>
                </a:solidFill>
              </a:rPr>
              <a:t> A3 </a:t>
            </a:r>
            <a:r>
              <a:rPr lang="en-US" sz="2200" b="1" dirty="0">
                <a:solidFill>
                  <a:srgbClr val="002060"/>
                </a:solidFill>
                <a:sym typeface="Wingdings" pitchFamily="2" charset="2"/>
              </a:rPr>
              <a:t> A2  A5  A6                          </a:t>
            </a:r>
            <a:r>
              <a:rPr lang="en-US" sz="2400" b="1" dirty="0">
                <a:solidFill>
                  <a:srgbClr val="002060"/>
                </a:solidFill>
              </a:rPr>
              <a:t>Total Activities = 4</a:t>
            </a:r>
            <a:endParaRPr lang="en-GB" sz="2200" dirty="0">
              <a:solidFill>
                <a:srgbClr val="002060"/>
              </a:solidFill>
            </a:endParaRPr>
          </a:p>
        </p:txBody>
      </p:sp>
      <p:sp>
        <p:nvSpPr>
          <p:cNvPr id="12" name="Rectangle 11"/>
          <p:cNvSpPr/>
          <p:nvPr/>
        </p:nvSpPr>
        <p:spPr>
          <a:xfrm>
            <a:off x="152400" y="377072"/>
            <a:ext cx="5819029" cy="584775"/>
          </a:xfrm>
          <a:prstGeom prst="rect">
            <a:avLst/>
          </a:prstGeom>
        </p:spPr>
        <p:txBody>
          <a:bodyPr wrap="none">
            <a:spAutoFit/>
          </a:bodyPr>
          <a:lstStyle/>
          <a:p>
            <a:r>
              <a:rPr lang="en-GB" sz="3200" b="1" dirty="0">
                <a:solidFill>
                  <a:schemeClr val="bg1"/>
                </a:solidFill>
              </a:rPr>
              <a:t>Activity selection problem - Code</a:t>
            </a:r>
          </a:p>
        </p:txBody>
      </p:sp>
    </p:spTree>
    <p:extLst>
      <p:ext uri="{BB962C8B-B14F-4D97-AF65-F5344CB8AC3E}">
        <p14:creationId xmlns:p14="http://schemas.microsoft.com/office/powerpoint/2010/main" val="4093386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10515600" cy="636361"/>
          </a:xfrm>
        </p:spPr>
        <p:txBody>
          <a:bodyPr/>
          <a:lstStyle/>
          <a:p>
            <a:r>
              <a:rPr lang="en-US" sz="3200" b="1" dirty="0">
                <a:latin typeface="+mn-lt"/>
                <a:ea typeface="+mn-ea"/>
                <a:cs typeface="+mn-cs"/>
              </a:rPr>
              <a:t>Activity Selection - Code</a:t>
            </a:r>
          </a:p>
        </p:txBody>
      </p:sp>
      <p:sp>
        <p:nvSpPr>
          <p:cNvPr id="4" name="Footer Placeholder 3"/>
          <p:cNvSpPr>
            <a:spLocks noGrp="1"/>
          </p:cNvSpPr>
          <p:nvPr>
            <p:ph type="ftr" sz="quarter" idx="11"/>
          </p:nvPr>
        </p:nvSpPr>
        <p:spPr/>
        <p:txBody>
          <a:bodyPr/>
          <a:lstStyle/>
          <a:p>
            <a:r>
              <a:rPr lang="en-US"/>
              <a:t>Faculty of Information Technology - Computer Science Department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a:p>
        </p:txBody>
      </p:sp>
      <p:pic>
        <p:nvPicPr>
          <p:cNvPr id="6" name="Picture 1"/>
          <p:cNvPicPr>
            <a:picLocks noChangeAspect="1" noChangeArrowheads="1"/>
          </p:cNvPicPr>
          <p:nvPr/>
        </p:nvPicPr>
        <p:blipFill>
          <a:blip r:embed="rId2"/>
          <a:srcRect/>
          <a:stretch>
            <a:fillRect/>
          </a:stretch>
        </p:blipFill>
        <p:spPr bwMode="auto">
          <a:xfrm>
            <a:off x="304800" y="1219200"/>
            <a:ext cx="9120776" cy="2730047"/>
          </a:xfrm>
          <a:prstGeom prst="rect">
            <a:avLst/>
          </a:prstGeom>
          <a:noFill/>
          <a:ln w="9525">
            <a:noFill/>
            <a:miter lim="800000"/>
            <a:headEnd/>
            <a:tailEnd/>
          </a:ln>
          <a:effectLst/>
        </p:spPr>
      </p:pic>
    </p:spTree>
    <p:extLst>
      <p:ext uri="{BB962C8B-B14F-4D97-AF65-F5344CB8AC3E}">
        <p14:creationId xmlns:p14="http://schemas.microsoft.com/office/powerpoint/2010/main" val="2133619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A4B214-EE3B-48DE-9402-23100A7A65CC}" type="slidenum">
              <a:rPr lang="en-GB" smtClean="0"/>
              <a:pPr/>
              <a:t>17</a:t>
            </a:fld>
            <a:endParaRPr lang="en-GB"/>
          </a:p>
        </p:txBody>
      </p:sp>
      <p:sp>
        <p:nvSpPr>
          <p:cNvPr id="5" name="Rectangle 4"/>
          <p:cNvSpPr/>
          <p:nvPr/>
        </p:nvSpPr>
        <p:spPr>
          <a:xfrm>
            <a:off x="191086" y="419299"/>
            <a:ext cx="4485330" cy="523220"/>
          </a:xfrm>
          <a:prstGeom prst="rect">
            <a:avLst/>
          </a:prstGeom>
        </p:spPr>
        <p:txBody>
          <a:bodyPr wrap="none">
            <a:spAutoFit/>
          </a:bodyPr>
          <a:lstStyle/>
          <a:p>
            <a:r>
              <a:rPr lang="en-GB" sz="2800" b="1" dirty="0">
                <a:solidFill>
                  <a:schemeClr val="bg1"/>
                </a:solidFill>
              </a:rPr>
              <a:t>Fractional Knapsack Problem</a:t>
            </a:r>
            <a:endParaRPr lang="en-GB" sz="2400" b="1" dirty="0">
              <a:solidFill>
                <a:schemeClr val="bg1"/>
              </a:solidFill>
            </a:endParaRPr>
          </a:p>
        </p:txBody>
      </p:sp>
      <p:sp>
        <p:nvSpPr>
          <p:cNvPr id="6" name="Rectangle 5"/>
          <p:cNvSpPr/>
          <p:nvPr/>
        </p:nvSpPr>
        <p:spPr>
          <a:xfrm>
            <a:off x="234461" y="1173698"/>
            <a:ext cx="11582400" cy="2862322"/>
          </a:xfrm>
          <a:prstGeom prst="rect">
            <a:avLst/>
          </a:prstGeom>
        </p:spPr>
        <p:txBody>
          <a:bodyPr wrap="square">
            <a:spAutoFit/>
          </a:bodyPr>
          <a:lstStyle/>
          <a:p>
            <a:pPr algn="just">
              <a:lnSpc>
                <a:spcPct val="150000"/>
              </a:lnSpc>
            </a:pPr>
            <a:r>
              <a:rPr lang="en-GB" sz="2000" dirty="0"/>
              <a:t>The </a:t>
            </a:r>
            <a:r>
              <a:rPr lang="en-GB" sz="2000" b="1" dirty="0">
                <a:solidFill>
                  <a:srgbClr val="002060"/>
                </a:solidFill>
              </a:rPr>
              <a:t>0-1 knapsack problem </a:t>
            </a:r>
            <a:r>
              <a:rPr lang="en-GB" sz="2000" dirty="0"/>
              <a:t>is the following. A thief robbing a store finds n items. The </a:t>
            </a:r>
            <a:r>
              <a:rPr lang="en-GB" sz="2000" dirty="0" err="1"/>
              <a:t>i</a:t>
            </a:r>
            <a:r>
              <a:rPr lang="en-GB" sz="2000" dirty="0"/>
              <a:t> </a:t>
            </a:r>
            <a:r>
              <a:rPr lang="en-GB" sz="2000" dirty="0" err="1"/>
              <a:t>th</a:t>
            </a:r>
            <a:r>
              <a:rPr lang="en-GB" sz="2000" dirty="0"/>
              <a:t> item is worth </a:t>
            </a:r>
            <a:r>
              <a:rPr lang="en-GB" sz="2000" dirty="0" err="1"/>
              <a:t>i</a:t>
            </a:r>
            <a:r>
              <a:rPr lang="en-GB" sz="2000" dirty="0"/>
              <a:t> dollars and weighs </a:t>
            </a:r>
            <a:r>
              <a:rPr lang="en-GB" sz="2000" dirty="0" err="1"/>
              <a:t>w</a:t>
            </a:r>
            <a:r>
              <a:rPr lang="en-GB" sz="2000" baseline="-25000" dirty="0" err="1"/>
              <a:t>i</a:t>
            </a:r>
            <a:r>
              <a:rPr lang="en-GB" sz="2000" dirty="0"/>
              <a:t> pounds, where </a:t>
            </a:r>
            <a:r>
              <a:rPr lang="en-GB" sz="2000" dirty="0" err="1"/>
              <a:t>i</a:t>
            </a:r>
            <a:r>
              <a:rPr lang="en-GB" sz="2000" dirty="0"/>
              <a:t> and </a:t>
            </a:r>
            <a:r>
              <a:rPr lang="en-GB" sz="2000" dirty="0" err="1"/>
              <a:t>w</a:t>
            </a:r>
            <a:r>
              <a:rPr lang="en-GB" sz="2000" baseline="-25000" dirty="0" err="1"/>
              <a:t>i</a:t>
            </a:r>
            <a:r>
              <a:rPr lang="en-GB" sz="2000" dirty="0"/>
              <a:t> are integers. The thief wants to take as valuable a load as possible, but he can carry at most W pounds in his knapsack, for some integer W. Which items should he take?</a:t>
            </a:r>
          </a:p>
          <a:p>
            <a:pPr algn="just">
              <a:lnSpc>
                <a:spcPct val="150000"/>
              </a:lnSpc>
            </a:pPr>
            <a:endParaRPr lang="en-GB" sz="2000" dirty="0"/>
          </a:p>
          <a:p>
            <a:pPr algn="just">
              <a:lnSpc>
                <a:spcPct val="150000"/>
              </a:lnSpc>
            </a:pPr>
            <a:r>
              <a:rPr lang="en-GB" sz="2000" dirty="0"/>
              <a:t>(We call this the 0-1 knapsack problem because for each item, the thief must either take it or leave it behind; he cannot take a fractional amount of an item or take an item more than once.)</a:t>
            </a:r>
          </a:p>
        </p:txBody>
      </p:sp>
      <p:sp>
        <p:nvSpPr>
          <p:cNvPr id="7" name="Rectangle 6"/>
          <p:cNvSpPr/>
          <p:nvPr/>
        </p:nvSpPr>
        <p:spPr>
          <a:xfrm>
            <a:off x="222738" y="4267200"/>
            <a:ext cx="11582400" cy="1477328"/>
          </a:xfrm>
          <a:prstGeom prst="rect">
            <a:avLst/>
          </a:prstGeom>
        </p:spPr>
        <p:txBody>
          <a:bodyPr wrap="square">
            <a:spAutoFit/>
          </a:bodyPr>
          <a:lstStyle/>
          <a:p>
            <a:pPr algn="just">
              <a:lnSpc>
                <a:spcPct val="150000"/>
              </a:lnSpc>
            </a:pPr>
            <a:r>
              <a:rPr lang="en-GB" sz="2000" dirty="0"/>
              <a:t>In the </a:t>
            </a:r>
            <a:r>
              <a:rPr lang="en-GB" sz="2000" b="1" dirty="0">
                <a:solidFill>
                  <a:srgbClr val="002060"/>
                </a:solidFill>
              </a:rPr>
              <a:t>fractional knapsack problem</a:t>
            </a:r>
            <a:r>
              <a:rPr lang="en-GB" sz="2000" dirty="0"/>
              <a:t>, the setup is the same, but the thief can take fractions of items, rather than having to make a binary (0-1) choice for each item. You can think of an item in the 0-1 knapsack problem as being like a gold ingot and an item in the fractional knapsack problem as more like gold dust.</a:t>
            </a:r>
          </a:p>
        </p:txBody>
      </p:sp>
    </p:spTree>
    <p:extLst>
      <p:ext uri="{BB962C8B-B14F-4D97-AF65-F5344CB8AC3E}">
        <p14:creationId xmlns:p14="http://schemas.microsoft.com/office/powerpoint/2010/main" val="3267490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A4B214-EE3B-48DE-9402-23100A7A65CC}" type="slidenum">
              <a:rPr lang="en-GB" smtClean="0"/>
              <a:pPr/>
              <a:t>18</a:t>
            </a:fld>
            <a:endParaRPr lang="en-GB"/>
          </a:p>
        </p:txBody>
      </p:sp>
      <p:sp>
        <p:nvSpPr>
          <p:cNvPr id="3" name="Rectangle 2"/>
          <p:cNvSpPr/>
          <p:nvPr/>
        </p:nvSpPr>
        <p:spPr>
          <a:xfrm>
            <a:off x="152400" y="1295400"/>
            <a:ext cx="11209606" cy="4524315"/>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GB" sz="2400" dirty="0"/>
              <a:t>Although the problems are similar, we can solve the fractional knapsack problem by a greedy strategy, but we cannot solve the 0-1 problem by such a strategy.</a:t>
            </a:r>
          </a:p>
          <a:p>
            <a:pPr marL="342900" indent="-342900" algn="just">
              <a:lnSpc>
                <a:spcPct val="150000"/>
              </a:lnSpc>
              <a:buFont typeface="Arial" panose="020B0604020202020204" pitchFamily="34" charset="0"/>
              <a:buChar char="•"/>
            </a:pPr>
            <a:endParaRPr lang="en-GB" sz="2400" dirty="0"/>
          </a:p>
          <a:p>
            <a:pPr marL="342900" indent="-342900" algn="just">
              <a:lnSpc>
                <a:spcPct val="150000"/>
              </a:lnSpc>
              <a:buFont typeface="Arial" panose="020B0604020202020204" pitchFamily="34" charset="0"/>
              <a:buChar char="•"/>
            </a:pPr>
            <a:r>
              <a:rPr lang="en-GB" sz="2400" dirty="0"/>
              <a:t>To solve the fractional problem, we first compute the </a:t>
            </a:r>
            <a:r>
              <a:rPr lang="en-GB" sz="2400" b="1" u="sng" dirty="0">
                <a:solidFill>
                  <a:srgbClr val="002060"/>
                </a:solidFill>
              </a:rPr>
              <a:t>value per pound</a:t>
            </a:r>
            <a:r>
              <a:rPr lang="en-GB" sz="2400" u="sng" dirty="0">
                <a:solidFill>
                  <a:srgbClr val="002060"/>
                </a:solidFill>
              </a:rPr>
              <a:t> </a:t>
            </a:r>
            <a:r>
              <a:rPr lang="en-GB" sz="2400" b="1" u="sng" dirty="0">
                <a:solidFill>
                  <a:srgbClr val="002060"/>
                </a:solidFill>
              </a:rPr>
              <a:t>vi/</a:t>
            </a:r>
            <a:r>
              <a:rPr lang="en-GB" sz="2400" b="1" u="sng" dirty="0" err="1">
                <a:solidFill>
                  <a:srgbClr val="002060"/>
                </a:solidFill>
              </a:rPr>
              <a:t>w</a:t>
            </a:r>
            <a:r>
              <a:rPr lang="en-GB" sz="2400" b="1" u="sng" baseline="-25000" dirty="0" err="1">
                <a:solidFill>
                  <a:srgbClr val="002060"/>
                </a:solidFill>
              </a:rPr>
              <a:t>i</a:t>
            </a:r>
            <a:r>
              <a:rPr lang="en-GB" sz="2400" u="sng" dirty="0">
                <a:solidFill>
                  <a:srgbClr val="002060"/>
                </a:solidFill>
              </a:rPr>
              <a:t> </a:t>
            </a:r>
            <a:r>
              <a:rPr lang="en-GB" sz="2400" dirty="0"/>
              <a:t>for each item. Obeying a greedy strategy, the thief begins by taking as much as possible of the item with the greatest value per pound. If the supply of that item is exhausted and he can still carry more, he takes as much as possible of the item with the next greatest value per pound, and so forth, until he reaches his weight limit W.</a:t>
            </a:r>
          </a:p>
        </p:txBody>
      </p:sp>
      <p:sp>
        <p:nvSpPr>
          <p:cNvPr id="5" name="Rectangle 4"/>
          <p:cNvSpPr/>
          <p:nvPr/>
        </p:nvSpPr>
        <p:spPr>
          <a:xfrm>
            <a:off x="152400" y="381000"/>
            <a:ext cx="4485330" cy="523220"/>
          </a:xfrm>
          <a:prstGeom prst="rect">
            <a:avLst/>
          </a:prstGeom>
        </p:spPr>
        <p:txBody>
          <a:bodyPr wrap="none">
            <a:spAutoFit/>
          </a:bodyPr>
          <a:lstStyle/>
          <a:p>
            <a:r>
              <a:rPr lang="en-GB" sz="2800" b="1" dirty="0">
                <a:solidFill>
                  <a:schemeClr val="bg1"/>
                </a:solidFill>
              </a:rPr>
              <a:t>Fractional Knapsack Problem</a:t>
            </a:r>
            <a:endParaRPr lang="en-GB" sz="2400" b="1" dirty="0">
              <a:solidFill>
                <a:schemeClr val="bg1"/>
              </a:solidFill>
            </a:endParaRPr>
          </a:p>
        </p:txBody>
      </p:sp>
    </p:spTree>
    <p:extLst>
      <p:ext uri="{BB962C8B-B14F-4D97-AF65-F5344CB8AC3E}">
        <p14:creationId xmlns:p14="http://schemas.microsoft.com/office/powerpoint/2010/main" val="14867182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A4B214-EE3B-48DE-9402-23100A7A65CC}" type="slidenum">
              <a:rPr lang="en-GB" smtClean="0"/>
              <a:pPr/>
              <a:t>19</a:t>
            </a:fld>
            <a:endParaRPr lang="en-GB"/>
          </a:p>
        </p:txBody>
      </p:sp>
      <p:sp>
        <p:nvSpPr>
          <p:cNvPr id="5" name="Rectangle 4"/>
          <p:cNvSpPr/>
          <p:nvPr/>
        </p:nvSpPr>
        <p:spPr>
          <a:xfrm>
            <a:off x="152400" y="330882"/>
            <a:ext cx="1806072" cy="646331"/>
          </a:xfrm>
          <a:prstGeom prst="rect">
            <a:avLst/>
          </a:prstGeom>
        </p:spPr>
        <p:txBody>
          <a:bodyPr wrap="none">
            <a:spAutoFit/>
          </a:bodyPr>
          <a:lstStyle/>
          <a:p>
            <a:r>
              <a:rPr lang="en-GB" sz="3600" b="1" dirty="0">
                <a:solidFill>
                  <a:schemeClr val="bg1"/>
                </a:solidFill>
              </a:rPr>
              <a:t>Problem</a:t>
            </a:r>
          </a:p>
        </p:txBody>
      </p:sp>
      <p:pic>
        <p:nvPicPr>
          <p:cNvPr id="2" name="Picture 1"/>
          <p:cNvPicPr>
            <a:picLocks noChangeAspect="1"/>
          </p:cNvPicPr>
          <p:nvPr/>
        </p:nvPicPr>
        <p:blipFill>
          <a:blip r:embed="rId2"/>
          <a:stretch>
            <a:fillRect/>
          </a:stretch>
        </p:blipFill>
        <p:spPr>
          <a:xfrm>
            <a:off x="152401" y="1147762"/>
            <a:ext cx="11811000" cy="5208590"/>
          </a:xfrm>
          <a:prstGeom prst="rect">
            <a:avLst/>
          </a:prstGeom>
        </p:spPr>
      </p:pic>
    </p:spTree>
    <p:extLst>
      <p:ext uri="{BB962C8B-B14F-4D97-AF65-F5344CB8AC3E}">
        <p14:creationId xmlns:p14="http://schemas.microsoft.com/office/powerpoint/2010/main" val="3083280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A4B214-EE3B-48DE-9402-23100A7A65CC}" type="slidenum">
              <a:rPr lang="en-GB" smtClean="0"/>
              <a:pPr/>
              <a:t>20</a:t>
            </a:fld>
            <a:endParaRPr lang="en-GB"/>
          </a:p>
        </p:txBody>
      </p:sp>
      <p:pic>
        <p:nvPicPr>
          <p:cNvPr id="39937" name="Picture 1"/>
          <p:cNvPicPr>
            <a:picLocks noChangeAspect="1" noChangeArrowheads="1"/>
          </p:cNvPicPr>
          <p:nvPr/>
        </p:nvPicPr>
        <p:blipFill>
          <a:blip r:embed="rId2"/>
          <a:srcRect/>
          <a:stretch>
            <a:fillRect/>
          </a:stretch>
        </p:blipFill>
        <p:spPr bwMode="auto">
          <a:xfrm>
            <a:off x="152400" y="1161757"/>
            <a:ext cx="10972800" cy="2628900"/>
          </a:xfrm>
          <a:prstGeom prst="rect">
            <a:avLst/>
          </a:prstGeom>
          <a:noFill/>
          <a:ln w="9525">
            <a:noFill/>
            <a:miter lim="800000"/>
            <a:headEnd/>
            <a:tailEnd/>
          </a:ln>
          <a:effectLst/>
        </p:spPr>
      </p:pic>
      <p:pic>
        <p:nvPicPr>
          <p:cNvPr id="39938" name="Picture 2"/>
          <p:cNvPicPr>
            <a:picLocks noChangeAspect="1" noChangeArrowheads="1"/>
          </p:cNvPicPr>
          <p:nvPr/>
        </p:nvPicPr>
        <p:blipFill>
          <a:blip r:embed="rId3"/>
          <a:srcRect/>
          <a:stretch>
            <a:fillRect/>
          </a:stretch>
        </p:blipFill>
        <p:spPr bwMode="auto">
          <a:xfrm>
            <a:off x="152400" y="4177536"/>
            <a:ext cx="10998972" cy="1791936"/>
          </a:xfrm>
          <a:prstGeom prst="rect">
            <a:avLst/>
          </a:prstGeom>
          <a:noFill/>
          <a:ln w="9525">
            <a:noFill/>
            <a:miter lim="800000"/>
            <a:headEnd/>
            <a:tailEnd/>
          </a:ln>
          <a:effectLst/>
        </p:spPr>
      </p:pic>
      <p:sp>
        <p:nvSpPr>
          <p:cNvPr id="2" name="TextBox 1"/>
          <p:cNvSpPr txBox="1"/>
          <p:nvPr/>
        </p:nvSpPr>
        <p:spPr>
          <a:xfrm>
            <a:off x="130126" y="260432"/>
            <a:ext cx="4267200" cy="707886"/>
          </a:xfrm>
          <a:prstGeom prst="rect">
            <a:avLst/>
          </a:prstGeom>
          <a:noFill/>
        </p:spPr>
        <p:txBody>
          <a:bodyPr wrap="square" rtlCol="0">
            <a:spAutoFit/>
          </a:bodyPr>
          <a:lstStyle/>
          <a:p>
            <a:r>
              <a:rPr lang="en-US" sz="4000" b="1" dirty="0">
                <a:solidFill>
                  <a:schemeClr val="bg1"/>
                </a:solidFill>
              </a:rPr>
              <a:t>Solution</a:t>
            </a:r>
          </a:p>
        </p:txBody>
      </p:sp>
    </p:spTree>
    <p:extLst>
      <p:ext uri="{BB962C8B-B14F-4D97-AF65-F5344CB8AC3E}">
        <p14:creationId xmlns:p14="http://schemas.microsoft.com/office/powerpoint/2010/main" val="56102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A4B214-EE3B-48DE-9402-23100A7A65CC}" type="slidenum">
              <a:rPr lang="en-GB" smtClean="0"/>
              <a:pPr/>
              <a:t>21</a:t>
            </a:fld>
            <a:endParaRPr lang="en-GB"/>
          </a:p>
        </p:txBody>
      </p:sp>
      <p:pic>
        <p:nvPicPr>
          <p:cNvPr id="38913" name="Picture 1"/>
          <p:cNvPicPr>
            <a:picLocks noChangeAspect="1" noChangeArrowheads="1"/>
          </p:cNvPicPr>
          <p:nvPr/>
        </p:nvPicPr>
        <p:blipFill>
          <a:blip r:embed="rId2"/>
          <a:srcRect/>
          <a:stretch>
            <a:fillRect/>
          </a:stretch>
        </p:blipFill>
        <p:spPr bwMode="auto">
          <a:xfrm>
            <a:off x="381001" y="1219200"/>
            <a:ext cx="11353799" cy="1933571"/>
          </a:xfrm>
          <a:prstGeom prst="rect">
            <a:avLst/>
          </a:prstGeom>
          <a:noFill/>
          <a:ln w="9525">
            <a:noFill/>
            <a:miter lim="800000"/>
            <a:headEnd/>
            <a:tailEnd/>
          </a:ln>
          <a:effectLst/>
        </p:spPr>
      </p:pic>
      <p:sp>
        <p:nvSpPr>
          <p:cNvPr id="5" name="Rectangle 4"/>
          <p:cNvSpPr/>
          <p:nvPr/>
        </p:nvSpPr>
        <p:spPr>
          <a:xfrm>
            <a:off x="120403" y="378414"/>
            <a:ext cx="2927596" cy="584775"/>
          </a:xfrm>
          <a:prstGeom prst="rect">
            <a:avLst/>
          </a:prstGeom>
        </p:spPr>
        <p:txBody>
          <a:bodyPr wrap="none">
            <a:spAutoFit/>
          </a:bodyPr>
          <a:lstStyle/>
          <a:p>
            <a:r>
              <a:rPr lang="en-GB" sz="3200" b="1" dirty="0">
                <a:solidFill>
                  <a:schemeClr val="bg1"/>
                </a:solidFill>
              </a:rPr>
              <a:t>Greedy Solution</a:t>
            </a:r>
          </a:p>
        </p:txBody>
      </p:sp>
      <p:pic>
        <p:nvPicPr>
          <p:cNvPr id="38914" name="Picture 2"/>
          <p:cNvPicPr>
            <a:picLocks noChangeAspect="1" noChangeArrowheads="1"/>
          </p:cNvPicPr>
          <p:nvPr/>
        </p:nvPicPr>
        <p:blipFill>
          <a:blip r:embed="rId3"/>
          <a:srcRect/>
          <a:stretch>
            <a:fillRect/>
          </a:stretch>
        </p:blipFill>
        <p:spPr bwMode="auto">
          <a:xfrm>
            <a:off x="381000" y="3409954"/>
            <a:ext cx="5333999" cy="2946398"/>
          </a:xfrm>
          <a:prstGeom prst="rect">
            <a:avLst/>
          </a:prstGeom>
          <a:noFill/>
          <a:ln w="9525">
            <a:noFill/>
            <a:miter lim="800000"/>
            <a:headEnd/>
            <a:tailEnd/>
          </a:ln>
          <a:effectLst/>
        </p:spPr>
      </p:pic>
      <p:pic>
        <p:nvPicPr>
          <p:cNvPr id="6" name="Picture 1"/>
          <p:cNvPicPr>
            <a:picLocks noChangeAspect="1" noChangeArrowheads="1"/>
          </p:cNvPicPr>
          <p:nvPr/>
        </p:nvPicPr>
        <p:blipFill>
          <a:blip r:embed="rId4"/>
          <a:srcRect/>
          <a:stretch>
            <a:fillRect/>
          </a:stretch>
        </p:blipFill>
        <p:spPr bwMode="auto">
          <a:xfrm>
            <a:off x="6096000" y="3409954"/>
            <a:ext cx="5638800" cy="2946398"/>
          </a:xfrm>
          <a:prstGeom prst="rect">
            <a:avLst/>
          </a:prstGeom>
          <a:noFill/>
          <a:ln w="9525">
            <a:noFill/>
            <a:miter lim="800000"/>
            <a:headEnd/>
            <a:tailEnd/>
          </a:ln>
          <a:effectLst/>
        </p:spPr>
      </p:pic>
    </p:spTree>
    <p:extLst>
      <p:ext uri="{BB962C8B-B14F-4D97-AF65-F5344CB8AC3E}">
        <p14:creationId xmlns:p14="http://schemas.microsoft.com/office/powerpoint/2010/main" val="2469152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3A4B214-EE3B-48DE-9402-23100A7A65CC}" type="slidenum">
              <a:rPr lang="en-GB" smtClean="0"/>
              <a:pPr/>
              <a:t>22</a:t>
            </a:fld>
            <a:endParaRPr lang="en-GB"/>
          </a:p>
        </p:txBody>
      </p:sp>
      <p:sp>
        <p:nvSpPr>
          <p:cNvPr id="8" name="TextBox 7"/>
          <p:cNvSpPr txBox="1"/>
          <p:nvPr/>
        </p:nvSpPr>
        <p:spPr>
          <a:xfrm>
            <a:off x="304800" y="1163610"/>
            <a:ext cx="11506200" cy="430887"/>
          </a:xfrm>
          <a:prstGeom prst="rect">
            <a:avLst/>
          </a:prstGeom>
          <a:solidFill>
            <a:schemeClr val="tx1">
              <a:lumMod val="85000"/>
              <a:lumOff val="15000"/>
            </a:schemeClr>
          </a:solidFill>
        </p:spPr>
        <p:txBody>
          <a:bodyPr wrap="square" rtlCol="0">
            <a:spAutoFit/>
          </a:bodyPr>
          <a:lstStyle/>
          <a:p>
            <a:endParaRPr lang="en-GB" sz="2200" b="1" dirty="0"/>
          </a:p>
        </p:txBody>
      </p:sp>
      <p:sp>
        <p:nvSpPr>
          <p:cNvPr id="2" name="Rectangle 1"/>
          <p:cNvSpPr/>
          <p:nvPr/>
        </p:nvSpPr>
        <p:spPr>
          <a:xfrm>
            <a:off x="533400" y="1163610"/>
            <a:ext cx="8929717" cy="50961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04800" y="685800"/>
            <a:ext cx="11353800" cy="1231106"/>
          </a:xfrm>
          <a:prstGeom prst="rect">
            <a:avLst/>
          </a:prstGeom>
          <a:noFill/>
          <a:ln>
            <a:noFill/>
          </a:ln>
        </p:spPr>
        <p:txBody>
          <a:bodyPr wrap="square" rtlCol="0">
            <a:spAutoFit/>
          </a:bodyPr>
          <a:lstStyle/>
          <a:p>
            <a:endParaRPr lang="en-US" sz="2800" b="1" dirty="0">
              <a:solidFill>
                <a:schemeClr val="bg1"/>
              </a:solidFill>
            </a:endParaRPr>
          </a:p>
          <a:p>
            <a:r>
              <a:rPr lang="en-US" sz="2800" b="1" dirty="0">
                <a:solidFill>
                  <a:schemeClr val="bg1"/>
                </a:solidFill>
              </a:rPr>
              <a:t>3.  We select A (as a whole), then B (as a whole), then C (2/3 of C) </a:t>
            </a:r>
            <a:endParaRPr lang="en-GB" sz="2800" b="1" dirty="0">
              <a:solidFill>
                <a:schemeClr val="bg1"/>
              </a:solidFill>
            </a:endParaRPr>
          </a:p>
          <a:p>
            <a:endParaRPr lang="en-US" dirty="0">
              <a:solidFill>
                <a:schemeClr val="bg1"/>
              </a:solidFill>
            </a:endParaRPr>
          </a:p>
        </p:txBody>
      </p:sp>
      <p:pic>
        <p:nvPicPr>
          <p:cNvPr id="9" name="Picture 8"/>
          <p:cNvPicPr>
            <a:picLocks noChangeAspect="1"/>
          </p:cNvPicPr>
          <p:nvPr/>
        </p:nvPicPr>
        <p:blipFill>
          <a:blip r:embed="rId2"/>
          <a:stretch>
            <a:fillRect/>
          </a:stretch>
        </p:blipFill>
        <p:spPr>
          <a:xfrm>
            <a:off x="304800" y="1825627"/>
            <a:ext cx="8839200" cy="4895850"/>
          </a:xfrm>
          <a:prstGeom prst="rect">
            <a:avLst/>
          </a:prstGeom>
        </p:spPr>
      </p:pic>
      <p:pic>
        <p:nvPicPr>
          <p:cNvPr id="10" name="Picture 9"/>
          <p:cNvPicPr>
            <a:picLocks noChangeAspect="1"/>
          </p:cNvPicPr>
          <p:nvPr/>
        </p:nvPicPr>
        <p:blipFill>
          <a:blip r:embed="rId3"/>
          <a:stretch>
            <a:fillRect/>
          </a:stretch>
        </p:blipFill>
        <p:spPr>
          <a:xfrm>
            <a:off x="9106193" y="1825627"/>
            <a:ext cx="2686050" cy="4907573"/>
          </a:xfrm>
          <a:prstGeom prst="rect">
            <a:avLst/>
          </a:prstGeom>
        </p:spPr>
      </p:pic>
    </p:spTree>
    <p:extLst>
      <p:ext uri="{BB962C8B-B14F-4D97-AF65-F5344CB8AC3E}">
        <p14:creationId xmlns:p14="http://schemas.microsoft.com/office/powerpoint/2010/main" val="165090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5"/>
          <p:cNvSpPr>
            <a:spLocks noChangeArrowheads="1"/>
          </p:cNvSpPr>
          <p:nvPr/>
        </p:nvSpPr>
        <p:spPr bwMode="auto">
          <a:xfrm>
            <a:off x="360535" y="1304531"/>
            <a:ext cx="11515318" cy="4888226"/>
          </a:xfrm>
          <a:prstGeom prst="rect">
            <a:avLst/>
          </a:prstGeom>
          <a:noFill/>
          <a:ln w="9525">
            <a:noFill/>
            <a:miter lim="800000"/>
            <a:headEnd/>
            <a:tailEnd/>
          </a:ln>
        </p:spPr>
        <p:txBody>
          <a:bodyPr/>
          <a:lstStyle/>
          <a:p>
            <a:pPr marL="342900" indent="-342900" algn="just">
              <a:spcBef>
                <a:spcPct val="20000"/>
              </a:spcBef>
              <a:buClr>
                <a:srgbClr val="002060"/>
              </a:buClr>
              <a:buFont typeface="Wingdings" pitchFamily="2" charset="2"/>
              <a:buChar char="Ø"/>
            </a:pPr>
            <a:r>
              <a:rPr lang="en-US" sz="2000" dirty="0">
                <a:latin typeface="Times New Roman" panose="02020603050405020304" pitchFamily="18" charset="0"/>
                <a:cs typeface="Times New Roman" panose="02020603050405020304" pitchFamily="18" charset="0"/>
              </a:rPr>
              <a:t>A </a:t>
            </a:r>
            <a:r>
              <a:rPr lang="en-US" sz="2000" i="1" dirty="0">
                <a:solidFill>
                  <a:srgbClr val="002060"/>
                </a:solidFill>
                <a:latin typeface="Times New Roman" panose="02020603050405020304" pitchFamily="18" charset="0"/>
                <a:cs typeface="Times New Roman" panose="02020603050405020304" pitchFamily="18" charset="0"/>
              </a:rPr>
              <a:t>Tree</a:t>
            </a:r>
            <a:r>
              <a:rPr lang="en-US" sz="2000" dirty="0">
                <a:latin typeface="Times New Roman" panose="02020603050405020304" pitchFamily="18" charset="0"/>
                <a:cs typeface="Times New Roman" panose="02020603050405020304" pitchFamily="18" charset="0"/>
              </a:rPr>
              <a:t> is a connected undirected graph that contains no cycles is called a tree</a:t>
            </a:r>
          </a:p>
          <a:p>
            <a:pPr marL="342900" indent="-342900" algn="just">
              <a:spcBef>
                <a:spcPct val="20000"/>
              </a:spcBef>
              <a:buClr>
                <a:srgbClr val="002060"/>
              </a:buClr>
              <a:buFont typeface="Wingdings" pitchFamily="2" charset="2"/>
              <a:buChar char="Ø"/>
            </a:pPr>
            <a:r>
              <a:rPr lang="en-US" sz="2000" dirty="0">
                <a:latin typeface="Times New Roman" panose="02020603050405020304" pitchFamily="18" charset="0"/>
                <a:cs typeface="Times New Roman" panose="02020603050405020304" pitchFamily="18" charset="0"/>
              </a:rPr>
              <a:t>A </a:t>
            </a:r>
            <a:r>
              <a:rPr lang="en-US" sz="2000" i="1" dirty="0">
                <a:solidFill>
                  <a:srgbClr val="002060"/>
                </a:solidFill>
                <a:latin typeface="Times New Roman" panose="02020603050405020304" pitchFamily="18" charset="0"/>
                <a:cs typeface="Times New Roman" panose="02020603050405020304" pitchFamily="18" charset="0"/>
              </a:rPr>
              <a:t>Spanning Tree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 a graph G is a subgraph of G that is a tree and contains all the vertices of G</a:t>
            </a:r>
          </a:p>
          <a:p>
            <a:pPr marL="342900" indent="-342900" algn="just">
              <a:spcBef>
                <a:spcPct val="20000"/>
              </a:spcBef>
              <a:buClr>
                <a:srgbClr val="FF0000"/>
              </a:buClr>
              <a:buFont typeface="Wingdings"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spcBef>
                <a:spcPct val="20000"/>
              </a:spcBef>
              <a:buClr>
                <a:srgbClr val="FF0000"/>
              </a:buClr>
              <a:buFont typeface="Wingdings"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spcBef>
                <a:spcPct val="20000"/>
              </a:spcBef>
              <a:buClr>
                <a:srgbClr val="FF0000"/>
              </a:buClr>
              <a:buFont typeface="Wingdings"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spcBef>
                <a:spcPct val="20000"/>
              </a:spcBef>
              <a:buClr>
                <a:srgbClr val="FF0000"/>
              </a:buClr>
              <a:buFont typeface="Wingdings"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spcBef>
                <a:spcPct val="20000"/>
              </a:spcBef>
              <a:buClr>
                <a:srgbClr val="FF0000"/>
              </a:buClr>
              <a:buFont typeface="Wingdings"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spcBef>
                <a:spcPct val="20000"/>
              </a:spcBef>
              <a:buClr>
                <a:srgbClr val="FF0000"/>
              </a:buClr>
              <a:buFont typeface="Wingdings"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spcBef>
                <a:spcPct val="20000"/>
              </a:spcBef>
              <a:buClr>
                <a:srgbClr val="FF0000"/>
              </a:buClr>
              <a:buFont typeface="Wingdings"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spcBef>
                <a:spcPct val="20000"/>
              </a:spcBef>
              <a:buClr>
                <a:srgbClr val="002060"/>
              </a:buClr>
              <a:buFont typeface="Wingdings" pitchFamily="2" charset="2"/>
              <a:buChar char="Ø"/>
            </a:pPr>
            <a:r>
              <a:rPr lang="en-US" sz="2000" dirty="0">
                <a:latin typeface="Times New Roman" panose="02020603050405020304" pitchFamily="18" charset="0"/>
                <a:cs typeface="Times New Roman" panose="02020603050405020304" pitchFamily="18" charset="0"/>
              </a:rPr>
              <a:t>Properties</a:t>
            </a:r>
          </a:p>
          <a:p>
            <a:pPr marL="742950" lvl="1" indent="-285750" algn="just">
              <a:spcBef>
                <a:spcPct val="20000"/>
              </a:spcBef>
              <a:buClr>
                <a:srgbClr val="002060"/>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spanning tree of a </a:t>
            </a:r>
            <a:r>
              <a:rPr lang="en-US" sz="2000" i="1" dirty="0">
                <a:solidFill>
                  <a:srgbClr val="002060"/>
                </a:solidFill>
                <a:latin typeface="Times New Roman" panose="02020603050405020304" pitchFamily="18" charset="0"/>
                <a:cs typeface="Times New Roman" panose="02020603050405020304" pitchFamily="18" charset="0"/>
              </a:rPr>
              <a:t>n</a:t>
            </a:r>
            <a:r>
              <a:rPr lang="en-US" sz="2000" dirty="0">
                <a:solidFill>
                  <a:srgbClr val="002060"/>
                </a:solidFill>
                <a:latin typeface="Times New Roman" panose="02020603050405020304" pitchFamily="18" charset="0"/>
                <a:cs typeface="Times New Roman" panose="02020603050405020304" pitchFamily="18" charset="0"/>
              </a:rPr>
              <a:t> –vertex </a:t>
            </a:r>
            <a:r>
              <a:rPr lang="en-US" sz="2000" dirty="0">
                <a:latin typeface="Times New Roman" panose="02020603050405020304" pitchFamily="18" charset="0"/>
                <a:cs typeface="Times New Roman" panose="02020603050405020304" pitchFamily="18" charset="0"/>
              </a:rPr>
              <a:t>Undirected Graph has exactly </a:t>
            </a:r>
            <a:r>
              <a:rPr lang="en-US" sz="2000" i="1" dirty="0">
                <a:solidFill>
                  <a:srgbClr val="002060"/>
                </a:solidFill>
                <a:latin typeface="Times New Roman" panose="02020603050405020304" pitchFamily="18" charset="0"/>
                <a:cs typeface="Times New Roman" panose="02020603050405020304" pitchFamily="18" charset="0"/>
              </a:rPr>
              <a:t>n</a:t>
            </a:r>
            <a:r>
              <a:rPr lang="en-US" sz="2000" dirty="0">
                <a:solidFill>
                  <a:srgbClr val="002060"/>
                </a:solidFill>
                <a:latin typeface="Times New Roman" panose="02020603050405020304" pitchFamily="18" charset="0"/>
                <a:cs typeface="Times New Roman" panose="02020603050405020304" pitchFamily="18" charset="0"/>
              </a:rPr>
              <a:t>-1 edges</a:t>
            </a:r>
          </a:p>
          <a:p>
            <a:pPr marL="742950" lvl="1" indent="-285750">
              <a:spcBef>
                <a:spcPct val="20000"/>
              </a:spcBef>
              <a:buClr>
                <a:srgbClr val="002060"/>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It connects all the Vertices in the Graph</a:t>
            </a:r>
          </a:p>
          <a:p>
            <a:pPr marL="742950" lvl="1" indent="-285750">
              <a:spcBef>
                <a:spcPct val="20000"/>
              </a:spcBef>
              <a:buClr>
                <a:srgbClr val="002060"/>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 Spanning tree has </a:t>
            </a:r>
            <a:r>
              <a:rPr lang="en-US" sz="2000" i="1" dirty="0">
                <a:solidFill>
                  <a:srgbClr val="002060"/>
                </a:solidFill>
                <a:latin typeface="Times New Roman" panose="02020603050405020304" pitchFamily="18" charset="0"/>
                <a:cs typeface="Times New Roman" panose="02020603050405020304" pitchFamily="18" charset="0"/>
              </a:rPr>
              <a:t>no Cycles</a:t>
            </a:r>
            <a:endParaRPr lang="en-US" sz="2000" dirty="0">
              <a:solidFill>
                <a:srgbClr val="002060"/>
              </a:solidFill>
              <a:latin typeface="Times New Roman" panose="02020603050405020304" pitchFamily="18" charset="0"/>
              <a:cs typeface="Times New Roman" panose="02020603050405020304" pitchFamily="18" charset="0"/>
            </a:endParaRPr>
          </a:p>
        </p:txBody>
      </p:sp>
      <p:grpSp>
        <p:nvGrpSpPr>
          <p:cNvPr id="2" name="Group 6"/>
          <p:cNvGrpSpPr>
            <a:grpSpLocks/>
          </p:cNvGrpSpPr>
          <p:nvPr/>
        </p:nvGrpSpPr>
        <p:grpSpPr bwMode="auto">
          <a:xfrm>
            <a:off x="360535" y="2438400"/>
            <a:ext cx="10744200" cy="1977774"/>
            <a:chOff x="576" y="2544"/>
            <a:chExt cx="4944" cy="1594"/>
          </a:xfrm>
        </p:grpSpPr>
        <p:grpSp>
          <p:nvGrpSpPr>
            <p:cNvPr id="3" name="Group 7"/>
            <p:cNvGrpSpPr>
              <a:grpSpLocks/>
            </p:cNvGrpSpPr>
            <p:nvPr/>
          </p:nvGrpSpPr>
          <p:grpSpPr bwMode="auto">
            <a:xfrm>
              <a:off x="720" y="2544"/>
              <a:ext cx="1136" cy="1203"/>
              <a:chOff x="1296" y="2784"/>
              <a:chExt cx="1136" cy="1203"/>
            </a:xfrm>
          </p:grpSpPr>
          <p:sp>
            <p:nvSpPr>
              <p:cNvPr id="57374" name="Oval 8"/>
              <p:cNvSpPr>
                <a:spLocks noChangeArrowheads="1"/>
              </p:cNvSpPr>
              <p:nvPr/>
            </p:nvSpPr>
            <p:spPr bwMode="auto">
              <a:xfrm>
                <a:off x="1296" y="2832"/>
                <a:ext cx="272" cy="291"/>
              </a:xfrm>
              <a:prstGeom prst="ellipse">
                <a:avLst/>
              </a:prstGeom>
              <a:solidFill>
                <a:schemeClr val="hlink"/>
              </a:solidFill>
              <a:ln w="9525">
                <a:solidFill>
                  <a:srgbClr val="000000"/>
                </a:solidFill>
                <a:round/>
                <a:headEnd/>
                <a:tailEnd/>
              </a:ln>
            </p:spPr>
            <p:txBody>
              <a:bodyPr/>
              <a:lstStyle/>
              <a:p>
                <a:r>
                  <a:rPr lang="en-US" sz="2000" b="1" dirty="0"/>
                  <a:t>A</a:t>
                </a:r>
              </a:p>
            </p:txBody>
          </p:sp>
          <p:sp>
            <p:nvSpPr>
              <p:cNvPr id="57375" name="Oval 9"/>
              <p:cNvSpPr>
                <a:spLocks noChangeArrowheads="1"/>
              </p:cNvSpPr>
              <p:nvPr/>
            </p:nvSpPr>
            <p:spPr bwMode="auto">
              <a:xfrm>
                <a:off x="2064" y="3696"/>
                <a:ext cx="272" cy="291"/>
              </a:xfrm>
              <a:prstGeom prst="ellipse">
                <a:avLst/>
              </a:prstGeom>
              <a:solidFill>
                <a:schemeClr val="hlink"/>
              </a:solidFill>
              <a:ln w="9525">
                <a:solidFill>
                  <a:srgbClr val="000000"/>
                </a:solidFill>
                <a:round/>
                <a:headEnd/>
                <a:tailEnd/>
              </a:ln>
            </p:spPr>
            <p:txBody>
              <a:bodyPr/>
              <a:lstStyle/>
              <a:p>
                <a:r>
                  <a:rPr lang="en-US" sz="2000" b="1"/>
                  <a:t>E</a:t>
                </a:r>
              </a:p>
            </p:txBody>
          </p:sp>
          <p:sp>
            <p:nvSpPr>
              <p:cNvPr id="57376" name="Oval 10"/>
              <p:cNvSpPr>
                <a:spLocks noChangeArrowheads="1"/>
              </p:cNvSpPr>
              <p:nvPr/>
            </p:nvSpPr>
            <p:spPr bwMode="auto">
              <a:xfrm>
                <a:off x="1296" y="3504"/>
                <a:ext cx="272" cy="291"/>
              </a:xfrm>
              <a:prstGeom prst="ellipse">
                <a:avLst/>
              </a:prstGeom>
              <a:solidFill>
                <a:schemeClr val="hlink"/>
              </a:solidFill>
              <a:ln w="9525">
                <a:solidFill>
                  <a:srgbClr val="000000"/>
                </a:solidFill>
                <a:round/>
                <a:headEnd/>
                <a:tailEnd/>
              </a:ln>
            </p:spPr>
            <p:txBody>
              <a:bodyPr/>
              <a:lstStyle/>
              <a:p>
                <a:r>
                  <a:rPr lang="en-US" sz="2000" b="1" dirty="0"/>
                  <a:t>D</a:t>
                </a:r>
              </a:p>
            </p:txBody>
          </p:sp>
          <p:sp>
            <p:nvSpPr>
              <p:cNvPr id="57377" name="Oval 11"/>
              <p:cNvSpPr>
                <a:spLocks noChangeArrowheads="1"/>
              </p:cNvSpPr>
              <p:nvPr/>
            </p:nvSpPr>
            <p:spPr bwMode="auto">
              <a:xfrm>
                <a:off x="1728" y="3168"/>
                <a:ext cx="272" cy="291"/>
              </a:xfrm>
              <a:prstGeom prst="ellipse">
                <a:avLst/>
              </a:prstGeom>
              <a:solidFill>
                <a:schemeClr val="hlink"/>
              </a:solidFill>
              <a:ln w="9525">
                <a:solidFill>
                  <a:srgbClr val="000000"/>
                </a:solidFill>
                <a:round/>
                <a:headEnd/>
                <a:tailEnd/>
              </a:ln>
            </p:spPr>
            <p:txBody>
              <a:bodyPr/>
              <a:lstStyle/>
              <a:p>
                <a:r>
                  <a:rPr lang="en-US" sz="2000" b="1"/>
                  <a:t>C</a:t>
                </a:r>
              </a:p>
            </p:txBody>
          </p:sp>
          <p:sp>
            <p:nvSpPr>
              <p:cNvPr id="57378" name="Oval 12"/>
              <p:cNvSpPr>
                <a:spLocks noChangeArrowheads="1"/>
              </p:cNvSpPr>
              <p:nvPr/>
            </p:nvSpPr>
            <p:spPr bwMode="auto">
              <a:xfrm>
                <a:off x="2160" y="2784"/>
                <a:ext cx="272" cy="291"/>
              </a:xfrm>
              <a:prstGeom prst="ellipse">
                <a:avLst/>
              </a:prstGeom>
              <a:solidFill>
                <a:schemeClr val="hlink"/>
              </a:solidFill>
              <a:ln w="9525">
                <a:solidFill>
                  <a:srgbClr val="000000"/>
                </a:solidFill>
                <a:round/>
                <a:headEnd/>
                <a:tailEnd/>
              </a:ln>
            </p:spPr>
            <p:txBody>
              <a:bodyPr/>
              <a:lstStyle/>
              <a:p>
                <a:r>
                  <a:rPr lang="en-US" sz="2000" b="1"/>
                  <a:t>B</a:t>
                </a:r>
              </a:p>
            </p:txBody>
          </p:sp>
          <p:sp>
            <p:nvSpPr>
              <p:cNvPr id="57379" name="Line 13"/>
              <p:cNvSpPr>
                <a:spLocks noChangeShapeType="1"/>
              </p:cNvSpPr>
              <p:nvPr/>
            </p:nvSpPr>
            <p:spPr bwMode="auto">
              <a:xfrm>
                <a:off x="1536" y="3072"/>
                <a:ext cx="192" cy="197"/>
              </a:xfrm>
              <a:prstGeom prst="line">
                <a:avLst/>
              </a:prstGeom>
              <a:noFill/>
              <a:ln w="38100">
                <a:solidFill>
                  <a:schemeClr val="tx1"/>
                </a:solidFill>
                <a:round/>
                <a:headEnd/>
                <a:tailEnd/>
              </a:ln>
            </p:spPr>
            <p:txBody>
              <a:bodyPr wrap="none"/>
              <a:lstStyle/>
              <a:p>
                <a:endParaRPr lang="ar-JO"/>
              </a:p>
            </p:txBody>
          </p:sp>
          <p:sp>
            <p:nvSpPr>
              <p:cNvPr id="57380" name="Line 14"/>
              <p:cNvSpPr>
                <a:spLocks noChangeShapeType="1"/>
              </p:cNvSpPr>
              <p:nvPr/>
            </p:nvSpPr>
            <p:spPr bwMode="auto">
              <a:xfrm>
                <a:off x="1568" y="2924"/>
                <a:ext cx="592" cy="4"/>
              </a:xfrm>
              <a:prstGeom prst="line">
                <a:avLst/>
              </a:prstGeom>
              <a:noFill/>
              <a:ln w="38100">
                <a:solidFill>
                  <a:schemeClr val="tx1"/>
                </a:solidFill>
                <a:round/>
                <a:headEnd/>
                <a:tailEnd/>
              </a:ln>
            </p:spPr>
            <p:txBody>
              <a:bodyPr wrap="none"/>
              <a:lstStyle/>
              <a:p>
                <a:endParaRPr lang="ar-JO"/>
              </a:p>
            </p:txBody>
          </p:sp>
          <p:sp>
            <p:nvSpPr>
              <p:cNvPr id="57381" name="Line 15"/>
              <p:cNvSpPr>
                <a:spLocks noChangeShapeType="1"/>
              </p:cNvSpPr>
              <p:nvPr/>
            </p:nvSpPr>
            <p:spPr bwMode="auto">
              <a:xfrm flipH="1">
                <a:off x="1984" y="3072"/>
                <a:ext cx="272" cy="236"/>
              </a:xfrm>
              <a:prstGeom prst="line">
                <a:avLst/>
              </a:prstGeom>
              <a:noFill/>
              <a:ln w="38100">
                <a:solidFill>
                  <a:schemeClr val="tx1"/>
                </a:solidFill>
                <a:round/>
                <a:headEnd/>
                <a:tailEnd/>
              </a:ln>
            </p:spPr>
            <p:txBody>
              <a:bodyPr wrap="none"/>
              <a:lstStyle/>
              <a:p>
                <a:endParaRPr lang="ar-JO"/>
              </a:p>
            </p:txBody>
          </p:sp>
          <p:sp>
            <p:nvSpPr>
              <p:cNvPr id="57382" name="Line 16"/>
              <p:cNvSpPr>
                <a:spLocks noChangeShapeType="1"/>
              </p:cNvSpPr>
              <p:nvPr/>
            </p:nvSpPr>
            <p:spPr bwMode="auto">
              <a:xfrm>
                <a:off x="1440" y="3120"/>
                <a:ext cx="0" cy="384"/>
              </a:xfrm>
              <a:prstGeom prst="line">
                <a:avLst/>
              </a:prstGeom>
              <a:noFill/>
              <a:ln w="38100">
                <a:solidFill>
                  <a:schemeClr val="tx1"/>
                </a:solidFill>
                <a:round/>
                <a:headEnd/>
                <a:tailEnd/>
              </a:ln>
            </p:spPr>
            <p:txBody>
              <a:bodyPr wrap="none"/>
              <a:lstStyle/>
              <a:p>
                <a:endParaRPr lang="ar-JO"/>
              </a:p>
            </p:txBody>
          </p:sp>
          <p:sp>
            <p:nvSpPr>
              <p:cNvPr id="57383" name="Line 17"/>
              <p:cNvSpPr>
                <a:spLocks noChangeShapeType="1"/>
              </p:cNvSpPr>
              <p:nvPr/>
            </p:nvSpPr>
            <p:spPr bwMode="auto">
              <a:xfrm>
                <a:off x="1568" y="3653"/>
                <a:ext cx="496" cy="187"/>
              </a:xfrm>
              <a:prstGeom prst="line">
                <a:avLst/>
              </a:prstGeom>
              <a:noFill/>
              <a:ln w="38100">
                <a:solidFill>
                  <a:schemeClr val="tx1"/>
                </a:solidFill>
                <a:round/>
                <a:headEnd/>
                <a:tailEnd/>
              </a:ln>
            </p:spPr>
            <p:txBody>
              <a:bodyPr wrap="none"/>
              <a:lstStyle/>
              <a:p>
                <a:endParaRPr lang="ar-JO"/>
              </a:p>
            </p:txBody>
          </p:sp>
          <p:sp>
            <p:nvSpPr>
              <p:cNvPr id="57384" name="Line 18"/>
              <p:cNvSpPr>
                <a:spLocks noChangeShapeType="1"/>
              </p:cNvSpPr>
              <p:nvPr/>
            </p:nvSpPr>
            <p:spPr bwMode="auto">
              <a:xfrm flipH="1">
                <a:off x="2256" y="3072"/>
                <a:ext cx="96" cy="624"/>
              </a:xfrm>
              <a:prstGeom prst="line">
                <a:avLst/>
              </a:prstGeom>
              <a:noFill/>
              <a:ln w="38100">
                <a:solidFill>
                  <a:schemeClr val="tx1"/>
                </a:solidFill>
                <a:round/>
                <a:headEnd/>
                <a:tailEnd/>
              </a:ln>
            </p:spPr>
            <p:txBody>
              <a:bodyPr wrap="none"/>
              <a:lstStyle/>
              <a:p>
                <a:endParaRPr lang="ar-JO"/>
              </a:p>
            </p:txBody>
          </p:sp>
          <p:sp>
            <p:nvSpPr>
              <p:cNvPr id="57385" name="Line 19"/>
              <p:cNvSpPr>
                <a:spLocks noChangeShapeType="1"/>
              </p:cNvSpPr>
              <p:nvPr/>
            </p:nvSpPr>
            <p:spPr bwMode="auto">
              <a:xfrm>
                <a:off x="1926" y="3432"/>
                <a:ext cx="202" cy="303"/>
              </a:xfrm>
              <a:prstGeom prst="line">
                <a:avLst/>
              </a:prstGeom>
              <a:noFill/>
              <a:ln w="38100">
                <a:solidFill>
                  <a:schemeClr val="tx1"/>
                </a:solidFill>
                <a:round/>
                <a:headEnd/>
                <a:tailEnd/>
              </a:ln>
            </p:spPr>
            <p:txBody>
              <a:bodyPr wrap="none"/>
              <a:lstStyle/>
              <a:p>
                <a:endParaRPr lang="ar-JO"/>
              </a:p>
            </p:txBody>
          </p:sp>
        </p:grpSp>
        <p:grpSp>
          <p:nvGrpSpPr>
            <p:cNvPr id="4" name="Group 20"/>
            <p:cNvGrpSpPr>
              <a:grpSpLocks/>
            </p:cNvGrpSpPr>
            <p:nvPr/>
          </p:nvGrpSpPr>
          <p:grpSpPr bwMode="auto">
            <a:xfrm>
              <a:off x="2640" y="2544"/>
              <a:ext cx="1136" cy="1203"/>
              <a:chOff x="3360" y="2592"/>
              <a:chExt cx="1136" cy="1203"/>
            </a:xfrm>
          </p:grpSpPr>
          <p:sp>
            <p:nvSpPr>
              <p:cNvPr id="57365" name="Oval 21"/>
              <p:cNvSpPr>
                <a:spLocks noChangeArrowheads="1"/>
              </p:cNvSpPr>
              <p:nvPr/>
            </p:nvSpPr>
            <p:spPr bwMode="auto">
              <a:xfrm>
                <a:off x="3360" y="2640"/>
                <a:ext cx="272" cy="291"/>
              </a:xfrm>
              <a:prstGeom prst="ellipse">
                <a:avLst/>
              </a:prstGeom>
              <a:solidFill>
                <a:schemeClr val="hlink"/>
              </a:solidFill>
              <a:ln w="9525">
                <a:solidFill>
                  <a:srgbClr val="000000"/>
                </a:solidFill>
                <a:round/>
                <a:headEnd/>
                <a:tailEnd/>
              </a:ln>
            </p:spPr>
            <p:txBody>
              <a:bodyPr/>
              <a:lstStyle/>
              <a:p>
                <a:r>
                  <a:rPr lang="en-US" sz="2000" b="1"/>
                  <a:t>A</a:t>
                </a:r>
              </a:p>
            </p:txBody>
          </p:sp>
          <p:sp>
            <p:nvSpPr>
              <p:cNvPr id="57366" name="Oval 22"/>
              <p:cNvSpPr>
                <a:spLocks noChangeArrowheads="1"/>
              </p:cNvSpPr>
              <p:nvPr/>
            </p:nvSpPr>
            <p:spPr bwMode="auto">
              <a:xfrm>
                <a:off x="4128" y="3504"/>
                <a:ext cx="272" cy="291"/>
              </a:xfrm>
              <a:prstGeom prst="ellipse">
                <a:avLst/>
              </a:prstGeom>
              <a:solidFill>
                <a:schemeClr val="hlink"/>
              </a:solidFill>
              <a:ln w="9525">
                <a:solidFill>
                  <a:srgbClr val="000000"/>
                </a:solidFill>
                <a:round/>
                <a:headEnd/>
                <a:tailEnd/>
              </a:ln>
            </p:spPr>
            <p:txBody>
              <a:bodyPr/>
              <a:lstStyle/>
              <a:p>
                <a:r>
                  <a:rPr lang="en-US" sz="2000" b="1"/>
                  <a:t>E</a:t>
                </a:r>
              </a:p>
            </p:txBody>
          </p:sp>
          <p:sp>
            <p:nvSpPr>
              <p:cNvPr id="57367" name="Oval 23"/>
              <p:cNvSpPr>
                <a:spLocks noChangeArrowheads="1"/>
              </p:cNvSpPr>
              <p:nvPr/>
            </p:nvSpPr>
            <p:spPr bwMode="auto">
              <a:xfrm>
                <a:off x="3360" y="3312"/>
                <a:ext cx="272" cy="291"/>
              </a:xfrm>
              <a:prstGeom prst="ellipse">
                <a:avLst/>
              </a:prstGeom>
              <a:solidFill>
                <a:schemeClr val="hlink"/>
              </a:solidFill>
              <a:ln w="9525">
                <a:solidFill>
                  <a:srgbClr val="000000"/>
                </a:solidFill>
                <a:round/>
                <a:headEnd/>
                <a:tailEnd/>
              </a:ln>
            </p:spPr>
            <p:txBody>
              <a:bodyPr/>
              <a:lstStyle/>
              <a:p>
                <a:r>
                  <a:rPr lang="en-US" sz="2000" b="1"/>
                  <a:t>D</a:t>
                </a:r>
              </a:p>
            </p:txBody>
          </p:sp>
          <p:sp>
            <p:nvSpPr>
              <p:cNvPr id="57368" name="Oval 24"/>
              <p:cNvSpPr>
                <a:spLocks noChangeArrowheads="1"/>
              </p:cNvSpPr>
              <p:nvPr/>
            </p:nvSpPr>
            <p:spPr bwMode="auto">
              <a:xfrm>
                <a:off x="3792" y="2976"/>
                <a:ext cx="272" cy="291"/>
              </a:xfrm>
              <a:prstGeom prst="ellipse">
                <a:avLst/>
              </a:prstGeom>
              <a:solidFill>
                <a:schemeClr val="hlink"/>
              </a:solidFill>
              <a:ln w="9525">
                <a:solidFill>
                  <a:srgbClr val="000000"/>
                </a:solidFill>
                <a:round/>
                <a:headEnd/>
                <a:tailEnd/>
              </a:ln>
            </p:spPr>
            <p:txBody>
              <a:bodyPr/>
              <a:lstStyle/>
              <a:p>
                <a:r>
                  <a:rPr lang="en-US" sz="2000" b="1"/>
                  <a:t>C</a:t>
                </a:r>
              </a:p>
            </p:txBody>
          </p:sp>
          <p:sp>
            <p:nvSpPr>
              <p:cNvPr id="57369" name="Oval 25"/>
              <p:cNvSpPr>
                <a:spLocks noChangeArrowheads="1"/>
              </p:cNvSpPr>
              <p:nvPr/>
            </p:nvSpPr>
            <p:spPr bwMode="auto">
              <a:xfrm>
                <a:off x="4224" y="2592"/>
                <a:ext cx="272" cy="291"/>
              </a:xfrm>
              <a:prstGeom prst="ellipse">
                <a:avLst/>
              </a:prstGeom>
              <a:solidFill>
                <a:schemeClr val="hlink"/>
              </a:solidFill>
              <a:ln w="9525">
                <a:solidFill>
                  <a:srgbClr val="000000"/>
                </a:solidFill>
                <a:round/>
                <a:headEnd/>
                <a:tailEnd/>
              </a:ln>
            </p:spPr>
            <p:txBody>
              <a:bodyPr/>
              <a:lstStyle/>
              <a:p>
                <a:r>
                  <a:rPr lang="en-US" sz="2000" b="1"/>
                  <a:t>B</a:t>
                </a:r>
              </a:p>
            </p:txBody>
          </p:sp>
          <p:sp>
            <p:nvSpPr>
              <p:cNvPr id="57370" name="Line 26"/>
              <p:cNvSpPr>
                <a:spLocks noChangeShapeType="1"/>
              </p:cNvSpPr>
              <p:nvPr/>
            </p:nvSpPr>
            <p:spPr bwMode="auto">
              <a:xfrm>
                <a:off x="3632" y="2732"/>
                <a:ext cx="592" cy="4"/>
              </a:xfrm>
              <a:prstGeom prst="line">
                <a:avLst/>
              </a:prstGeom>
              <a:noFill/>
              <a:ln w="38100">
                <a:solidFill>
                  <a:schemeClr val="tx1"/>
                </a:solidFill>
                <a:round/>
                <a:headEnd/>
                <a:tailEnd/>
              </a:ln>
            </p:spPr>
            <p:txBody>
              <a:bodyPr wrap="none"/>
              <a:lstStyle/>
              <a:p>
                <a:endParaRPr lang="ar-JO"/>
              </a:p>
            </p:txBody>
          </p:sp>
          <p:sp>
            <p:nvSpPr>
              <p:cNvPr id="57371" name="Line 27"/>
              <p:cNvSpPr>
                <a:spLocks noChangeShapeType="1"/>
              </p:cNvSpPr>
              <p:nvPr/>
            </p:nvSpPr>
            <p:spPr bwMode="auto">
              <a:xfrm flipH="1">
                <a:off x="4048" y="2880"/>
                <a:ext cx="272" cy="192"/>
              </a:xfrm>
              <a:prstGeom prst="line">
                <a:avLst/>
              </a:prstGeom>
              <a:noFill/>
              <a:ln w="38100">
                <a:solidFill>
                  <a:schemeClr val="tx1"/>
                </a:solidFill>
                <a:round/>
                <a:headEnd/>
                <a:tailEnd/>
              </a:ln>
            </p:spPr>
            <p:txBody>
              <a:bodyPr wrap="none"/>
              <a:lstStyle/>
              <a:p>
                <a:endParaRPr lang="ar-JO"/>
              </a:p>
            </p:txBody>
          </p:sp>
          <p:sp>
            <p:nvSpPr>
              <p:cNvPr id="57372" name="Line 28"/>
              <p:cNvSpPr>
                <a:spLocks noChangeShapeType="1"/>
              </p:cNvSpPr>
              <p:nvPr/>
            </p:nvSpPr>
            <p:spPr bwMode="auto">
              <a:xfrm>
                <a:off x="3504" y="2928"/>
                <a:ext cx="0" cy="384"/>
              </a:xfrm>
              <a:prstGeom prst="line">
                <a:avLst/>
              </a:prstGeom>
              <a:noFill/>
              <a:ln w="38100">
                <a:solidFill>
                  <a:schemeClr val="tx1"/>
                </a:solidFill>
                <a:round/>
                <a:headEnd/>
                <a:tailEnd/>
              </a:ln>
            </p:spPr>
            <p:txBody>
              <a:bodyPr wrap="none"/>
              <a:lstStyle/>
              <a:p>
                <a:endParaRPr lang="ar-JO"/>
              </a:p>
            </p:txBody>
          </p:sp>
          <p:sp>
            <p:nvSpPr>
              <p:cNvPr id="57373" name="Line 29"/>
              <p:cNvSpPr>
                <a:spLocks noChangeShapeType="1"/>
              </p:cNvSpPr>
              <p:nvPr/>
            </p:nvSpPr>
            <p:spPr bwMode="auto">
              <a:xfrm flipH="1">
                <a:off x="4320" y="2880"/>
                <a:ext cx="96" cy="624"/>
              </a:xfrm>
              <a:prstGeom prst="line">
                <a:avLst/>
              </a:prstGeom>
              <a:noFill/>
              <a:ln w="38100">
                <a:solidFill>
                  <a:schemeClr val="tx1"/>
                </a:solidFill>
                <a:round/>
                <a:headEnd/>
                <a:tailEnd/>
              </a:ln>
            </p:spPr>
            <p:txBody>
              <a:bodyPr wrap="none"/>
              <a:lstStyle/>
              <a:p>
                <a:endParaRPr lang="ar-JO"/>
              </a:p>
            </p:txBody>
          </p:sp>
        </p:grpSp>
        <p:sp>
          <p:nvSpPr>
            <p:cNvPr id="57352" name="Text Box 30"/>
            <p:cNvSpPr txBox="1">
              <a:spLocks noChangeArrowheads="1"/>
            </p:cNvSpPr>
            <p:nvPr/>
          </p:nvSpPr>
          <p:spPr bwMode="auto">
            <a:xfrm>
              <a:off x="576" y="3790"/>
              <a:ext cx="1871" cy="298"/>
            </a:xfrm>
            <a:prstGeom prst="rect">
              <a:avLst/>
            </a:prstGeom>
            <a:noFill/>
            <a:ln w="9525">
              <a:noFill/>
              <a:miter lim="800000"/>
              <a:headEnd/>
              <a:tailEnd/>
            </a:ln>
          </p:spPr>
          <p:txBody>
            <a:bodyPr>
              <a:spAutoFit/>
            </a:bodyPr>
            <a:lstStyle/>
            <a:p>
              <a:pPr>
                <a:spcBef>
                  <a:spcPct val="50000"/>
                </a:spcBef>
              </a:pPr>
              <a:r>
                <a:rPr lang="en-US" b="1" dirty="0">
                  <a:solidFill>
                    <a:srgbClr val="002060"/>
                  </a:solidFill>
                  <a:latin typeface="Times New Roman" panose="02020603050405020304" pitchFamily="18" charset="0"/>
                  <a:cs typeface="Times New Roman" panose="02020603050405020304" pitchFamily="18" charset="0"/>
                </a:rPr>
                <a:t>Undirected Graph</a:t>
              </a:r>
            </a:p>
          </p:txBody>
        </p:sp>
        <p:sp>
          <p:nvSpPr>
            <p:cNvPr id="57353" name="Text Box 31"/>
            <p:cNvSpPr txBox="1">
              <a:spLocks noChangeArrowheads="1"/>
            </p:cNvSpPr>
            <p:nvPr/>
          </p:nvSpPr>
          <p:spPr bwMode="auto">
            <a:xfrm>
              <a:off x="3216" y="3840"/>
              <a:ext cx="2304" cy="298"/>
            </a:xfrm>
            <a:prstGeom prst="rect">
              <a:avLst/>
            </a:prstGeom>
            <a:noFill/>
            <a:ln w="9525">
              <a:noFill/>
              <a:miter lim="800000"/>
              <a:headEnd/>
              <a:tailEnd/>
            </a:ln>
          </p:spPr>
          <p:txBody>
            <a:bodyPr>
              <a:spAutoFit/>
            </a:bodyPr>
            <a:lstStyle/>
            <a:p>
              <a:pPr>
                <a:spcBef>
                  <a:spcPct val="50000"/>
                </a:spcBef>
              </a:pPr>
              <a:r>
                <a:rPr lang="en-US" b="1" dirty="0">
                  <a:solidFill>
                    <a:srgbClr val="002060"/>
                  </a:solidFill>
                  <a:latin typeface="Times New Roman" panose="02020603050405020304" pitchFamily="18" charset="0"/>
                  <a:cs typeface="Times New Roman" panose="02020603050405020304" pitchFamily="18" charset="0"/>
                </a:rPr>
                <a:t>Some Spanning Trees</a:t>
              </a:r>
            </a:p>
          </p:txBody>
        </p:sp>
        <p:grpSp>
          <p:nvGrpSpPr>
            <p:cNvPr id="5" name="Group 32"/>
            <p:cNvGrpSpPr>
              <a:grpSpLocks/>
            </p:cNvGrpSpPr>
            <p:nvPr/>
          </p:nvGrpSpPr>
          <p:grpSpPr bwMode="auto">
            <a:xfrm>
              <a:off x="4176" y="2544"/>
              <a:ext cx="1136" cy="1203"/>
              <a:chOff x="4416" y="2592"/>
              <a:chExt cx="1136" cy="1203"/>
            </a:xfrm>
          </p:grpSpPr>
          <p:sp>
            <p:nvSpPr>
              <p:cNvPr id="57356" name="Oval 33"/>
              <p:cNvSpPr>
                <a:spLocks noChangeArrowheads="1"/>
              </p:cNvSpPr>
              <p:nvPr/>
            </p:nvSpPr>
            <p:spPr bwMode="auto">
              <a:xfrm>
                <a:off x="4416" y="2640"/>
                <a:ext cx="272" cy="291"/>
              </a:xfrm>
              <a:prstGeom prst="ellipse">
                <a:avLst/>
              </a:prstGeom>
              <a:solidFill>
                <a:schemeClr val="hlink"/>
              </a:solidFill>
              <a:ln w="9525">
                <a:solidFill>
                  <a:srgbClr val="000000"/>
                </a:solidFill>
                <a:round/>
                <a:headEnd/>
                <a:tailEnd/>
              </a:ln>
            </p:spPr>
            <p:txBody>
              <a:bodyPr/>
              <a:lstStyle/>
              <a:p>
                <a:r>
                  <a:rPr lang="en-US" sz="2000" b="1"/>
                  <a:t>A</a:t>
                </a:r>
              </a:p>
            </p:txBody>
          </p:sp>
          <p:sp>
            <p:nvSpPr>
              <p:cNvPr id="57357" name="Oval 34"/>
              <p:cNvSpPr>
                <a:spLocks noChangeArrowheads="1"/>
              </p:cNvSpPr>
              <p:nvPr/>
            </p:nvSpPr>
            <p:spPr bwMode="auto">
              <a:xfrm>
                <a:off x="5184" y="3504"/>
                <a:ext cx="272" cy="291"/>
              </a:xfrm>
              <a:prstGeom prst="ellipse">
                <a:avLst/>
              </a:prstGeom>
              <a:solidFill>
                <a:schemeClr val="hlink"/>
              </a:solidFill>
              <a:ln w="9525">
                <a:solidFill>
                  <a:srgbClr val="000000"/>
                </a:solidFill>
                <a:round/>
                <a:headEnd/>
                <a:tailEnd/>
              </a:ln>
            </p:spPr>
            <p:txBody>
              <a:bodyPr/>
              <a:lstStyle/>
              <a:p>
                <a:r>
                  <a:rPr lang="en-US" sz="2000" b="1"/>
                  <a:t>E</a:t>
                </a:r>
              </a:p>
            </p:txBody>
          </p:sp>
          <p:sp>
            <p:nvSpPr>
              <p:cNvPr id="57358" name="Oval 35"/>
              <p:cNvSpPr>
                <a:spLocks noChangeArrowheads="1"/>
              </p:cNvSpPr>
              <p:nvPr/>
            </p:nvSpPr>
            <p:spPr bwMode="auto">
              <a:xfrm>
                <a:off x="4416" y="3312"/>
                <a:ext cx="272" cy="291"/>
              </a:xfrm>
              <a:prstGeom prst="ellipse">
                <a:avLst/>
              </a:prstGeom>
              <a:solidFill>
                <a:schemeClr val="hlink"/>
              </a:solidFill>
              <a:ln w="9525">
                <a:solidFill>
                  <a:srgbClr val="000000"/>
                </a:solidFill>
                <a:round/>
                <a:headEnd/>
                <a:tailEnd/>
              </a:ln>
            </p:spPr>
            <p:txBody>
              <a:bodyPr/>
              <a:lstStyle/>
              <a:p>
                <a:r>
                  <a:rPr lang="en-US" sz="2000" b="1"/>
                  <a:t>D</a:t>
                </a:r>
              </a:p>
            </p:txBody>
          </p:sp>
          <p:sp>
            <p:nvSpPr>
              <p:cNvPr id="57359" name="Oval 36"/>
              <p:cNvSpPr>
                <a:spLocks noChangeArrowheads="1"/>
              </p:cNvSpPr>
              <p:nvPr/>
            </p:nvSpPr>
            <p:spPr bwMode="auto">
              <a:xfrm>
                <a:off x="4800" y="2928"/>
                <a:ext cx="272" cy="291"/>
              </a:xfrm>
              <a:prstGeom prst="ellipse">
                <a:avLst/>
              </a:prstGeom>
              <a:solidFill>
                <a:schemeClr val="hlink"/>
              </a:solidFill>
              <a:ln w="9525">
                <a:solidFill>
                  <a:srgbClr val="000000"/>
                </a:solidFill>
                <a:round/>
                <a:headEnd/>
                <a:tailEnd/>
              </a:ln>
            </p:spPr>
            <p:txBody>
              <a:bodyPr/>
              <a:lstStyle/>
              <a:p>
                <a:r>
                  <a:rPr lang="en-US" sz="2000" b="1"/>
                  <a:t>C</a:t>
                </a:r>
              </a:p>
            </p:txBody>
          </p:sp>
          <p:sp>
            <p:nvSpPr>
              <p:cNvPr id="57360" name="Oval 37"/>
              <p:cNvSpPr>
                <a:spLocks noChangeArrowheads="1"/>
              </p:cNvSpPr>
              <p:nvPr/>
            </p:nvSpPr>
            <p:spPr bwMode="auto">
              <a:xfrm>
                <a:off x="5280" y="2592"/>
                <a:ext cx="272" cy="291"/>
              </a:xfrm>
              <a:prstGeom prst="ellipse">
                <a:avLst/>
              </a:prstGeom>
              <a:solidFill>
                <a:schemeClr val="hlink"/>
              </a:solidFill>
              <a:ln w="9525">
                <a:solidFill>
                  <a:srgbClr val="000000"/>
                </a:solidFill>
                <a:round/>
                <a:headEnd/>
                <a:tailEnd/>
              </a:ln>
            </p:spPr>
            <p:txBody>
              <a:bodyPr/>
              <a:lstStyle/>
              <a:p>
                <a:r>
                  <a:rPr lang="en-US" sz="2000" b="1"/>
                  <a:t>B</a:t>
                </a:r>
              </a:p>
            </p:txBody>
          </p:sp>
          <p:sp>
            <p:nvSpPr>
              <p:cNvPr id="57361" name="Line 38"/>
              <p:cNvSpPr>
                <a:spLocks noChangeShapeType="1"/>
              </p:cNvSpPr>
              <p:nvPr/>
            </p:nvSpPr>
            <p:spPr bwMode="auto">
              <a:xfrm>
                <a:off x="4656" y="2880"/>
                <a:ext cx="176" cy="144"/>
              </a:xfrm>
              <a:prstGeom prst="line">
                <a:avLst/>
              </a:prstGeom>
              <a:noFill/>
              <a:ln w="38100">
                <a:solidFill>
                  <a:schemeClr val="tx1"/>
                </a:solidFill>
                <a:round/>
                <a:headEnd/>
                <a:tailEnd/>
              </a:ln>
            </p:spPr>
            <p:txBody>
              <a:bodyPr wrap="none"/>
              <a:lstStyle/>
              <a:p>
                <a:endParaRPr lang="ar-JO"/>
              </a:p>
            </p:txBody>
          </p:sp>
          <p:sp>
            <p:nvSpPr>
              <p:cNvPr id="57362" name="Line 39"/>
              <p:cNvSpPr>
                <a:spLocks noChangeShapeType="1"/>
              </p:cNvSpPr>
              <p:nvPr/>
            </p:nvSpPr>
            <p:spPr bwMode="auto">
              <a:xfrm>
                <a:off x="4560" y="2928"/>
                <a:ext cx="0" cy="384"/>
              </a:xfrm>
              <a:prstGeom prst="line">
                <a:avLst/>
              </a:prstGeom>
              <a:noFill/>
              <a:ln w="38100">
                <a:solidFill>
                  <a:schemeClr val="tx1"/>
                </a:solidFill>
                <a:round/>
                <a:headEnd/>
                <a:tailEnd/>
              </a:ln>
            </p:spPr>
            <p:txBody>
              <a:bodyPr wrap="none"/>
              <a:lstStyle/>
              <a:p>
                <a:endParaRPr lang="ar-JO"/>
              </a:p>
            </p:txBody>
          </p:sp>
          <p:sp>
            <p:nvSpPr>
              <p:cNvPr id="57363" name="Line 40"/>
              <p:cNvSpPr>
                <a:spLocks noChangeShapeType="1"/>
              </p:cNvSpPr>
              <p:nvPr/>
            </p:nvSpPr>
            <p:spPr bwMode="auto">
              <a:xfrm>
                <a:off x="4688" y="3495"/>
                <a:ext cx="496" cy="153"/>
              </a:xfrm>
              <a:prstGeom prst="line">
                <a:avLst/>
              </a:prstGeom>
              <a:noFill/>
              <a:ln w="38100">
                <a:solidFill>
                  <a:schemeClr val="tx1"/>
                </a:solidFill>
                <a:round/>
                <a:headEnd/>
                <a:tailEnd/>
              </a:ln>
            </p:spPr>
            <p:txBody>
              <a:bodyPr wrap="none"/>
              <a:lstStyle/>
              <a:p>
                <a:endParaRPr lang="ar-JO"/>
              </a:p>
            </p:txBody>
          </p:sp>
          <p:sp>
            <p:nvSpPr>
              <p:cNvPr id="57364" name="Line 41"/>
              <p:cNvSpPr>
                <a:spLocks noChangeShapeType="1"/>
              </p:cNvSpPr>
              <p:nvPr/>
            </p:nvSpPr>
            <p:spPr bwMode="auto">
              <a:xfrm flipH="1">
                <a:off x="5328" y="2880"/>
                <a:ext cx="96" cy="624"/>
              </a:xfrm>
              <a:prstGeom prst="line">
                <a:avLst/>
              </a:prstGeom>
              <a:noFill/>
              <a:ln w="38100">
                <a:solidFill>
                  <a:schemeClr val="tx1"/>
                </a:solidFill>
                <a:round/>
                <a:headEnd/>
                <a:tailEnd/>
              </a:ln>
            </p:spPr>
            <p:txBody>
              <a:bodyPr wrap="none"/>
              <a:lstStyle/>
              <a:p>
                <a:endParaRPr lang="ar-JO"/>
              </a:p>
            </p:txBody>
          </p:sp>
        </p:grpSp>
        <p:sp>
          <p:nvSpPr>
            <p:cNvPr id="57355" name="AutoShape 42"/>
            <p:cNvSpPr>
              <a:spLocks noChangeArrowheads="1"/>
            </p:cNvSpPr>
            <p:nvPr/>
          </p:nvSpPr>
          <p:spPr bwMode="auto">
            <a:xfrm>
              <a:off x="2160" y="3024"/>
              <a:ext cx="240" cy="336"/>
            </a:xfrm>
            <a:prstGeom prst="rightArrow">
              <a:avLst>
                <a:gd name="adj1" fmla="val 50000"/>
                <a:gd name="adj2" fmla="val 25000"/>
              </a:avLst>
            </a:prstGeom>
            <a:solidFill>
              <a:srgbClr val="002060"/>
            </a:solidFill>
            <a:ln w="9525">
              <a:solidFill>
                <a:schemeClr val="tx1"/>
              </a:solidFill>
              <a:miter lim="800000"/>
              <a:headEnd/>
              <a:tailEnd/>
            </a:ln>
          </p:spPr>
          <p:txBody>
            <a:bodyPr wrap="none" anchor="ctr"/>
            <a:lstStyle/>
            <a:p>
              <a:endParaRPr lang="ar-JO"/>
            </a:p>
          </p:txBody>
        </p:sp>
      </p:grpSp>
      <p:sp>
        <p:nvSpPr>
          <p:cNvPr id="42" name="Rectangle 41"/>
          <p:cNvSpPr/>
          <p:nvPr/>
        </p:nvSpPr>
        <p:spPr>
          <a:xfrm>
            <a:off x="171039" y="356923"/>
            <a:ext cx="2584362" cy="584775"/>
          </a:xfrm>
          <a:prstGeom prst="rect">
            <a:avLst/>
          </a:prstGeom>
        </p:spPr>
        <p:txBody>
          <a:bodyPr wrap="none">
            <a:spAutoFit/>
          </a:bodyPr>
          <a:lstStyle/>
          <a:p>
            <a:pPr>
              <a:defRPr/>
            </a:pPr>
            <a:r>
              <a:rPr lang="en-US" sz="3200" b="1" dirty="0">
                <a:solidFill>
                  <a:schemeClr val="bg1"/>
                </a:solidFill>
              </a:rPr>
              <a:t>Spanning Tree</a:t>
            </a:r>
          </a:p>
        </p:txBody>
      </p:sp>
      <p:sp>
        <p:nvSpPr>
          <p:cNvPr id="57349" name="Slide Number Placeholder 42"/>
          <p:cNvSpPr>
            <a:spLocks noGrp="1"/>
          </p:cNvSpPr>
          <p:nvPr>
            <p:ph type="sldNum" sz="quarter" idx="12"/>
          </p:nvPr>
        </p:nvSpPr>
        <p:spPr bwMode="auto">
          <a:noFill/>
          <a:ln>
            <a:miter lim="800000"/>
            <a:headEnd/>
            <a:tailEnd/>
          </a:ln>
        </p:spPr>
        <p:txBody>
          <a:bodyPr vert="horz" wrap="square" lIns="91440" tIns="45720" rIns="91440" bIns="45720" numCol="1" rtlCol="0" anchor="ctr" anchorCtr="0" compatLnSpc="1">
            <a:prstTxWarp prst="textNoShape">
              <a:avLst/>
            </a:prstTxWarp>
          </a:bodyPr>
          <a:lstStyle/>
          <a:p>
            <a:fld id="{EFF871B3-3095-4169-B999-E8EABD0A4A34}" type="slidenum">
              <a:rPr lang="en-US" smtClean="0"/>
              <a:pPr/>
              <a:t>23</a:t>
            </a:fld>
            <a:endParaRPr lang="en-US"/>
          </a:p>
        </p:txBody>
      </p:sp>
    </p:spTree>
    <p:extLst>
      <p:ext uri="{BB962C8B-B14F-4D97-AF65-F5344CB8AC3E}">
        <p14:creationId xmlns:p14="http://schemas.microsoft.com/office/powerpoint/2010/main" val="2373967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52400" y="374282"/>
            <a:ext cx="8229600" cy="404812"/>
          </a:xfrm>
        </p:spPr>
        <p:txBody>
          <a:bodyPr>
            <a:noAutofit/>
          </a:bodyPr>
          <a:lstStyle/>
          <a:p>
            <a:pPr eaLnBrk="1" hangingPunct="1">
              <a:defRPr/>
            </a:pPr>
            <a:r>
              <a:rPr lang="en-US" sz="3200" b="1" dirty="0"/>
              <a:t>Constructing Spanning Trees</a:t>
            </a:r>
          </a:p>
        </p:txBody>
      </p:sp>
      <p:sp>
        <p:nvSpPr>
          <p:cNvPr id="58371" name="Rectangle 3"/>
          <p:cNvSpPr>
            <a:spLocks noGrp="1" noChangeArrowheads="1"/>
          </p:cNvSpPr>
          <p:nvPr>
            <p:ph type="body" idx="1"/>
          </p:nvPr>
        </p:nvSpPr>
        <p:spPr>
          <a:xfrm>
            <a:off x="152400" y="1310616"/>
            <a:ext cx="7391400" cy="949220"/>
          </a:xfrm>
        </p:spPr>
        <p:txBody>
          <a:bodyPr/>
          <a:lstStyle/>
          <a:p>
            <a:pPr eaLnBrk="1" hangingPunct="1"/>
            <a:r>
              <a:rPr lang="en-US" sz="2000" dirty="0"/>
              <a:t>Any traversal of a connected, undirected graph visits all the vertices in that graph. The set of edges which are traversed during a traversal forms a spanning tree.</a:t>
            </a:r>
          </a:p>
          <a:p>
            <a:pPr eaLnBrk="1" hangingPunct="1"/>
            <a:endParaRPr lang="en-US" sz="2000" dirty="0"/>
          </a:p>
          <a:p>
            <a:pPr eaLnBrk="1" hangingPunct="1"/>
            <a:endParaRPr lang="en-US" sz="2000" dirty="0"/>
          </a:p>
          <a:p>
            <a:pPr eaLnBrk="1" hangingPunct="1"/>
            <a:endParaRPr lang="en-US" sz="2000" dirty="0"/>
          </a:p>
          <a:p>
            <a:pPr eaLnBrk="1" hangingPunct="1"/>
            <a:endParaRPr lang="en-US" sz="2000" dirty="0"/>
          </a:p>
          <a:p>
            <a:pPr eaLnBrk="1" hangingPunct="1"/>
            <a:endParaRPr lang="en-US" sz="2000" dirty="0"/>
          </a:p>
          <a:p>
            <a:pPr eaLnBrk="1" hangingPunct="1"/>
            <a:endParaRPr lang="en-US" sz="2000" dirty="0"/>
          </a:p>
          <a:p>
            <a:pPr eaLnBrk="1" hangingPunct="1"/>
            <a:endParaRPr lang="en-US" sz="2000" dirty="0"/>
          </a:p>
          <a:p>
            <a:pPr eaLnBrk="1" hangingPunct="1"/>
            <a:endParaRPr lang="en-US" sz="2000" dirty="0"/>
          </a:p>
        </p:txBody>
      </p:sp>
      <p:pic>
        <p:nvPicPr>
          <p:cNvPr id="58372" name="Picture 114"/>
          <p:cNvPicPr>
            <a:picLocks noChangeAspect="1" noChangeArrowheads="1"/>
          </p:cNvPicPr>
          <p:nvPr/>
        </p:nvPicPr>
        <p:blipFill>
          <a:blip r:embed="rId3"/>
          <a:srcRect/>
          <a:stretch>
            <a:fillRect/>
          </a:stretch>
        </p:blipFill>
        <p:spPr bwMode="auto">
          <a:xfrm>
            <a:off x="8382000" y="1143690"/>
            <a:ext cx="2743199" cy="1076325"/>
          </a:xfrm>
          <a:prstGeom prst="rect">
            <a:avLst/>
          </a:prstGeom>
          <a:noFill/>
          <a:ln w="9525">
            <a:noFill/>
            <a:miter lim="800000"/>
            <a:headEnd/>
            <a:tailEnd/>
          </a:ln>
        </p:spPr>
      </p:pic>
      <p:sp>
        <p:nvSpPr>
          <p:cNvPr id="58373" name="Text Box 115"/>
          <p:cNvSpPr txBox="1">
            <a:spLocks noChangeArrowheads="1"/>
          </p:cNvSpPr>
          <p:nvPr/>
        </p:nvSpPr>
        <p:spPr bwMode="auto">
          <a:xfrm>
            <a:off x="9160851" y="2348737"/>
            <a:ext cx="1562588" cy="338554"/>
          </a:xfrm>
          <a:prstGeom prst="rect">
            <a:avLst/>
          </a:prstGeom>
          <a:noFill/>
          <a:ln w="9525">
            <a:noFill/>
            <a:miter lim="800000"/>
            <a:headEnd/>
            <a:tailEnd/>
          </a:ln>
        </p:spPr>
        <p:txBody>
          <a:bodyPr wrap="square">
            <a:spAutoFit/>
          </a:bodyPr>
          <a:lstStyle/>
          <a:p>
            <a:r>
              <a:rPr lang="en-US" sz="1600" dirty="0"/>
              <a:t>(a) </a:t>
            </a:r>
            <a:r>
              <a:rPr lang="en-US" sz="1600" dirty="0">
                <a:solidFill>
                  <a:srgbClr val="002060"/>
                </a:solidFill>
              </a:rPr>
              <a:t>Graph G</a:t>
            </a:r>
          </a:p>
        </p:txBody>
      </p:sp>
      <p:pic>
        <p:nvPicPr>
          <p:cNvPr id="58374" name="Picture 116"/>
          <p:cNvPicPr>
            <a:picLocks noChangeAspect="1" noChangeArrowheads="1"/>
          </p:cNvPicPr>
          <p:nvPr/>
        </p:nvPicPr>
        <p:blipFill>
          <a:blip r:embed="rId4"/>
          <a:srcRect/>
          <a:stretch>
            <a:fillRect/>
          </a:stretch>
        </p:blipFill>
        <p:spPr bwMode="auto">
          <a:xfrm>
            <a:off x="8562438" y="2999571"/>
            <a:ext cx="2590798" cy="1119067"/>
          </a:xfrm>
          <a:prstGeom prst="rect">
            <a:avLst/>
          </a:prstGeom>
          <a:noFill/>
          <a:ln w="9525">
            <a:noFill/>
            <a:miter lim="800000"/>
            <a:headEnd/>
            <a:tailEnd/>
          </a:ln>
        </p:spPr>
      </p:pic>
      <p:sp>
        <p:nvSpPr>
          <p:cNvPr id="58375" name="Text Box 117"/>
          <p:cNvSpPr txBox="1">
            <a:spLocks noChangeArrowheads="1"/>
          </p:cNvSpPr>
          <p:nvPr/>
        </p:nvSpPr>
        <p:spPr bwMode="auto">
          <a:xfrm>
            <a:off x="7823804" y="4138827"/>
            <a:ext cx="4167731" cy="338554"/>
          </a:xfrm>
          <a:prstGeom prst="rect">
            <a:avLst/>
          </a:prstGeom>
          <a:noFill/>
          <a:ln w="9525">
            <a:noFill/>
            <a:miter lim="800000"/>
            <a:headEnd/>
            <a:tailEnd/>
          </a:ln>
        </p:spPr>
        <p:txBody>
          <a:bodyPr wrap="square">
            <a:spAutoFit/>
          </a:bodyPr>
          <a:lstStyle/>
          <a:p>
            <a:r>
              <a:rPr lang="en-US" sz="1600" dirty="0"/>
              <a:t>(b) </a:t>
            </a:r>
            <a:r>
              <a:rPr lang="en-US" sz="1600" dirty="0">
                <a:solidFill>
                  <a:srgbClr val="002060"/>
                </a:solidFill>
              </a:rPr>
              <a:t>Breadth-first spanning tree of G rooted at b</a:t>
            </a:r>
          </a:p>
        </p:txBody>
      </p:sp>
      <p:pic>
        <p:nvPicPr>
          <p:cNvPr id="58376" name="Picture 118"/>
          <p:cNvPicPr>
            <a:picLocks noChangeAspect="1" noChangeArrowheads="1"/>
          </p:cNvPicPr>
          <p:nvPr/>
        </p:nvPicPr>
        <p:blipFill>
          <a:blip r:embed="rId5"/>
          <a:srcRect/>
          <a:stretch>
            <a:fillRect/>
          </a:stretch>
        </p:blipFill>
        <p:spPr bwMode="auto">
          <a:xfrm>
            <a:off x="8382000" y="4951421"/>
            <a:ext cx="2855544" cy="990600"/>
          </a:xfrm>
          <a:prstGeom prst="rect">
            <a:avLst/>
          </a:prstGeom>
          <a:noFill/>
          <a:ln w="9525">
            <a:noFill/>
            <a:miter lim="800000"/>
            <a:headEnd/>
            <a:tailEnd/>
          </a:ln>
        </p:spPr>
      </p:pic>
      <p:sp>
        <p:nvSpPr>
          <p:cNvPr id="58377" name="Text Box 119"/>
          <p:cNvSpPr txBox="1">
            <a:spLocks noChangeArrowheads="1"/>
          </p:cNvSpPr>
          <p:nvPr/>
        </p:nvSpPr>
        <p:spPr bwMode="auto">
          <a:xfrm>
            <a:off x="7914737" y="6047922"/>
            <a:ext cx="3886200" cy="338554"/>
          </a:xfrm>
          <a:prstGeom prst="rect">
            <a:avLst/>
          </a:prstGeom>
          <a:noFill/>
          <a:ln w="9525">
            <a:noFill/>
            <a:miter lim="800000"/>
            <a:headEnd/>
            <a:tailEnd/>
          </a:ln>
        </p:spPr>
        <p:txBody>
          <a:bodyPr wrap="square">
            <a:spAutoFit/>
          </a:bodyPr>
          <a:lstStyle/>
          <a:p>
            <a:r>
              <a:rPr lang="en-US" sz="1600" dirty="0"/>
              <a:t>(c) </a:t>
            </a:r>
            <a:r>
              <a:rPr lang="en-US" sz="1600" dirty="0">
                <a:solidFill>
                  <a:srgbClr val="002060"/>
                </a:solidFill>
              </a:rPr>
              <a:t>Depth-first spanning tree of G rooted at c</a:t>
            </a:r>
          </a:p>
        </p:txBody>
      </p:sp>
      <p:cxnSp>
        <p:nvCxnSpPr>
          <p:cNvPr id="11" name="Straight Connector 10"/>
          <p:cNvCxnSpPr/>
          <p:nvPr/>
        </p:nvCxnSpPr>
        <p:spPr>
          <a:xfrm flipH="1">
            <a:off x="7713369" y="1230313"/>
            <a:ext cx="17066" cy="5491166"/>
          </a:xfrm>
          <a:prstGeom prst="line">
            <a:avLst/>
          </a:prstGeom>
          <a:ln/>
          <a:effectLst>
            <a:outerShdw blurRad="50800" dist="38100" algn="l" rotWithShape="0">
              <a:prstClr val="black">
                <a:alpha val="40000"/>
              </a:prstClr>
            </a:outerShdw>
          </a:effectLst>
        </p:spPr>
        <p:style>
          <a:lnRef idx="1">
            <a:schemeClr val="dk1"/>
          </a:lnRef>
          <a:fillRef idx="0">
            <a:schemeClr val="dk1"/>
          </a:fillRef>
          <a:effectRef idx="0">
            <a:schemeClr val="dk1"/>
          </a:effectRef>
          <a:fontRef idx="minor">
            <a:schemeClr val="tx1"/>
          </a:fontRef>
        </p:style>
      </p:cxnSp>
      <p:sp>
        <p:nvSpPr>
          <p:cNvPr id="58379" name="Slide Number Placeholder 14"/>
          <p:cNvSpPr>
            <a:spLocks noGrp="1"/>
          </p:cNvSpPr>
          <p:nvPr>
            <p:ph type="sldNum" sz="quarter" idx="11"/>
          </p:nvPr>
        </p:nvSpPr>
        <p:spPr bwMode="auto">
          <a:noFill/>
          <a:ln>
            <a:miter lim="800000"/>
            <a:headEnd/>
            <a:tailEnd/>
          </a:ln>
        </p:spPr>
        <p:txBody>
          <a:bodyPr vert="horz" wrap="square" lIns="91440" tIns="45720" rIns="91440" bIns="45720" numCol="1" rtlCol="0" anchor="ctr" anchorCtr="0" compatLnSpc="1">
            <a:prstTxWarp prst="textNoShape">
              <a:avLst/>
            </a:prstTxWarp>
          </a:bodyPr>
          <a:lstStyle/>
          <a:p>
            <a:fld id="{11B40C2F-A9F1-403E-B198-88057EE5BBDF}" type="slidenum">
              <a:rPr lang="en-US" smtClean="0"/>
              <a:pPr/>
              <a:t>24</a:t>
            </a:fld>
            <a:endParaRPr lang="en-US"/>
          </a:p>
        </p:txBody>
      </p:sp>
      <p:sp>
        <p:nvSpPr>
          <p:cNvPr id="4" name="Rectangle 3"/>
          <p:cNvSpPr/>
          <p:nvPr/>
        </p:nvSpPr>
        <p:spPr>
          <a:xfrm>
            <a:off x="161778" y="2999571"/>
            <a:ext cx="7382021" cy="707886"/>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002060"/>
                </a:solidFill>
                <a:latin typeface="Times New Roman" panose="02020603050405020304" pitchFamily="18" charset="0"/>
                <a:cs typeface="Times New Roman" panose="02020603050405020304" pitchFamily="18" charset="0"/>
              </a:rPr>
              <a:t>Figure (b) </a:t>
            </a:r>
            <a:r>
              <a:rPr lang="en-US" sz="2000" dirty="0">
                <a:latin typeface="Times New Roman" panose="02020603050405020304" pitchFamily="18" charset="0"/>
                <a:cs typeface="Times New Roman" panose="02020603050405020304" pitchFamily="18" charset="0"/>
              </a:rPr>
              <a:t>shows the spanning tree obtained from a breadth-first traversal starting at vertex b.  </a:t>
            </a:r>
            <a:endParaRPr lang="en-US" dirty="0"/>
          </a:p>
        </p:txBody>
      </p:sp>
      <p:sp>
        <p:nvSpPr>
          <p:cNvPr id="5" name="Rectangle 4"/>
          <p:cNvSpPr/>
          <p:nvPr/>
        </p:nvSpPr>
        <p:spPr>
          <a:xfrm>
            <a:off x="186953" y="5062924"/>
            <a:ext cx="7342114" cy="707886"/>
          </a:xfrm>
          <a:prstGeom prst="rect">
            <a:avLst/>
          </a:prstGeom>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Similarly, </a:t>
            </a:r>
            <a:r>
              <a:rPr lang="en-US" sz="2000" dirty="0">
                <a:solidFill>
                  <a:srgbClr val="002060"/>
                </a:solidFill>
                <a:latin typeface="Times New Roman" panose="02020603050405020304" pitchFamily="18" charset="0"/>
                <a:cs typeface="Times New Roman" panose="02020603050405020304" pitchFamily="18" charset="0"/>
              </a:rPr>
              <a:t>Figure (c)</a:t>
            </a:r>
            <a:r>
              <a:rPr lang="en-US" sz="2000" dirty="0">
                <a:latin typeface="Times New Roman" panose="02020603050405020304" pitchFamily="18" charset="0"/>
                <a:cs typeface="Times New Roman" panose="02020603050405020304" pitchFamily="18" charset="0"/>
              </a:rPr>
              <a:t> shows the spanning tree obtained from a depth-first traversal starting at vertex c.  </a:t>
            </a:r>
          </a:p>
        </p:txBody>
      </p:sp>
    </p:spTree>
    <p:extLst>
      <p:ext uri="{BB962C8B-B14F-4D97-AF65-F5344CB8AC3E}">
        <p14:creationId xmlns:p14="http://schemas.microsoft.com/office/powerpoint/2010/main" val="553955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37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83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37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83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837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83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P spid="58373" grpId="0"/>
      <p:bldP spid="58375" grpId="0"/>
      <p:bldP spid="58377" grpId="0"/>
      <p:bldP spid="4"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78159" y="373119"/>
            <a:ext cx="8229600" cy="549275"/>
          </a:xfrm>
        </p:spPr>
        <p:txBody>
          <a:bodyPr>
            <a:normAutofit/>
          </a:bodyPr>
          <a:lstStyle/>
          <a:p>
            <a:pPr eaLnBrk="1" hangingPunct="1">
              <a:defRPr/>
            </a:pPr>
            <a:r>
              <a:rPr lang="en-US" sz="2800" b="1" dirty="0"/>
              <a:t>What is a Minimum-Cost Spanning Tree</a:t>
            </a:r>
          </a:p>
        </p:txBody>
      </p:sp>
      <p:sp>
        <p:nvSpPr>
          <p:cNvPr id="59395" name="Rectangle 3"/>
          <p:cNvSpPr>
            <a:spLocks noGrp="1" noChangeArrowheads="1"/>
          </p:cNvSpPr>
          <p:nvPr>
            <p:ph type="body" idx="1"/>
          </p:nvPr>
        </p:nvSpPr>
        <p:spPr>
          <a:xfrm>
            <a:off x="23396" y="1063626"/>
            <a:ext cx="12168604" cy="4525963"/>
          </a:xfrm>
        </p:spPr>
        <p:txBody>
          <a:bodyPr/>
          <a:lstStyle/>
          <a:p>
            <a:pPr eaLnBrk="1" hangingPunct="1"/>
            <a:r>
              <a:rPr lang="en-US" sz="2000" dirty="0"/>
              <a:t>For an edge-weighted , connected, undirected graph, G, the total cost of G is the sum of the weights on all its edges.</a:t>
            </a:r>
          </a:p>
          <a:p>
            <a:pPr eaLnBrk="1" hangingPunct="1"/>
            <a:r>
              <a:rPr lang="en-US" sz="2000" dirty="0"/>
              <a:t>A minimum-cost spanning tree for G is a minimum spanning tree of G that has the least total cost.</a:t>
            </a:r>
          </a:p>
          <a:p>
            <a:pPr eaLnBrk="1" hangingPunct="1"/>
            <a:r>
              <a:rPr lang="en-US" sz="2000" b="1" dirty="0">
                <a:solidFill>
                  <a:srgbClr val="002060"/>
                </a:solidFill>
              </a:rPr>
              <a:t>Example: </a:t>
            </a:r>
            <a:r>
              <a:rPr lang="en-US" sz="2000" dirty="0"/>
              <a:t>The graph</a:t>
            </a:r>
          </a:p>
        </p:txBody>
      </p:sp>
      <p:pic>
        <p:nvPicPr>
          <p:cNvPr id="59396" name="Picture 6" descr="mst001"/>
          <p:cNvPicPr>
            <a:picLocks noChangeAspect="1" noChangeArrowheads="1"/>
          </p:cNvPicPr>
          <p:nvPr/>
        </p:nvPicPr>
        <p:blipFill>
          <a:blip r:embed="rId3"/>
          <a:srcRect/>
          <a:stretch>
            <a:fillRect/>
          </a:stretch>
        </p:blipFill>
        <p:spPr bwMode="auto">
          <a:xfrm>
            <a:off x="948997" y="2147093"/>
            <a:ext cx="1565603" cy="1123950"/>
          </a:xfrm>
          <a:prstGeom prst="rect">
            <a:avLst/>
          </a:prstGeom>
          <a:noFill/>
          <a:ln w="9525">
            <a:noFill/>
            <a:miter lim="800000"/>
            <a:headEnd/>
            <a:tailEnd/>
          </a:ln>
        </p:spPr>
      </p:pic>
      <p:sp>
        <p:nvSpPr>
          <p:cNvPr id="59397" name="Text Box 7"/>
          <p:cNvSpPr txBox="1">
            <a:spLocks noChangeArrowheads="1"/>
          </p:cNvSpPr>
          <p:nvPr/>
        </p:nvSpPr>
        <p:spPr bwMode="auto">
          <a:xfrm>
            <a:off x="2743200" y="2614496"/>
            <a:ext cx="4708525" cy="366712"/>
          </a:xfrm>
          <a:prstGeom prst="rect">
            <a:avLst/>
          </a:prstGeom>
          <a:noFill/>
          <a:ln w="9525">
            <a:noFill/>
            <a:miter lim="800000"/>
            <a:headEnd/>
            <a:tailEnd/>
          </a:ln>
        </p:spPr>
        <p:txBody>
          <a:bodyPr>
            <a:spAutoFit/>
          </a:bodyPr>
          <a:lstStyle/>
          <a:p>
            <a:r>
              <a:rPr lang="en-US" dirty="0"/>
              <a:t>Has </a:t>
            </a:r>
            <a:r>
              <a:rPr lang="en-US" dirty="0">
                <a:solidFill>
                  <a:srgbClr val="002060"/>
                </a:solidFill>
              </a:rPr>
              <a:t>16</a:t>
            </a:r>
            <a:r>
              <a:rPr lang="en-US" dirty="0"/>
              <a:t> </a:t>
            </a:r>
            <a:r>
              <a:rPr lang="en-US" dirty="0">
                <a:solidFill>
                  <a:srgbClr val="002060"/>
                </a:solidFill>
              </a:rPr>
              <a:t>spanning trees</a:t>
            </a:r>
            <a:r>
              <a:rPr lang="en-US" dirty="0"/>
              <a:t>. Some are:</a:t>
            </a:r>
          </a:p>
        </p:txBody>
      </p:sp>
      <p:pic>
        <p:nvPicPr>
          <p:cNvPr id="59398" name="Picture 8" descr="mst003"/>
          <p:cNvPicPr>
            <a:picLocks noChangeAspect="1" noChangeArrowheads="1"/>
          </p:cNvPicPr>
          <p:nvPr/>
        </p:nvPicPr>
        <p:blipFill>
          <a:blip r:embed="rId4"/>
          <a:srcRect/>
          <a:stretch>
            <a:fillRect/>
          </a:stretch>
        </p:blipFill>
        <p:spPr bwMode="auto">
          <a:xfrm>
            <a:off x="238124" y="3681015"/>
            <a:ext cx="1285875" cy="1114425"/>
          </a:xfrm>
          <a:prstGeom prst="rect">
            <a:avLst/>
          </a:prstGeom>
          <a:noFill/>
          <a:ln w="9525">
            <a:noFill/>
            <a:miter lim="800000"/>
            <a:headEnd/>
            <a:tailEnd/>
          </a:ln>
        </p:spPr>
      </p:pic>
      <p:pic>
        <p:nvPicPr>
          <p:cNvPr id="59399" name="Picture 9" descr="mst007"/>
          <p:cNvPicPr>
            <a:picLocks noChangeAspect="1" noChangeArrowheads="1"/>
          </p:cNvPicPr>
          <p:nvPr/>
        </p:nvPicPr>
        <p:blipFill>
          <a:blip r:embed="rId5"/>
          <a:srcRect/>
          <a:stretch>
            <a:fillRect/>
          </a:stretch>
        </p:blipFill>
        <p:spPr bwMode="auto">
          <a:xfrm>
            <a:off x="2292179" y="3731414"/>
            <a:ext cx="1285875" cy="1104900"/>
          </a:xfrm>
          <a:prstGeom prst="rect">
            <a:avLst/>
          </a:prstGeom>
          <a:noFill/>
          <a:ln w="9525">
            <a:noFill/>
            <a:miter lim="800000"/>
            <a:headEnd/>
            <a:tailEnd/>
          </a:ln>
        </p:spPr>
      </p:pic>
      <p:pic>
        <p:nvPicPr>
          <p:cNvPr id="59400" name="Picture 10" descr="mst015"/>
          <p:cNvPicPr>
            <a:picLocks noChangeAspect="1" noChangeArrowheads="1"/>
          </p:cNvPicPr>
          <p:nvPr/>
        </p:nvPicPr>
        <p:blipFill>
          <a:blip r:embed="rId6"/>
          <a:srcRect/>
          <a:stretch>
            <a:fillRect/>
          </a:stretch>
        </p:blipFill>
        <p:spPr bwMode="auto">
          <a:xfrm>
            <a:off x="4406905" y="3681210"/>
            <a:ext cx="1285875" cy="1114425"/>
          </a:xfrm>
          <a:prstGeom prst="rect">
            <a:avLst/>
          </a:prstGeom>
          <a:noFill/>
          <a:ln w="9525">
            <a:noFill/>
            <a:miter lim="800000"/>
            <a:headEnd/>
            <a:tailEnd/>
          </a:ln>
        </p:spPr>
      </p:pic>
      <p:pic>
        <p:nvPicPr>
          <p:cNvPr id="59401" name="Picture 11" descr="mst011"/>
          <p:cNvPicPr>
            <a:picLocks noChangeAspect="1" noChangeArrowheads="1"/>
          </p:cNvPicPr>
          <p:nvPr/>
        </p:nvPicPr>
        <p:blipFill>
          <a:blip r:embed="rId7"/>
          <a:srcRect/>
          <a:stretch>
            <a:fillRect/>
          </a:stretch>
        </p:blipFill>
        <p:spPr bwMode="auto">
          <a:xfrm>
            <a:off x="6460960" y="3685777"/>
            <a:ext cx="1285875" cy="1104900"/>
          </a:xfrm>
          <a:prstGeom prst="rect">
            <a:avLst/>
          </a:prstGeom>
          <a:noFill/>
          <a:ln w="9525">
            <a:noFill/>
            <a:miter lim="800000"/>
            <a:headEnd/>
            <a:tailEnd/>
          </a:ln>
        </p:spPr>
      </p:pic>
      <p:sp>
        <p:nvSpPr>
          <p:cNvPr id="59402" name="Text Box 13"/>
          <p:cNvSpPr txBox="1">
            <a:spLocks noChangeArrowheads="1"/>
          </p:cNvSpPr>
          <p:nvPr/>
        </p:nvSpPr>
        <p:spPr bwMode="auto">
          <a:xfrm>
            <a:off x="4641" y="5205412"/>
            <a:ext cx="7761288" cy="366713"/>
          </a:xfrm>
          <a:prstGeom prst="rect">
            <a:avLst/>
          </a:prstGeom>
          <a:noFill/>
          <a:ln w="9525">
            <a:noFill/>
            <a:miter lim="800000"/>
            <a:headEnd/>
            <a:tailEnd/>
          </a:ln>
        </p:spPr>
        <p:txBody>
          <a:bodyPr>
            <a:spAutoFit/>
          </a:bodyPr>
          <a:lstStyle/>
          <a:p>
            <a:pPr>
              <a:spcBef>
                <a:spcPct val="50000"/>
              </a:spcBef>
            </a:pPr>
            <a:r>
              <a:rPr lang="en-US" dirty="0"/>
              <a:t>The graph has </a:t>
            </a:r>
            <a:r>
              <a:rPr lang="en-US" dirty="0">
                <a:solidFill>
                  <a:srgbClr val="002060"/>
                </a:solidFill>
              </a:rPr>
              <a:t>two minimum-cost spanning trees</a:t>
            </a:r>
            <a:r>
              <a:rPr lang="en-US" dirty="0"/>
              <a:t>, each with a cost of 6:</a:t>
            </a:r>
          </a:p>
        </p:txBody>
      </p:sp>
      <p:pic>
        <p:nvPicPr>
          <p:cNvPr id="59403" name="Picture 14" descr="mst011"/>
          <p:cNvPicPr>
            <a:picLocks noChangeAspect="1" noChangeArrowheads="1"/>
          </p:cNvPicPr>
          <p:nvPr/>
        </p:nvPicPr>
        <p:blipFill>
          <a:blip r:embed="rId7"/>
          <a:srcRect/>
          <a:stretch>
            <a:fillRect/>
          </a:stretch>
        </p:blipFill>
        <p:spPr bwMode="auto">
          <a:xfrm>
            <a:off x="238125" y="5589589"/>
            <a:ext cx="1285875" cy="1104900"/>
          </a:xfrm>
          <a:prstGeom prst="rect">
            <a:avLst/>
          </a:prstGeom>
          <a:noFill/>
          <a:ln w="9525">
            <a:noFill/>
            <a:miter lim="800000"/>
            <a:headEnd/>
            <a:tailEnd/>
          </a:ln>
        </p:spPr>
      </p:pic>
      <p:pic>
        <p:nvPicPr>
          <p:cNvPr id="59404" name="Picture 15" descr="mst014"/>
          <p:cNvPicPr>
            <a:picLocks noChangeAspect="1" noChangeArrowheads="1"/>
          </p:cNvPicPr>
          <p:nvPr/>
        </p:nvPicPr>
        <p:blipFill>
          <a:blip r:embed="rId8"/>
          <a:srcRect/>
          <a:stretch>
            <a:fillRect/>
          </a:stretch>
        </p:blipFill>
        <p:spPr bwMode="auto">
          <a:xfrm>
            <a:off x="2292180" y="5660245"/>
            <a:ext cx="1285875" cy="1114425"/>
          </a:xfrm>
          <a:prstGeom prst="rect">
            <a:avLst/>
          </a:prstGeom>
          <a:noFill/>
          <a:ln w="9525">
            <a:noFill/>
            <a:miter lim="800000"/>
            <a:headEnd/>
            <a:tailEnd/>
          </a:ln>
        </p:spPr>
      </p:pic>
      <p:pic>
        <p:nvPicPr>
          <p:cNvPr id="59405" name="Picture 16" descr="mst014"/>
          <p:cNvPicPr>
            <a:picLocks noChangeAspect="1" noChangeArrowheads="1"/>
          </p:cNvPicPr>
          <p:nvPr/>
        </p:nvPicPr>
        <p:blipFill>
          <a:blip r:embed="rId8"/>
          <a:srcRect/>
          <a:stretch>
            <a:fillRect/>
          </a:stretch>
        </p:blipFill>
        <p:spPr bwMode="auto">
          <a:xfrm>
            <a:off x="8485707" y="3731414"/>
            <a:ext cx="1285875" cy="1114425"/>
          </a:xfrm>
          <a:prstGeom prst="rect">
            <a:avLst/>
          </a:prstGeom>
          <a:noFill/>
          <a:ln w="9525">
            <a:noFill/>
            <a:miter lim="800000"/>
            <a:headEnd/>
            <a:tailEnd/>
          </a:ln>
        </p:spPr>
      </p:pic>
      <p:sp>
        <p:nvSpPr>
          <p:cNvPr id="59406" name="Slide Number Placeholder 13"/>
          <p:cNvSpPr>
            <a:spLocks noGrp="1"/>
          </p:cNvSpPr>
          <p:nvPr>
            <p:ph type="sldNum" sz="quarter" idx="11"/>
          </p:nvPr>
        </p:nvSpPr>
        <p:spPr bwMode="auto">
          <a:noFill/>
          <a:ln>
            <a:miter lim="800000"/>
            <a:headEnd/>
            <a:tailEnd/>
          </a:ln>
        </p:spPr>
        <p:txBody>
          <a:bodyPr vert="horz" wrap="square" lIns="91440" tIns="45720" rIns="91440" bIns="45720" numCol="1" rtlCol="0" anchor="ctr" anchorCtr="0" compatLnSpc="1">
            <a:prstTxWarp prst="textNoShape">
              <a:avLst/>
            </a:prstTxWarp>
          </a:bodyPr>
          <a:lstStyle/>
          <a:p>
            <a:fld id="{069AC3BD-2520-483A-8AA8-963514377103}" type="slidenum">
              <a:rPr lang="en-US" smtClean="0"/>
              <a:pPr/>
              <a:t>25</a:t>
            </a:fld>
            <a:endParaRPr lang="en-US"/>
          </a:p>
        </p:txBody>
      </p:sp>
    </p:spTree>
    <p:extLst>
      <p:ext uri="{BB962C8B-B14F-4D97-AF65-F5344CB8AC3E}">
        <p14:creationId xmlns:p14="http://schemas.microsoft.com/office/powerpoint/2010/main" val="2308865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98120" y="250030"/>
            <a:ext cx="8229600" cy="549275"/>
          </a:xfrm>
        </p:spPr>
        <p:txBody>
          <a:bodyPr>
            <a:normAutofit/>
          </a:bodyPr>
          <a:lstStyle/>
          <a:p>
            <a:pPr eaLnBrk="1" hangingPunct="1">
              <a:defRPr/>
            </a:pPr>
            <a:r>
              <a:rPr lang="en-US" sz="3200" b="1" dirty="0"/>
              <a:t>Minimum-Cost Spanning Trees</a:t>
            </a:r>
          </a:p>
        </p:txBody>
      </p:sp>
      <p:sp>
        <p:nvSpPr>
          <p:cNvPr id="60419" name="Rectangle 3"/>
          <p:cNvSpPr>
            <a:spLocks noGrp="1" noChangeArrowheads="1"/>
          </p:cNvSpPr>
          <p:nvPr>
            <p:ph type="body" idx="1"/>
          </p:nvPr>
        </p:nvSpPr>
        <p:spPr>
          <a:xfrm>
            <a:off x="0" y="1295400"/>
            <a:ext cx="11747695" cy="5060952"/>
          </a:xfrm>
        </p:spPr>
        <p:txBody>
          <a:bodyPr>
            <a:normAutofit fontScale="92500" lnSpcReduction="10000"/>
          </a:bodyPr>
          <a:lstStyle/>
          <a:p>
            <a:pPr indent="0" eaLnBrk="1" hangingPunct="1">
              <a:lnSpc>
                <a:spcPct val="100000"/>
              </a:lnSpc>
              <a:buFont typeface="Wingdings" panose="05000000000000000000" pitchFamily="2" charset="2"/>
              <a:buChar char="q"/>
            </a:pPr>
            <a:r>
              <a:rPr lang="en-US" sz="1800" dirty="0"/>
              <a:t> </a:t>
            </a:r>
            <a:r>
              <a:rPr lang="en-US" sz="2400" dirty="0"/>
              <a:t>Some applications of Minimum_cost Spanning Tree:</a:t>
            </a:r>
          </a:p>
          <a:p>
            <a:pPr lvl="1" indent="0">
              <a:lnSpc>
                <a:spcPct val="100000"/>
              </a:lnSpc>
              <a:buFont typeface="Wingdings" panose="05000000000000000000" pitchFamily="2" charset="2"/>
              <a:buChar char="Ø"/>
            </a:pPr>
            <a:r>
              <a:rPr lang="en-US" sz="2400" dirty="0">
                <a:solidFill>
                  <a:srgbClr val="002060"/>
                </a:solidFill>
              </a:rPr>
              <a:t> Building cable networks that join n locations with minimum cost.</a:t>
            </a:r>
          </a:p>
          <a:p>
            <a:pPr indent="0" eaLnBrk="1" hangingPunct="1">
              <a:lnSpc>
                <a:spcPct val="100000"/>
              </a:lnSpc>
              <a:buFont typeface="Wingdings" panose="05000000000000000000" pitchFamily="2" charset="2"/>
              <a:buChar char="Ø"/>
            </a:pPr>
            <a:endParaRPr lang="en-US" sz="2400" dirty="0">
              <a:solidFill>
                <a:srgbClr val="002060"/>
              </a:solidFill>
            </a:endParaRPr>
          </a:p>
          <a:p>
            <a:pPr lvl="1" indent="0">
              <a:lnSpc>
                <a:spcPct val="100000"/>
              </a:lnSpc>
              <a:buFont typeface="Wingdings" panose="05000000000000000000" pitchFamily="2" charset="2"/>
              <a:buChar char="Ø"/>
            </a:pPr>
            <a:r>
              <a:rPr lang="en-US" sz="2400" dirty="0">
                <a:solidFill>
                  <a:srgbClr val="002060"/>
                </a:solidFill>
              </a:rPr>
              <a:t> Building a road network that joins n cities with minimum cost.</a:t>
            </a:r>
          </a:p>
          <a:p>
            <a:pPr indent="0" eaLnBrk="1" hangingPunct="1">
              <a:lnSpc>
                <a:spcPct val="100000"/>
              </a:lnSpc>
              <a:buFont typeface="Wingdings" panose="05000000000000000000" pitchFamily="2" charset="2"/>
              <a:buChar char="Ø"/>
            </a:pPr>
            <a:endParaRPr lang="en-US" sz="2400" dirty="0">
              <a:solidFill>
                <a:srgbClr val="002060"/>
              </a:solidFill>
            </a:endParaRPr>
          </a:p>
          <a:p>
            <a:pPr lvl="1" indent="0">
              <a:lnSpc>
                <a:spcPct val="100000"/>
              </a:lnSpc>
              <a:buFont typeface="Wingdings" panose="05000000000000000000" pitchFamily="2" charset="2"/>
              <a:buChar char="Ø"/>
            </a:pPr>
            <a:r>
              <a:rPr lang="en-US" sz="2400" dirty="0">
                <a:solidFill>
                  <a:srgbClr val="002060"/>
                </a:solidFill>
              </a:rPr>
              <a:t> Obtaining an independent set of circuit equations for an electrical network.</a:t>
            </a:r>
          </a:p>
          <a:p>
            <a:pPr indent="0" eaLnBrk="1" hangingPunct="1">
              <a:lnSpc>
                <a:spcPct val="100000"/>
              </a:lnSpc>
              <a:buFont typeface="Wingdings" panose="05000000000000000000" pitchFamily="2" charset="2"/>
              <a:buChar char="Ø"/>
            </a:pPr>
            <a:endParaRPr lang="en-US" sz="2400" dirty="0">
              <a:solidFill>
                <a:srgbClr val="002060"/>
              </a:solidFill>
            </a:endParaRPr>
          </a:p>
          <a:p>
            <a:pPr lvl="1" indent="0">
              <a:lnSpc>
                <a:spcPct val="100000"/>
              </a:lnSpc>
              <a:buFont typeface="Wingdings" panose="05000000000000000000" pitchFamily="2" charset="2"/>
              <a:buChar char="Ø"/>
            </a:pPr>
            <a:r>
              <a:rPr lang="en-US" sz="2400" dirty="0">
                <a:solidFill>
                  <a:srgbClr val="002060"/>
                </a:solidFill>
              </a:rPr>
              <a:t> In pattern recognition minimal spanning trees can be used to find noisy pixels.</a:t>
            </a:r>
          </a:p>
          <a:p>
            <a:pPr indent="0" eaLnBrk="1" hangingPunct="1">
              <a:lnSpc>
                <a:spcPct val="100000"/>
              </a:lnSpc>
              <a:buFont typeface="Wingdings" panose="05000000000000000000" pitchFamily="2" charset="2"/>
              <a:buChar char="Ø"/>
            </a:pPr>
            <a:endParaRPr lang="en-US" sz="2400" dirty="0">
              <a:solidFill>
                <a:srgbClr val="002060"/>
              </a:solidFill>
            </a:endParaRPr>
          </a:p>
          <a:p>
            <a:pPr indent="0">
              <a:lnSpc>
                <a:spcPct val="100000"/>
              </a:lnSpc>
              <a:buClr>
                <a:schemeClr val="tx1"/>
              </a:buClr>
              <a:buFont typeface="Wingdings" panose="05000000000000000000" pitchFamily="2" charset="2"/>
              <a:buChar char="q"/>
            </a:pPr>
            <a:r>
              <a:rPr lang="en-US" sz="2400" dirty="0">
                <a:solidFill>
                  <a:srgbClr val="002060"/>
                </a:solidFill>
              </a:rPr>
              <a:t> </a:t>
            </a:r>
            <a:r>
              <a:rPr lang="en-US" sz="2400" dirty="0"/>
              <a:t>Some Greedy Algorithms that used for finding the Minimum_cost Spanning Tree</a:t>
            </a:r>
          </a:p>
          <a:p>
            <a:pPr lvl="1" indent="0">
              <a:lnSpc>
                <a:spcPct val="100000"/>
              </a:lnSpc>
              <a:buFont typeface="Wingdings" panose="05000000000000000000" pitchFamily="2" charset="2"/>
              <a:buChar char="Ø"/>
            </a:pPr>
            <a:r>
              <a:rPr lang="en-US" altLang="en-US" sz="2400" dirty="0">
                <a:solidFill>
                  <a:srgbClr val="002060"/>
                </a:solidFill>
              </a:rPr>
              <a:t> Prim’s algorithm</a:t>
            </a:r>
          </a:p>
          <a:p>
            <a:pPr lvl="1" indent="0">
              <a:lnSpc>
                <a:spcPct val="100000"/>
              </a:lnSpc>
              <a:buNone/>
            </a:pPr>
            <a:endParaRPr lang="en-US" altLang="en-US" sz="2400" dirty="0">
              <a:solidFill>
                <a:srgbClr val="002060"/>
              </a:solidFill>
            </a:endParaRPr>
          </a:p>
          <a:p>
            <a:pPr lvl="1" indent="0">
              <a:lnSpc>
                <a:spcPct val="100000"/>
              </a:lnSpc>
              <a:buFont typeface="Wingdings" panose="05000000000000000000" pitchFamily="2" charset="2"/>
              <a:buChar char="Ø"/>
            </a:pPr>
            <a:r>
              <a:rPr lang="en-US" altLang="en-US" sz="2400" dirty="0">
                <a:solidFill>
                  <a:srgbClr val="002060"/>
                </a:solidFill>
              </a:rPr>
              <a:t> Kruskal’s algorithm</a:t>
            </a:r>
          </a:p>
          <a:p>
            <a:pPr marL="342900" lvl="1" indent="0">
              <a:buNone/>
            </a:pPr>
            <a:endParaRPr lang="en-US" altLang="en-US" sz="1900" dirty="0">
              <a:solidFill>
                <a:srgbClr val="002060"/>
              </a:solidFill>
            </a:endParaRPr>
          </a:p>
          <a:p>
            <a:pPr>
              <a:buClr>
                <a:schemeClr val="tx1"/>
              </a:buClr>
              <a:buFont typeface="Wingdings" panose="05000000000000000000" pitchFamily="2" charset="2"/>
              <a:buChar char="Ø"/>
            </a:pPr>
            <a:endParaRPr lang="en-US" sz="1800" dirty="0"/>
          </a:p>
          <a:p>
            <a:pPr>
              <a:buClr>
                <a:schemeClr val="tx1"/>
              </a:buClr>
              <a:buFont typeface="Wingdings" panose="05000000000000000000" pitchFamily="2" charset="2"/>
              <a:buChar char="q"/>
            </a:pPr>
            <a:endParaRPr lang="en-US" sz="1800" dirty="0">
              <a:solidFill>
                <a:srgbClr val="002060"/>
              </a:solidFill>
            </a:endParaRPr>
          </a:p>
        </p:txBody>
      </p:sp>
      <p:sp>
        <p:nvSpPr>
          <p:cNvPr id="60420" name="Slide Number Placeholder 3"/>
          <p:cNvSpPr>
            <a:spLocks noGrp="1"/>
          </p:cNvSpPr>
          <p:nvPr>
            <p:ph type="sldNum" sz="quarter" idx="11"/>
          </p:nvPr>
        </p:nvSpPr>
        <p:spPr bwMode="auto">
          <a:noFill/>
          <a:ln>
            <a:miter lim="800000"/>
            <a:headEnd/>
            <a:tailEnd/>
          </a:ln>
        </p:spPr>
        <p:txBody>
          <a:bodyPr vert="horz" wrap="square" lIns="91440" tIns="45720" rIns="91440" bIns="45720" numCol="1" rtlCol="0" anchor="ctr" anchorCtr="0" compatLnSpc="1">
            <a:prstTxWarp prst="textNoShape">
              <a:avLst/>
            </a:prstTxWarp>
          </a:bodyPr>
          <a:lstStyle/>
          <a:p>
            <a:fld id="{726A930F-B34B-4019-A0FA-B4AEF567E2E0}" type="slidenum">
              <a:rPr lang="en-US" smtClean="0"/>
              <a:pPr/>
              <a:t>26</a:t>
            </a:fld>
            <a:endParaRPr lang="en-US"/>
          </a:p>
        </p:txBody>
      </p:sp>
    </p:spTree>
    <p:extLst>
      <p:ext uri="{BB962C8B-B14F-4D97-AF65-F5344CB8AC3E}">
        <p14:creationId xmlns:p14="http://schemas.microsoft.com/office/powerpoint/2010/main" val="33332070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6371" name="Rectangle 3"/>
          <p:cNvSpPr>
            <a:spLocks noGrp="1" noChangeArrowheads="1"/>
          </p:cNvSpPr>
          <p:nvPr>
            <p:ph type="body" idx="1"/>
          </p:nvPr>
        </p:nvSpPr>
        <p:spPr>
          <a:xfrm>
            <a:off x="152400" y="1143000"/>
            <a:ext cx="11811000" cy="5324475"/>
          </a:xfrm>
        </p:spPr>
        <p:txBody>
          <a:bodyPr>
            <a:normAutofit/>
          </a:bodyPr>
          <a:lstStyle/>
          <a:p>
            <a:pPr>
              <a:buClr>
                <a:srgbClr val="002060"/>
              </a:buClr>
              <a:buFont typeface="Wingdings" panose="05000000000000000000" pitchFamily="2" charset="2"/>
              <a:buChar char="Ø"/>
            </a:pPr>
            <a:r>
              <a:rPr lang="da-DK" altLang="en-US" sz="2400" dirty="0"/>
              <a:t> It is a </a:t>
            </a:r>
            <a:r>
              <a:rPr lang="da-DK" altLang="en-US" sz="2400" dirty="0">
                <a:solidFill>
                  <a:srgbClr val="002060"/>
                </a:solidFill>
              </a:rPr>
              <a:t>Vertex based </a:t>
            </a:r>
            <a:r>
              <a:rPr lang="da-DK" altLang="en-US" sz="2400" dirty="0"/>
              <a:t>algorithm.</a:t>
            </a:r>
          </a:p>
          <a:p>
            <a:pPr>
              <a:buClr>
                <a:srgbClr val="002060"/>
              </a:buClr>
              <a:buFont typeface="Wingdings" panose="05000000000000000000" pitchFamily="2" charset="2"/>
              <a:buChar char="Ø"/>
            </a:pPr>
            <a:endParaRPr lang="da-DK" altLang="en-US" sz="2400" dirty="0"/>
          </a:p>
          <a:p>
            <a:pPr>
              <a:buClr>
                <a:srgbClr val="002060"/>
              </a:buClr>
              <a:buFont typeface="Wingdings" panose="05000000000000000000" pitchFamily="2" charset="2"/>
              <a:buChar char="Ø"/>
            </a:pPr>
            <a:r>
              <a:rPr lang="da-DK" altLang="en-US" sz="2400" dirty="0"/>
              <a:t> The tree starts from an arbitrary </a:t>
            </a:r>
            <a:r>
              <a:rPr lang="da-DK" altLang="en-US" sz="2400" dirty="0">
                <a:solidFill>
                  <a:srgbClr val="002060"/>
                </a:solidFill>
              </a:rPr>
              <a:t>root</a:t>
            </a:r>
            <a:r>
              <a:rPr lang="da-DK" altLang="en-US" sz="2400" dirty="0">
                <a:solidFill>
                  <a:schemeClr val="accent2"/>
                </a:solidFill>
              </a:rPr>
              <a:t> </a:t>
            </a:r>
            <a:r>
              <a:rPr lang="da-DK" altLang="en-US" sz="2400" dirty="0"/>
              <a:t>vertex </a:t>
            </a:r>
            <a:r>
              <a:rPr lang="da-DK" altLang="en-US" sz="2400" dirty="0">
                <a:solidFill>
                  <a:srgbClr val="002060"/>
                </a:solidFill>
              </a:rPr>
              <a:t>r </a:t>
            </a:r>
            <a:r>
              <a:rPr lang="da-DK" altLang="en-US" sz="2400" dirty="0"/>
              <a:t>and grows until the tree spans all the vertices in V.</a:t>
            </a:r>
          </a:p>
          <a:p>
            <a:pPr>
              <a:buClr>
                <a:srgbClr val="002060"/>
              </a:buClr>
              <a:buFont typeface="Wingdings" panose="05000000000000000000" pitchFamily="2" charset="2"/>
              <a:buChar char="Ø"/>
            </a:pPr>
            <a:endParaRPr lang="da-DK" altLang="en-US" sz="2400" dirty="0"/>
          </a:p>
          <a:p>
            <a:pPr>
              <a:buClr>
                <a:srgbClr val="002060"/>
              </a:buClr>
              <a:buFont typeface="Wingdings" panose="05000000000000000000" pitchFamily="2" charset="2"/>
              <a:buChar char="Ø"/>
            </a:pPr>
            <a:r>
              <a:rPr lang="da-DK" altLang="en-US" sz="2400" dirty="0"/>
              <a:t> At each step, add to the tree A</a:t>
            </a:r>
            <a:r>
              <a:rPr lang="da-DK" altLang="en-US" sz="2400" dirty="0">
                <a:solidFill>
                  <a:schemeClr val="accent2"/>
                </a:solidFill>
              </a:rPr>
              <a:t> </a:t>
            </a:r>
            <a:r>
              <a:rPr lang="da-DK" altLang="en-US" sz="2400" dirty="0"/>
              <a:t>the edge that connects A to an isolated vertex of G</a:t>
            </a:r>
            <a:r>
              <a:rPr lang="da-DK" altLang="en-US" sz="2400" baseline="-25000" dirty="0"/>
              <a:t>A</a:t>
            </a:r>
            <a:r>
              <a:rPr lang="da-DK" altLang="en-US" sz="2400" dirty="0"/>
              <a:t> = (V, A).</a:t>
            </a:r>
          </a:p>
          <a:p>
            <a:pPr lvl="1">
              <a:buFont typeface="Wingdings" panose="05000000000000000000" pitchFamily="2" charset="2"/>
              <a:buChar char="§"/>
            </a:pPr>
            <a:r>
              <a:rPr lang="da-DK" altLang="en-US" sz="2400" dirty="0"/>
              <a:t> Adds only edges that are safe for A.</a:t>
            </a:r>
          </a:p>
          <a:p>
            <a:pPr lvl="1">
              <a:buFont typeface="Wingdings" panose="05000000000000000000" pitchFamily="2" charset="2"/>
              <a:buChar char="§"/>
            </a:pPr>
            <a:r>
              <a:rPr lang="da-DK" altLang="en-US" sz="2400" dirty="0"/>
              <a:t> When algorithm terminates, edges in A form MST.</a:t>
            </a:r>
          </a:p>
          <a:p>
            <a:pPr lvl="1">
              <a:buFont typeface="Wingdings" panose="05000000000000000000" pitchFamily="2" charset="2"/>
              <a:buChar char="§"/>
            </a:pPr>
            <a:r>
              <a:rPr lang="da-DK" altLang="en-US" sz="2400" dirty="0"/>
              <a:t> MST A for G: A={(v, p[v]): v </a:t>
            </a:r>
            <a:r>
              <a:rPr lang="el-GR" altLang="en-US" sz="2400" dirty="0"/>
              <a:t>ε</a:t>
            </a:r>
            <a:r>
              <a:rPr lang="en-GB" altLang="en-US" sz="2400" dirty="0"/>
              <a:t> </a:t>
            </a:r>
            <a:r>
              <a:rPr lang="da-DK" altLang="en-US" sz="2400" dirty="0"/>
              <a:t>V-{r}}.</a:t>
            </a:r>
          </a:p>
          <a:p>
            <a:pPr>
              <a:buFont typeface="Wingdings" panose="05000000000000000000" pitchFamily="2" charset="2"/>
              <a:buNone/>
            </a:pPr>
            <a:endParaRPr lang="da-DK" altLang="en-US" sz="2400" dirty="0"/>
          </a:p>
          <a:p>
            <a:pPr>
              <a:buClr>
                <a:srgbClr val="002060"/>
              </a:buClr>
              <a:buFont typeface="Wingdings" panose="05000000000000000000" pitchFamily="2" charset="2"/>
              <a:buChar char="Ø"/>
            </a:pPr>
            <a:r>
              <a:rPr lang="da-DK" altLang="en-US" sz="2400" dirty="0"/>
              <a:t> Grows one tree T, </a:t>
            </a:r>
            <a:r>
              <a:rPr lang="da-DK" altLang="en-US" sz="2400" dirty="0">
                <a:solidFill>
                  <a:srgbClr val="002060"/>
                </a:solidFill>
              </a:rPr>
              <a:t>one vertex at a time</a:t>
            </a:r>
          </a:p>
          <a:p>
            <a:endParaRPr lang="en-US" altLang="en-US" sz="2400" b="1" dirty="0"/>
          </a:p>
        </p:txBody>
      </p:sp>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a:t>
            </a:r>
          </a:p>
        </p:txBody>
      </p:sp>
    </p:spTree>
    <p:extLst>
      <p:ext uri="{BB962C8B-B14F-4D97-AF65-F5344CB8AC3E}">
        <p14:creationId xmlns:p14="http://schemas.microsoft.com/office/powerpoint/2010/main" val="2305221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1554" name="Rectangle 2"/>
          <p:cNvSpPr>
            <a:spLocks noChangeArrowheads="1"/>
          </p:cNvSpPr>
          <p:nvPr/>
        </p:nvSpPr>
        <p:spPr bwMode="auto">
          <a:xfrm>
            <a:off x="308610" y="4912009"/>
            <a:ext cx="6015990" cy="1183992"/>
          </a:xfrm>
          <a:prstGeom prst="rect">
            <a:avLst/>
          </a:prstGeom>
          <a:solidFill>
            <a:schemeClr val="accent1">
              <a:lumMod val="40000"/>
              <a:lumOff val="60000"/>
            </a:schemeClr>
          </a:solidFill>
          <a:ln w="12700">
            <a:solidFill>
              <a:schemeClr val="accent1">
                <a:lumMod val="40000"/>
                <a:lumOff val="60000"/>
              </a:schemeClr>
            </a:solidFill>
            <a:miter lim="800000"/>
            <a:headEnd type="none" w="sm" len="sm"/>
            <a:tailEnd type="none" w="sm" len="sm"/>
          </a:ln>
          <a:effectLst/>
        </p:spPr>
        <p:txBody>
          <a:bodyPr wrap="none" anchor="ctr"/>
          <a:lstStyle/>
          <a:p>
            <a:endParaRPr lang="en-US">
              <a:solidFill>
                <a:schemeClr val="accent1">
                  <a:lumMod val="40000"/>
                  <a:lumOff val="60000"/>
                </a:schemeClr>
              </a:solidFill>
            </a:endParaRPr>
          </a:p>
        </p:txBody>
      </p:sp>
      <p:sp>
        <p:nvSpPr>
          <p:cNvPr id="2071555" name="Rectangle 3"/>
          <p:cNvSpPr>
            <a:spLocks noGrp="1" noChangeArrowheads="1"/>
          </p:cNvSpPr>
          <p:nvPr>
            <p:ph type="body" idx="1"/>
          </p:nvPr>
        </p:nvSpPr>
        <p:spPr>
          <a:xfrm>
            <a:off x="308610" y="1143000"/>
            <a:ext cx="11654790" cy="5334000"/>
          </a:xfrm>
          <a:noFill/>
          <a:ln/>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noAutofit/>
          </a:bodyPr>
          <a:lstStyle/>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da-DK" altLang="en-US" sz="1800" b="1" dirty="0">
                <a:latin typeface="Courier New" panose="02070309020205020404" pitchFamily="49" charset="0"/>
              </a:rPr>
              <a:t>MST-Prim</a:t>
            </a:r>
            <a:r>
              <a:rPr lang="en-US" altLang="en-US" sz="1800" dirty="0">
                <a:latin typeface="Courier New" panose="02070309020205020404" pitchFamily="49" charset="0"/>
              </a:rPr>
              <a:t>(</a:t>
            </a:r>
            <a:r>
              <a:rPr lang="en-US" altLang="en-US" sz="1800" dirty="0" err="1">
                <a:latin typeface="Courier New" panose="02070309020205020404" pitchFamily="49" charset="0"/>
              </a:rPr>
              <a:t>G,w,r</a:t>
            </a:r>
            <a:r>
              <a:rPr lang="en-US" altLang="en-US" sz="1800" dirty="0">
                <a:latin typeface="Courier New" panose="02070309020205020404" pitchFamily="49" charset="0"/>
              </a:rPr>
              <a:t>)	                         </a:t>
            </a:r>
            <a:r>
              <a:rPr lang="en-US" altLang="en-US" sz="1600" dirty="0">
                <a:solidFill>
                  <a:srgbClr val="00B050"/>
                </a:solidFill>
                <a:effectLst>
                  <a:outerShdw blurRad="38100" dist="38100" dir="2700000" algn="tl">
                    <a:srgbClr val="000000">
                      <a:alpha val="43137"/>
                    </a:srgbClr>
                  </a:outerShdw>
                </a:effectLst>
                <a:latin typeface="Courier New" panose="02070309020205020404" pitchFamily="49" charset="0"/>
              </a:rPr>
              <a:t>//G is a graph with weight w and a root vertex r</a:t>
            </a: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1 </a:t>
            </a:r>
            <a:r>
              <a:rPr lang="en-US" altLang="en-US" sz="1800" b="1" dirty="0">
                <a:latin typeface="Courier New" panose="02070309020205020404" pitchFamily="49" charset="0"/>
              </a:rPr>
              <a:t>for</a:t>
            </a:r>
            <a:r>
              <a:rPr lang="en-US" altLang="en-US" sz="1800" dirty="0">
                <a:solidFill>
                  <a:srgbClr val="0070C0"/>
                </a:solidFill>
                <a:latin typeface="Courier New" panose="02070309020205020404" pitchFamily="49" charset="0"/>
              </a:rPr>
              <a:t> </a:t>
            </a:r>
            <a:r>
              <a:rPr lang="en-US" altLang="en-US" sz="1800" dirty="0">
                <a:latin typeface="Courier New" panose="02070309020205020404" pitchFamily="49" charset="0"/>
              </a:rPr>
              <a:t>each u </a:t>
            </a:r>
            <a:r>
              <a:rPr lang="en-US" altLang="en-US" sz="1800" dirty="0">
                <a:latin typeface="Symbol" panose="05050102010706020507" pitchFamily="18" charset="2"/>
              </a:rPr>
              <a:t>Î</a:t>
            </a:r>
            <a:r>
              <a:rPr lang="en-US" altLang="en-US" sz="1800" dirty="0">
                <a:latin typeface="Courier New" panose="02070309020205020404" pitchFamily="49" charset="0"/>
              </a:rPr>
              <a:t> V[G]</a:t>
            </a: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2   key[u] </a:t>
            </a:r>
            <a:r>
              <a:rPr lang="en-US" altLang="en-US" sz="1800" dirty="0">
                <a:latin typeface="Symbol" panose="05050102010706020507" pitchFamily="18" charset="2"/>
                <a:cs typeface="Courier New" panose="02070309020205020404" pitchFamily="49" charset="0"/>
              </a:rPr>
              <a:t>¬</a:t>
            </a:r>
            <a:r>
              <a:rPr lang="en-US" altLang="en-US" sz="1800" dirty="0">
                <a:latin typeface="Courier New" panose="02070309020205020404" pitchFamily="49" charset="0"/>
              </a:rPr>
              <a:t> </a:t>
            </a:r>
            <a:r>
              <a:rPr lang="en-US" altLang="en-US" sz="1800" dirty="0">
                <a:latin typeface="Symbol" panose="05050102010706020507" pitchFamily="18" charset="2"/>
              </a:rPr>
              <a:t>¥		</a:t>
            </a: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3   p[u] </a:t>
            </a:r>
            <a:r>
              <a:rPr lang="en-US" altLang="en-US" sz="1800" dirty="0">
                <a:latin typeface="Symbol" panose="05050102010706020507" pitchFamily="18" charset="2"/>
                <a:cs typeface="Courier New" panose="02070309020205020404" pitchFamily="49" charset="0"/>
              </a:rPr>
              <a:t>¬</a:t>
            </a:r>
            <a:r>
              <a:rPr lang="en-US" altLang="en-US" sz="1800" dirty="0">
                <a:latin typeface="Courier New" panose="02070309020205020404" pitchFamily="49" charset="0"/>
              </a:rPr>
              <a:t> NIL</a:t>
            </a: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4 key[r] </a:t>
            </a:r>
            <a:r>
              <a:rPr lang="en-US" altLang="en-US" sz="1800" dirty="0">
                <a:latin typeface="Symbol" panose="05050102010706020507" pitchFamily="18" charset="2"/>
                <a:cs typeface="Courier New" panose="02070309020205020404" pitchFamily="49" charset="0"/>
              </a:rPr>
              <a:t>¬</a:t>
            </a:r>
            <a:r>
              <a:rPr lang="en-US" altLang="en-US" sz="1800" dirty="0">
                <a:latin typeface="Courier New" panose="02070309020205020404" pitchFamily="49" charset="0"/>
              </a:rPr>
              <a:t> 0</a:t>
            </a: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5 Q </a:t>
            </a:r>
            <a:r>
              <a:rPr lang="en-US" altLang="en-US" sz="1800" dirty="0">
                <a:latin typeface="Symbol" panose="05050102010706020507" pitchFamily="18" charset="2"/>
              </a:rPr>
              <a:t>=</a:t>
            </a:r>
            <a:r>
              <a:rPr lang="en-US" altLang="en-US" sz="1800" dirty="0">
                <a:latin typeface="Courier New" panose="02070309020205020404" pitchFamily="49" charset="0"/>
              </a:rPr>
              <a:t> </a:t>
            </a:r>
            <a:r>
              <a:rPr lang="en-US" altLang="en-US" sz="1800" dirty="0">
                <a:latin typeface="Symbol" panose="05050102010706020507" pitchFamily="18" charset="2"/>
              </a:rPr>
              <a:t>Æ</a:t>
            </a:r>
            <a:r>
              <a:rPr lang="en-US" sz="1800" dirty="0">
                <a:latin typeface="Courier New" panose="02070309020205020404" pitchFamily="49" charset="0"/>
              </a:rPr>
              <a:t>                                  </a:t>
            </a:r>
            <a:r>
              <a:rPr lang="en-US" altLang="en-US" sz="1600" dirty="0">
                <a:solidFill>
                  <a:srgbClr val="00B050"/>
                </a:solidFill>
                <a:effectLst>
                  <a:outerShdw blurRad="38100" dist="38100" dir="2700000" algn="tl">
                    <a:srgbClr val="000000">
                      <a:alpha val="43137"/>
                    </a:srgbClr>
                  </a:outerShdw>
                </a:effectLst>
                <a:latin typeface="Courier New" panose="02070309020205020404" pitchFamily="49" charset="0"/>
              </a:rPr>
              <a:t>// Q is a Queue </a:t>
            </a:r>
            <a:r>
              <a:rPr lang="en-US" sz="1600" dirty="0">
                <a:solidFill>
                  <a:srgbClr val="00B050"/>
                </a:solidFill>
                <a:effectLst>
                  <a:outerShdw blurRad="38100" dist="38100" dir="2700000" algn="tl">
                    <a:srgbClr val="000000">
                      <a:alpha val="43137"/>
                    </a:srgbClr>
                  </a:outerShdw>
                </a:effectLst>
                <a:latin typeface="Courier New" panose="02070309020205020404" pitchFamily="49" charset="0"/>
              </a:rPr>
              <a:t>of all vertices </a:t>
            </a:r>
            <a:r>
              <a:rPr lang="en-US" altLang="en-US" sz="1600" dirty="0">
                <a:solidFill>
                  <a:srgbClr val="00B050"/>
                </a:solidFill>
                <a:effectLst>
                  <a:outerShdw blurRad="38100" dist="38100" dir="2700000" algn="tl">
                    <a:srgbClr val="000000">
                      <a:alpha val="43137"/>
                    </a:srgbClr>
                  </a:outerShdw>
                </a:effectLst>
                <a:latin typeface="Courier New" panose="02070309020205020404" pitchFamily="49" charset="0"/>
              </a:rPr>
              <a:t>out of tree T</a:t>
            </a:r>
            <a:endParaRPr lang="en-US" altLang="en-US" sz="1600" dirty="0">
              <a:effectLst>
                <a:outerShdw blurRad="38100" dist="38100" dir="2700000" algn="tl">
                  <a:srgbClr val="000000">
                    <a:alpha val="43137"/>
                  </a:srgbClr>
                </a:outerShdw>
              </a:effectLst>
              <a:latin typeface="Courier New" panose="02070309020205020404" pitchFamily="49" charset="0"/>
            </a:endParaRPr>
          </a:p>
          <a:p>
            <a:pPr marL="0" indent="0">
              <a:buNone/>
            </a:pPr>
            <a:r>
              <a:rPr lang="en-US" altLang="en-US" sz="1800" dirty="0">
                <a:latin typeface="Courier New" panose="02070309020205020404" pitchFamily="49" charset="0"/>
              </a:rPr>
              <a:t>6 </a:t>
            </a:r>
            <a:r>
              <a:rPr lang="en-US" sz="1800" b="1" dirty="0">
                <a:latin typeface="Courier New" panose="02070309020205020404" pitchFamily="49" charset="0"/>
              </a:rPr>
              <a:t>for each </a:t>
            </a:r>
            <a:r>
              <a:rPr lang="en-US" sz="1800" dirty="0">
                <a:latin typeface="Courier New" panose="02070309020205020404" pitchFamily="49" charset="0"/>
              </a:rPr>
              <a:t>vertex u ∈ G.V</a:t>
            </a:r>
          </a:p>
          <a:p>
            <a:pPr marL="0" indent="0">
              <a:buNone/>
            </a:pPr>
            <a:r>
              <a:rPr lang="en-US" sz="1800" dirty="0">
                <a:latin typeface="Courier New" panose="02070309020205020404" pitchFamily="49" charset="0"/>
              </a:rPr>
              <a:t>7 INSERT(Q, u)                           </a:t>
            </a:r>
            <a:r>
              <a:rPr lang="en-US" altLang="en-US" sz="1600" dirty="0">
                <a:solidFill>
                  <a:srgbClr val="00B050"/>
                </a:solidFill>
                <a:effectLst>
                  <a:outerShdw blurRad="38100" dist="38100" dir="2700000" algn="tl">
                    <a:srgbClr val="000000">
                      <a:alpha val="43137"/>
                    </a:srgbClr>
                  </a:outerShdw>
                </a:effectLst>
                <a:latin typeface="Courier New" panose="02070309020205020404" pitchFamily="49" charset="0"/>
              </a:rPr>
              <a:t>// add u to T</a:t>
            </a:r>
            <a:endParaRPr lang="en-US" sz="1600" dirty="0">
              <a:latin typeface="Courier New" panose="02070309020205020404" pitchFamily="49" charset="0"/>
            </a:endParaRPr>
          </a:p>
          <a:p>
            <a:pPr marL="0" indent="0">
              <a:buNone/>
            </a:pPr>
            <a:r>
              <a:rPr lang="en-US" altLang="en-US" sz="1800" dirty="0">
                <a:latin typeface="Courier New" panose="02070309020205020404" pitchFamily="49" charset="0"/>
              </a:rPr>
              <a:t>8</a:t>
            </a:r>
            <a:r>
              <a:rPr lang="en-US" altLang="en-US" sz="1800" b="1" dirty="0">
                <a:latin typeface="Courier New" panose="02070309020205020404" pitchFamily="49" charset="0"/>
              </a:rPr>
              <a:t> while</a:t>
            </a:r>
            <a:r>
              <a:rPr lang="en-US" altLang="en-US" sz="1800" dirty="0">
                <a:latin typeface="Courier New" panose="02070309020205020404" pitchFamily="49" charset="0"/>
              </a:rPr>
              <a:t> Q </a:t>
            </a:r>
            <a:r>
              <a:rPr lang="en-US" altLang="en-US" sz="1800" dirty="0">
                <a:latin typeface="Symbol" panose="05050102010706020507" pitchFamily="18" charset="2"/>
              </a:rPr>
              <a:t>¹</a:t>
            </a:r>
            <a:r>
              <a:rPr lang="en-US" altLang="en-US" sz="1800" dirty="0">
                <a:latin typeface="Courier New" panose="02070309020205020404" pitchFamily="49" charset="0"/>
              </a:rPr>
              <a:t> </a:t>
            </a:r>
            <a:r>
              <a:rPr lang="en-US" altLang="en-US" sz="1800" dirty="0">
                <a:latin typeface="Symbol" panose="05050102010706020507" pitchFamily="18" charset="2"/>
              </a:rPr>
              <a:t>Æ</a:t>
            </a:r>
            <a:r>
              <a:rPr lang="en-US" altLang="en-US" sz="1800" dirty="0">
                <a:latin typeface="Courier New" panose="02070309020205020404" pitchFamily="49" charset="0"/>
              </a:rPr>
              <a:t> </a:t>
            </a:r>
            <a:r>
              <a:rPr lang="en-US" altLang="en-US" sz="1800" b="1" dirty="0">
                <a:latin typeface="Courier New" panose="02070309020205020404" pitchFamily="49" charset="0"/>
              </a:rPr>
              <a:t>do</a:t>
            </a:r>
            <a:endParaRPr lang="en-US" altLang="en-US" sz="1800" b="1" dirty="0">
              <a:latin typeface="Symbol" panose="05050102010706020507" pitchFamily="18" charset="2"/>
            </a:endParaRPr>
          </a:p>
          <a:p>
            <a:pPr marL="342900" indent="-342900" algn="just">
              <a:buFontTx/>
              <a:buAutoNum type="arabicPlain" startAt="7"/>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u </a:t>
            </a:r>
            <a:r>
              <a:rPr lang="en-US" altLang="en-US" sz="1800" dirty="0">
                <a:latin typeface="Symbol" panose="05050102010706020507" pitchFamily="18" charset="2"/>
                <a:cs typeface="Courier New" panose="02070309020205020404" pitchFamily="49" charset="0"/>
              </a:rPr>
              <a:t>¬</a:t>
            </a:r>
            <a:r>
              <a:rPr lang="en-US" altLang="en-US" sz="1800" dirty="0">
                <a:latin typeface="Courier New" panose="02070309020205020404" pitchFamily="49" charset="0"/>
              </a:rPr>
              <a:t> ExtractMin(Q)                     </a:t>
            </a:r>
            <a:r>
              <a:rPr lang="en-US" altLang="en-US" sz="1600" dirty="0">
                <a:solidFill>
                  <a:srgbClr val="00B050"/>
                </a:solidFill>
                <a:effectLst>
                  <a:outerShdw blurRad="38100" dist="38100" dir="2700000" algn="tl">
                    <a:srgbClr val="000000">
                      <a:alpha val="43137"/>
                    </a:srgbClr>
                  </a:outerShdw>
                </a:effectLst>
                <a:latin typeface="Courier New" panose="02070309020205020404" pitchFamily="49" charset="0"/>
              </a:rPr>
              <a:t>// take the vertex with minimum key</a:t>
            </a:r>
          </a:p>
          <a:p>
            <a:pPr marL="342900" indent="-342900" algn="just">
              <a:buFontTx/>
              <a:buAutoNum type="arabicPlain" startAt="7"/>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  </a:t>
            </a:r>
            <a:r>
              <a:rPr lang="en-US" altLang="en-US" sz="1800" b="1" dirty="0">
                <a:latin typeface="Courier New" panose="02070309020205020404" pitchFamily="49" charset="0"/>
              </a:rPr>
              <a:t>for</a:t>
            </a:r>
            <a:r>
              <a:rPr lang="en-US" altLang="en-US" sz="1800" dirty="0">
                <a:latin typeface="Courier New" panose="02070309020205020404" pitchFamily="49" charset="0"/>
              </a:rPr>
              <a:t> each v </a:t>
            </a:r>
            <a:r>
              <a:rPr lang="en-US" altLang="en-US" sz="1800" dirty="0">
                <a:latin typeface="Symbol" panose="05050102010706020507" pitchFamily="18" charset="2"/>
              </a:rPr>
              <a:t>Î</a:t>
            </a:r>
            <a:r>
              <a:rPr lang="en-US" altLang="en-US" sz="1800" dirty="0">
                <a:latin typeface="Courier New" panose="02070309020205020404" pitchFamily="49" charset="0"/>
              </a:rPr>
              <a:t> Adj[u] </a:t>
            </a:r>
            <a:r>
              <a:rPr lang="en-US" altLang="en-US" sz="1800" b="1" dirty="0">
                <a:latin typeface="Courier New" panose="02070309020205020404" pitchFamily="49" charset="0"/>
              </a:rPr>
              <a:t>do</a:t>
            </a: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9         </a:t>
            </a:r>
            <a:r>
              <a:rPr lang="en-US" altLang="en-US" sz="1800" b="1" dirty="0">
                <a:latin typeface="Courier New" panose="02070309020205020404" pitchFamily="49" charset="0"/>
              </a:rPr>
              <a:t>if</a:t>
            </a:r>
            <a:r>
              <a:rPr lang="en-US" altLang="en-US" sz="1800" dirty="0">
                <a:latin typeface="Courier New" panose="02070309020205020404" pitchFamily="49" charset="0"/>
              </a:rPr>
              <a:t> v </a:t>
            </a:r>
            <a:r>
              <a:rPr lang="en-US" altLang="en-US" sz="1800" dirty="0">
                <a:latin typeface="Symbol" panose="05050102010706020507" pitchFamily="18" charset="2"/>
              </a:rPr>
              <a:t>Î</a:t>
            </a:r>
            <a:r>
              <a:rPr lang="en-US" altLang="en-US" sz="1800" dirty="0">
                <a:latin typeface="Courier New" panose="02070309020205020404" pitchFamily="49" charset="0"/>
              </a:rPr>
              <a:t> Q and w(</a:t>
            </a:r>
            <a:r>
              <a:rPr lang="en-US" altLang="en-US" sz="1800" dirty="0" err="1">
                <a:latin typeface="Courier New" panose="02070309020205020404" pitchFamily="49" charset="0"/>
              </a:rPr>
              <a:t>u,v</a:t>
            </a:r>
            <a:r>
              <a:rPr lang="en-US" altLang="en-US" sz="1800" dirty="0">
                <a:latin typeface="Courier New" panose="02070309020205020404" pitchFamily="49" charset="0"/>
              </a:rPr>
              <a:t>) </a:t>
            </a:r>
            <a:r>
              <a:rPr lang="en-US" altLang="en-US" sz="1800" dirty="0">
                <a:latin typeface="Courier New" panose="02070309020205020404" pitchFamily="49" charset="0"/>
                <a:sym typeface="Symbol" panose="05050102010706020507" pitchFamily="18" charset="2"/>
              </a:rPr>
              <a:t></a:t>
            </a:r>
            <a:r>
              <a:rPr lang="en-US" altLang="en-US" sz="1800" dirty="0">
                <a:latin typeface="Courier New" panose="02070309020205020404" pitchFamily="49" charset="0"/>
              </a:rPr>
              <a:t> key[v] </a:t>
            </a:r>
            <a:r>
              <a:rPr lang="en-US" altLang="en-US" sz="1800" b="1" dirty="0">
                <a:latin typeface="Courier New" panose="02070309020205020404" pitchFamily="49" charset="0"/>
              </a:rPr>
              <a:t>then</a:t>
            </a: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10            p[v]	</a:t>
            </a:r>
            <a:r>
              <a:rPr lang="en-US" altLang="en-US" sz="1800" dirty="0">
                <a:latin typeface="Symbol" panose="05050102010706020507" pitchFamily="18" charset="2"/>
                <a:cs typeface="Courier New" panose="02070309020205020404" pitchFamily="49" charset="0"/>
              </a:rPr>
              <a:t>¬</a:t>
            </a:r>
            <a:r>
              <a:rPr lang="en-US" altLang="en-US" sz="1800" dirty="0">
                <a:latin typeface="Courier New" panose="02070309020205020404" pitchFamily="49" charset="0"/>
              </a:rPr>
              <a:t> u</a:t>
            </a: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11            key[v]	</a:t>
            </a:r>
            <a:r>
              <a:rPr lang="en-US" altLang="en-US" sz="1800" dirty="0">
                <a:latin typeface="Symbol" panose="05050102010706020507" pitchFamily="18" charset="2"/>
                <a:cs typeface="Courier New" panose="02070309020205020404" pitchFamily="49" charset="0"/>
              </a:rPr>
              <a:t>¬</a:t>
            </a:r>
            <a:r>
              <a:rPr lang="en-US" altLang="en-US" sz="1800" dirty="0">
                <a:latin typeface="Courier New" panose="02070309020205020404" pitchFamily="49" charset="0"/>
              </a:rPr>
              <a:t> w(</a:t>
            </a:r>
            <a:r>
              <a:rPr lang="en-US" altLang="en-US" sz="1800" dirty="0" err="1">
                <a:latin typeface="Courier New" panose="02070309020205020404" pitchFamily="49" charset="0"/>
              </a:rPr>
              <a:t>u,v</a:t>
            </a:r>
            <a:r>
              <a:rPr lang="en-US" altLang="en-US" sz="1800" dirty="0">
                <a:latin typeface="Courier New" panose="02070309020205020404" pitchFamily="49" charset="0"/>
              </a:rPr>
              <a:t>)</a:t>
            </a:r>
          </a:p>
        </p:txBody>
      </p:sp>
      <p:sp>
        <p:nvSpPr>
          <p:cNvPr id="2071557" name="Text Box 5"/>
          <p:cNvSpPr txBox="1">
            <a:spLocks noChangeArrowheads="1"/>
          </p:cNvSpPr>
          <p:nvPr/>
        </p:nvSpPr>
        <p:spPr bwMode="auto">
          <a:xfrm>
            <a:off x="6324599" y="4996014"/>
            <a:ext cx="518159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600" dirty="0">
                <a:solidFill>
                  <a:srgbClr val="00B050"/>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 </a:t>
            </a:r>
            <a:r>
              <a:rPr lang="en-US" sz="1600" dirty="0">
                <a:solidFill>
                  <a:srgbClr val="00B050"/>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rPr>
              <a:t>update keys of u’s neighbors not in T</a:t>
            </a:r>
            <a:endParaRPr lang="en-GB" altLang="en-US" sz="1600" dirty="0">
              <a:solidFill>
                <a:srgbClr val="00B050"/>
              </a:solidFill>
              <a:effectLst>
                <a:outerShdw blurRad="38100" dist="38100" dir="2700000" algn="tl">
                  <a:srgbClr val="000000">
                    <a:alpha val="43137"/>
                  </a:srgbClr>
                </a:outerShdw>
              </a:effectLst>
              <a:latin typeface="Courier New" panose="02070309020205020404" pitchFamily="49" charset="0"/>
              <a:cs typeface="Times New Roman" panose="02020603050405020304" pitchFamily="18" charset="0"/>
            </a:endParaRPr>
          </a:p>
        </p:txBody>
      </p:sp>
      <p:sp>
        <p:nvSpPr>
          <p:cNvPr id="7"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Code</a:t>
            </a:r>
          </a:p>
        </p:txBody>
      </p:sp>
    </p:spTree>
    <p:extLst>
      <p:ext uri="{BB962C8B-B14F-4D97-AF65-F5344CB8AC3E}">
        <p14:creationId xmlns:p14="http://schemas.microsoft.com/office/powerpoint/2010/main" val="10565926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3969" name="Picture 65"/>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524001"/>
            <a:ext cx="4741863" cy="2562225"/>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3926460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9755" name="Picture 11"/>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552576"/>
            <a:ext cx="4741863" cy="3095625"/>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2290797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1800"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429001" y="1524001"/>
            <a:ext cx="5199063" cy="2957513"/>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31027742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0776"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429001" y="1524001"/>
            <a:ext cx="5407025" cy="2957513"/>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29020695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2824"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429000" y="1524001"/>
            <a:ext cx="5208588" cy="2957513"/>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39455774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3848"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429001" y="1552576"/>
            <a:ext cx="5199063" cy="2562225"/>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15495052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4872"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524000"/>
            <a:ext cx="4741863" cy="2673350"/>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27439700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5896"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524000"/>
            <a:ext cx="4741863" cy="2673350"/>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28514584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6920"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524000"/>
            <a:ext cx="4741863" cy="2673350"/>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36808119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7944"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524001"/>
            <a:ext cx="4741863" cy="2714625"/>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12652973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8968"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524001"/>
            <a:ext cx="4741863" cy="2714625"/>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41929444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9992"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524001"/>
            <a:ext cx="4741863" cy="2714625"/>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17789127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1016"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447801"/>
            <a:ext cx="4741863" cy="2619375"/>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18917582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2040"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447801"/>
            <a:ext cx="4741863" cy="2619375"/>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9300106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3064"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447801"/>
            <a:ext cx="4741863" cy="2619375"/>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27164525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4088"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447801"/>
            <a:ext cx="4741863" cy="2619375"/>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28557349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5112"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295401"/>
            <a:ext cx="4741863" cy="2771775"/>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21673210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6136"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447801"/>
            <a:ext cx="4741863" cy="2619375"/>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31792862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0"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371601"/>
            <a:ext cx="4741863" cy="2695575"/>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21655958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8184" name="Picture 8"/>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3886201" y="1524001"/>
            <a:ext cx="4741863" cy="2562225"/>
          </a:xfrm>
          <a:noFill/>
          <a:ln/>
          <a:extLst>
            <a:ext uri="{91240B29-F687-4F45-9708-019B960494DF}">
              <a14:hiddenLine xmlns:a14="http://schemas.microsoft.com/office/drawing/2010/main" w="38100" cap="flat" cmpd="sng">
                <a:solidFill>
                  <a:schemeClr val="accent1"/>
                </a:solidFill>
                <a:prstDash val="solid"/>
                <a:miter lim="800000"/>
                <a:headEnd type="none" w="med" len="med"/>
                <a:tailEnd type="none" w="med" len="med"/>
              </a14:hiddenLine>
            </a:ext>
          </a:extLst>
        </p:spPr>
      </p:pic>
      <p:sp>
        <p:nvSpPr>
          <p:cNvPr id="5"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Example</a:t>
            </a:r>
          </a:p>
        </p:txBody>
      </p:sp>
    </p:spTree>
    <p:extLst>
      <p:ext uri="{BB962C8B-B14F-4D97-AF65-F5344CB8AC3E}">
        <p14:creationId xmlns:p14="http://schemas.microsoft.com/office/powerpoint/2010/main" val="29136880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1554" name="Rectangle 2"/>
          <p:cNvSpPr>
            <a:spLocks noChangeArrowheads="1"/>
          </p:cNvSpPr>
          <p:nvPr/>
        </p:nvSpPr>
        <p:spPr bwMode="auto">
          <a:xfrm>
            <a:off x="308610" y="4912009"/>
            <a:ext cx="6015990" cy="1183992"/>
          </a:xfrm>
          <a:prstGeom prst="rect">
            <a:avLst/>
          </a:prstGeom>
          <a:solidFill>
            <a:schemeClr val="accent1">
              <a:lumMod val="40000"/>
              <a:lumOff val="60000"/>
            </a:schemeClr>
          </a:solidFill>
          <a:ln w="12700">
            <a:solidFill>
              <a:schemeClr val="accent1">
                <a:lumMod val="40000"/>
                <a:lumOff val="60000"/>
              </a:schemeClr>
            </a:solidFill>
            <a:miter lim="800000"/>
            <a:headEnd type="none" w="sm" len="sm"/>
            <a:tailEnd type="none" w="sm" len="sm"/>
          </a:ln>
          <a:effectLst/>
        </p:spPr>
        <p:txBody>
          <a:bodyPr wrap="none" anchor="ctr"/>
          <a:lstStyle/>
          <a:p>
            <a:endParaRPr lang="en-US">
              <a:solidFill>
                <a:schemeClr val="accent1">
                  <a:lumMod val="40000"/>
                  <a:lumOff val="60000"/>
                </a:schemeClr>
              </a:solidFill>
            </a:endParaRPr>
          </a:p>
        </p:txBody>
      </p:sp>
      <p:sp>
        <p:nvSpPr>
          <p:cNvPr id="2071555" name="Rectangle 3"/>
          <p:cNvSpPr>
            <a:spLocks noGrp="1" noChangeArrowheads="1"/>
          </p:cNvSpPr>
          <p:nvPr>
            <p:ph type="body" idx="1"/>
          </p:nvPr>
        </p:nvSpPr>
        <p:spPr>
          <a:xfrm>
            <a:off x="308610" y="1143000"/>
            <a:ext cx="11654790" cy="5334000"/>
          </a:xfrm>
          <a:noFill/>
          <a:ln/>
          <a:extLs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noAutofit/>
          </a:bodyPr>
          <a:lstStyle/>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da-DK" altLang="en-US" sz="1800" b="1" dirty="0">
                <a:latin typeface="Courier New" panose="02070309020205020404" pitchFamily="49" charset="0"/>
              </a:rPr>
              <a:t>MST-Prim</a:t>
            </a:r>
            <a:r>
              <a:rPr lang="en-US" altLang="en-US" sz="1800" dirty="0">
                <a:latin typeface="Courier New" panose="02070309020205020404" pitchFamily="49" charset="0"/>
              </a:rPr>
              <a:t>(</a:t>
            </a:r>
            <a:r>
              <a:rPr lang="en-US" altLang="en-US" sz="1800" dirty="0" err="1">
                <a:latin typeface="Courier New" panose="02070309020205020404" pitchFamily="49" charset="0"/>
              </a:rPr>
              <a:t>G,w,r</a:t>
            </a:r>
            <a:r>
              <a:rPr lang="en-US" altLang="en-US" sz="1800" dirty="0">
                <a:latin typeface="Courier New" panose="02070309020205020404" pitchFamily="49" charset="0"/>
              </a:rPr>
              <a:t>)	                         </a:t>
            </a:r>
            <a:endParaRPr lang="en-US" altLang="en-US" sz="1600" dirty="0">
              <a:solidFill>
                <a:srgbClr val="00B050"/>
              </a:solidFill>
              <a:effectLst>
                <a:outerShdw blurRad="38100" dist="38100" dir="2700000" algn="tl">
                  <a:srgbClr val="000000">
                    <a:alpha val="43137"/>
                  </a:srgbClr>
                </a:outerShdw>
              </a:effectLst>
              <a:latin typeface="Courier New" panose="02070309020205020404" pitchFamily="49" charset="0"/>
            </a:endParaRP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1 </a:t>
            </a:r>
            <a:r>
              <a:rPr lang="en-US" altLang="en-US" sz="1800" b="1" dirty="0">
                <a:latin typeface="Courier New" panose="02070309020205020404" pitchFamily="49" charset="0"/>
              </a:rPr>
              <a:t>for</a:t>
            </a:r>
            <a:r>
              <a:rPr lang="en-US" altLang="en-US" sz="1800" dirty="0">
                <a:solidFill>
                  <a:srgbClr val="0070C0"/>
                </a:solidFill>
                <a:latin typeface="Courier New" panose="02070309020205020404" pitchFamily="49" charset="0"/>
              </a:rPr>
              <a:t> </a:t>
            </a:r>
            <a:r>
              <a:rPr lang="en-US" altLang="en-US" sz="1800" dirty="0">
                <a:latin typeface="Courier New" panose="02070309020205020404" pitchFamily="49" charset="0"/>
              </a:rPr>
              <a:t>each u </a:t>
            </a:r>
            <a:r>
              <a:rPr lang="en-US" altLang="en-US" sz="1800" dirty="0">
                <a:latin typeface="Symbol" panose="05050102010706020507" pitchFamily="18" charset="2"/>
              </a:rPr>
              <a:t>Î</a:t>
            </a:r>
            <a:r>
              <a:rPr lang="en-US" altLang="en-US" sz="1800" dirty="0">
                <a:latin typeface="Courier New" panose="02070309020205020404" pitchFamily="49" charset="0"/>
              </a:rPr>
              <a:t> V[G]</a:t>
            </a: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2   key[u] </a:t>
            </a:r>
            <a:r>
              <a:rPr lang="en-US" altLang="en-US" sz="1800" dirty="0">
                <a:latin typeface="Symbol" panose="05050102010706020507" pitchFamily="18" charset="2"/>
                <a:cs typeface="Courier New" panose="02070309020205020404" pitchFamily="49" charset="0"/>
              </a:rPr>
              <a:t>¬</a:t>
            </a:r>
            <a:r>
              <a:rPr lang="en-US" altLang="en-US" sz="1800" dirty="0">
                <a:latin typeface="Courier New" panose="02070309020205020404" pitchFamily="49" charset="0"/>
              </a:rPr>
              <a:t> </a:t>
            </a:r>
            <a:r>
              <a:rPr lang="en-US" altLang="en-US" sz="1800" dirty="0">
                <a:latin typeface="Symbol" panose="05050102010706020507" pitchFamily="18" charset="2"/>
              </a:rPr>
              <a:t>¥		</a:t>
            </a: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3   p[u] </a:t>
            </a:r>
            <a:r>
              <a:rPr lang="en-US" altLang="en-US" sz="1800" dirty="0">
                <a:latin typeface="Symbol" panose="05050102010706020507" pitchFamily="18" charset="2"/>
                <a:cs typeface="Courier New" panose="02070309020205020404" pitchFamily="49" charset="0"/>
              </a:rPr>
              <a:t>¬</a:t>
            </a:r>
            <a:r>
              <a:rPr lang="en-US" altLang="en-US" sz="1800" dirty="0">
                <a:latin typeface="Courier New" panose="02070309020205020404" pitchFamily="49" charset="0"/>
              </a:rPr>
              <a:t> NIL</a:t>
            </a: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4 key[r] </a:t>
            </a:r>
            <a:r>
              <a:rPr lang="en-US" altLang="en-US" sz="1800" dirty="0">
                <a:latin typeface="Symbol" panose="05050102010706020507" pitchFamily="18" charset="2"/>
                <a:cs typeface="Courier New" panose="02070309020205020404" pitchFamily="49" charset="0"/>
              </a:rPr>
              <a:t>¬</a:t>
            </a:r>
            <a:r>
              <a:rPr lang="en-US" altLang="en-US" sz="1800" dirty="0">
                <a:latin typeface="Courier New" panose="02070309020205020404" pitchFamily="49" charset="0"/>
              </a:rPr>
              <a:t> 0</a:t>
            </a: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5 Q </a:t>
            </a:r>
            <a:r>
              <a:rPr lang="en-US" altLang="en-US" sz="1800" dirty="0">
                <a:latin typeface="Symbol" panose="05050102010706020507" pitchFamily="18" charset="2"/>
              </a:rPr>
              <a:t>=</a:t>
            </a:r>
            <a:r>
              <a:rPr lang="en-US" altLang="en-US" sz="1800" dirty="0">
                <a:latin typeface="Courier New" panose="02070309020205020404" pitchFamily="49" charset="0"/>
              </a:rPr>
              <a:t> </a:t>
            </a:r>
            <a:r>
              <a:rPr lang="en-US" altLang="en-US" sz="1800" dirty="0">
                <a:latin typeface="Symbol" panose="05050102010706020507" pitchFamily="18" charset="2"/>
              </a:rPr>
              <a:t>Æ</a:t>
            </a:r>
            <a:r>
              <a:rPr lang="en-US" sz="1800" dirty="0">
                <a:latin typeface="Courier New" panose="02070309020205020404" pitchFamily="49" charset="0"/>
              </a:rPr>
              <a:t>                                  </a:t>
            </a:r>
            <a:endParaRPr lang="en-US" altLang="en-US" sz="1600" dirty="0">
              <a:effectLst>
                <a:outerShdw blurRad="38100" dist="38100" dir="2700000" algn="tl">
                  <a:srgbClr val="000000">
                    <a:alpha val="43137"/>
                  </a:srgbClr>
                </a:outerShdw>
              </a:effectLst>
              <a:latin typeface="Courier New" panose="02070309020205020404" pitchFamily="49" charset="0"/>
            </a:endParaRPr>
          </a:p>
          <a:p>
            <a:pPr marL="0" indent="0">
              <a:buNone/>
            </a:pPr>
            <a:r>
              <a:rPr lang="en-US" altLang="en-US" sz="1800" dirty="0">
                <a:latin typeface="Courier New" panose="02070309020205020404" pitchFamily="49" charset="0"/>
              </a:rPr>
              <a:t>6 </a:t>
            </a:r>
            <a:r>
              <a:rPr lang="en-US" sz="1800" b="1" dirty="0">
                <a:latin typeface="Courier New" panose="02070309020205020404" pitchFamily="49" charset="0"/>
              </a:rPr>
              <a:t>for each </a:t>
            </a:r>
            <a:r>
              <a:rPr lang="en-US" sz="1800" dirty="0">
                <a:latin typeface="Courier New" panose="02070309020205020404" pitchFamily="49" charset="0"/>
              </a:rPr>
              <a:t>vertex u ∈ G.V</a:t>
            </a:r>
          </a:p>
          <a:p>
            <a:pPr marL="0" indent="0">
              <a:buNone/>
            </a:pPr>
            <a:r>
              <a:rPr lang="en-US" sz="1800" dirty="0">
                <a:latin typeface="Courier New" panose="02070309020205020404" pitchFamily="49" charset="0"/>
              </a:rPr>
              <a:t>7 INSERT(Q, u)                         </a:t>
            </a:r>
            <a:endParaRPr lang="en-US" sz="1600" dirty="0">
              <a:latin typeface="Courier New" panose="02070309020205020404" pitchFamily="49" charset="0"/>
            </a:endParaRPr>
          </a:p>
          <a:p>
            <a:pPr marL="0" indent="0">
              <a:buNone/>
            </a:pPr>
            <a:r>
              <a:rPr lang="en-US" altLang="en-US" sz="1800" dirty="0">
                <a:latin typeface="Courier New" panose="02070309020205020404" pitchFamily="49" charset="0"/>
              </a:rPr>
              <a:t>8</a:t>
            </a:r>
            <a:r>
              <a:rPr lang="en-US" altLang="en-US" sz="1800" b="1" dirty="0">
                <a:latin typeface="Courier New" panose="02070309020205020404" pitchFamily="49" charset="0"/>
              </a:rPr>
              <a:t> while</a:t>
            </a:r>
            <a:r>
              <a:rPr lang="en-US" altLang="en-US" sz="1800" dirty="0">
                <a:latin typeface="Courier New" panose="02070309020205020404" pitchFamily="49" charset="0"/>
              </a:rPr>
              <a:t> Q </a:t>
            </a:r>
            <a:r>
              <a:rPr lang="en-US" altLang="en-US" sz="1800" dirty="0">
                <a:latin typeface="Symbol" panose="05050102010706020507" pitchFamily="18" charset="2"/>
              </a:rPr>
              <a:t>¹</a:t>
            </a:r>
            <a:r>
              <a:rPr lang="en-US" altLang="en-US" sz="1800" dirty="0">
                <a:latin typeface="Courier New" panose="02070309020205020404" pitchFamily="49" charset="0"/>
              </a:rPr>
              <a:t> </a:t>
            </a:r>
            <a:r>
              <a:rPr lang="en-US" altLang="en-US" sz="1800" dirty="0">
                <a:latin typeface="Symbol" panose="05050102010706020507" pitchFamily="18" charset="2"/>
              </a:rPr>
              <a:t>Æ</a:t>
            </a:r>
            <a:r>
              <a:rPr lang="en-US" altLang="en-US" sz="1800" dirty="0">
                <a:latin typeface="Courier New" panose="02070309020205020404" pitchFamily="49" charset="0"/>
              </a:rPr>
              <a:t> </a:t>
            </a:r>
            <a:r>
              <a:rPr lang="en-US" altLang="en-US" sz="1800" b="1" dirty="0">
                <a:latin typeface="Courier New" panose="02070309020205020404" pitchFamily="49" charset="0"/>
              </a:rPr>
              <a:t>do</a:t>
            </a:r>
            <a:endParaRPr lang="en-US" altLang="en-US" sz="1800" b="1" dirty="0">
              <a:latin typeface="Symbol" panose="05050102010706020507" pitchFamily="18" charset="2"/>
            </a:endParaRPr>
          </a:p>
          <a:p>
            <a:pPr marL="342900" indent="-342900" algn="just">
              <a:buFontTx/>
              <a:buAutoNum type="arabicPlain" startAt="7"/>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u </a:t>
            </a:r>
            <a:r>
              <a:rPr lang="en-US" altLang="en-US" sz="1800" dirty="0">
                <a:latin typeface="Symbol" panose="05050102010706020507" pitchFamily="18" charset="2"/>
                <a:cs typeface="Courier New" panose="02070309020205020404" pitchFamily="49" charset="0"/>
              </a:rPr>
              <a:t>¬</a:t>
            </a:r>
            <a:r>
              <a:rPr lang="en-US" altLang="en-US" sz="1800" dirty="0">
                <a:latin typeface="Courier New" panose="02070309020205020404" pitchFamily="49" charset="0"/>
              </a:rPr>
              <a:t> ExtractMin(Q)                     </a:t>
            </a:r>
            <a:endParaRPr lang="en-US" altLang="en-US" sz="1600" dirty="0">
              <a:solidFill>
                <a:srgbClr val="00B050"/>
              </a:solidFill>
              <a:effectLst>
                <a:outerShdw blurRad="38100" dist="38100" dir="2700000" algn="tl">
                  <a:srgbClr val="000000">
                    <a:alpha val="43137"/>
                  </a:srgbClr>
                </a:outerShdw>
              </a:effectLst>
              <a:latin typeface="Courier New" panose="02070309020205020404" pitchFamily="49" charset="0"/>
            </a:endParaRPr>
          </a:p>
          <a:p>
            <a:pPr marL="342900" indent="-342900" algn="just">
              <a:buFontTx/>
              <a:buAutoNum type="arabicPlain" startAt="7"/>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  </a:t>
            </a:r>
            <a:r>
              <a:rPr lang="en-US" altLang="en-US" sz="1800" b="1" dirty="0">
                <a:latin typeface="Courier New" panose="02070309020205020404" pitchFamily="49" charset="0"/>
              </a:rPr>
              <a:t>for</a:t>
            </a:r>
            <a:r>
              <a:rPr lang="en-US" altLang="en-US" sz="1800" dirty="0">
                <a:latin typeface="Courier New" panose="02070309020205020404" pitchFamily="49" charset="0"/>
              </a:rPr>
              <a:t> each v </a:t>
            </a:r>
            <a:r>
              <a:rPr lang="en-US" altLang="en-US" sz="1800" dirty="0">
                <a:latin typeface="Symbol" panose="05050102010706020507" pitchFamily="18" charset="2"/>
              </a:rPr>
              <a:t>Î</a:t>
            </a:r>
            <a:r>
              <a:rPr lang="en-US" altLang="en-US" sz="1800" dirty="0">
                <a:latin typeface="Courier New" panose="02070309020205020404" pitchFamily="49" charset="0"/>
              </a:rPr>
              <a:t> Adj[u] </a:t>
            </a:r>
            <a:r>
              <a:rPr lang="en-US" altLang="en-US" sz="1800" b="1" dirty="0">
                <a:latin typeface="Courier New" panose="02070309020205020404" pitchFamily="49" charset="0"/>
              </a:rPr>
              <a:t>do</a:t>
            </a: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9         </a:t>
            </a:r>
            <a:r>
              <a:rPr lang="en-US" altLang="en-US" sz="1800" b="1" dirty="0">
                <a:latin typeface="Courier New" panose="02070309020205020404" pitchFamily="49" charset="0"/>
              </a:rPr>
              <a:t>if</a:t>
            </a:r>
            <a:r>
              <a:rPr lang="en-US" altLang="en-US" sz="1800" dirty="0">
                <a:latin typeface="Courier New" panose="02070309020205020404" pitchFamily="49" charset="0"/>
              </a:rPr>
              <a:t> v </a:t>
            </a:r>
            <a:r>
              <a:rPr lang="en-US" altLang="en-US" sz="1800" dirty="0">
                <a:latin typeface="Symbol" panose="05050102010706020507" pitchFamily="18" charset="2"/>
              </a:rPr>
              <a:t>Î</a:t>
            </a:r>
            <a:r>
              <a:rPr lang="en-US" altLang="en-US" sz="1800" dirty="0">
                <a:latin typeface="Courier New" panose="02070309020205020404" pitchFamily="49" charset="0"/>
              </a:rPr>
              <a:t> Q and w(</a:t>
            </a:r>
            <a:r>
              <a:rPr lang="en-US" altLang="en-US" sz="1800" dirty="0" err="1">
                <a:latin typeface="Courier New" panose="02070309020205020404" pitchFamily="49" charset="0"/>
              </a:rPr>
              <a:t>u,v</a:t>
            </a:r>
            <a:r>
              <a:rPr lang="en-US" altLang="en-US" sz="1800" dirty="0">
                <a:latin typeface="Courier New" panose="02070309020205020404" pitchFamily="49" charset="0"/>
              </a:rPr>
              <a:t>) </a:t>
            </a:r>
            <a:r>
              <a:rPr lang="en-US" altLang="en-US" sz="1800" dirty="0">
                <a:latin typeface="Courier New" panose="02070309020205020404" pitchFamily="49" charset="0"/>
                <a:sym typeface="Symbol" panose="05050102010706020507" pitchFamily="18" charset="2"/>
              </a:rPr>
              <a:t></a:t>
            </a:r>
            <a:r>
              <a:rPr lang="en-US" altLang="en-US" sz="1800" dirty="0">
                <a:latin typeface="Courier New" panose="02070309020205020404" pitchFamily="49" charset="0"/>
              </a:rPr>
              <a:t> key[v] </a:t>
            </a:r>
            <a:r>
              <a:rPr lang="en-US" altLang="en-US" sz="1800" b="1" dirty="0">
                <a:latin typeface="Courier New" panose="02070309020205020404" pitchFamily="49" charset="0"/>
              </a:rPr>
              <a:t>then</a:t>
            </a: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10            p[v]	</a:t>
            </a:r>
            <a:r>
              <a:rPr lang="en-US" altLang="en-US" sz="1800" dirty="0">
                <a:latin typeface="Symbol" panose="05050102010706020507" pitchFamily="18" charset="2"/>
                <a:cs typeface="Courier New" panose="02070309020205020404" pitchFamily="49" charset="0"/>
              </a:rPr>
              <a:t>¬</a:t>
            </a:r>
            <a:r>
              <a:rPr lang="en-US" altLang="en-US" sz="1800" dirty="0">
                <a:latin typeface="Courier New" panose="02070309020205020404" pitchFamily="49" charset="0"/>
              </a:rPr>
              <a:t> u</a:t>
            </a:r>
          </a:p>
          <a:p>
            <a:pPr marL="342900" indent="-342900" algn="just">
              <a:buNone/>
              <a:tabLst>
                <a:tab pos="228600" algn="l"/>
                <a:tab pos="431800" algn="l"/>
                <a:tab pos="647700" algn="l"/>
                <a:tab pos="863600" algn="l"/>
                <a:tab pos="1079500" algn="l"/>
                <a:tab pos="1295400" algn="l"/>
                <a:tab pos="1511300" algn="l"/>
                <a:tab pos="1728788" algn="l"/>
                <a:tab pos="1944688" algn="l"/>
                <a:tab pos="2160588" algn="l"/>
                <a:tab pos="2376488" algn="l"/>
              </a:tabLst>
            </a:pPr>
            <a:r>
              <a:rPr lang="en-US" altLang="en-US" sz="1800" dirty="0">
                <a:latin typeface="Courier New" panose="02070309020205020404" pitchFamily="49" charset="0"/>
              </a:rPr>
              <a:t>11            key[v]	</a:t>
            </a:r>
            <a:r>
              <a:rPr lang="en-US" altLang="en-US" sz="1800" dirty="0">
                <a:latin typeface="Symbol" panose="05050102010706020507" pitchFamily="18" charset="2"/>
                <a:cs typeface="Courier New" panose="02070309020205020404" pitchFamily="49" charset="0"/>
              </a:rPr>
              <a:t>¬</a:t>
            </a:r>
            <a:r>
              <a:rPr lang="en-US" altLang="en-US" sz="1800" dirty="0">
                <a:latin typeface="Courier New" panose="02070309020205020404" pitchFamily="49" charset="0"/>
              </a:rPr>
              <a:t> w(</a:t>
            </a:r>
            <a:r>
              <a:rPr lang="en-US" altLang="en-US" sz="1800" dirty="0" err="1">
                <a:latin typeface="Courier New" panose="02070309020205020404" pitchFamily="49" charset="0"/>
              </a:rPr>
              <a:t>u,v</a:t>
            </a:r>
            <a:r>
              <a:rPr lang="en-US" altLang="en-US" sz="1800" dirty="0">
                <a:latin typeface="Courier New" panose="02070309020205020404" pitchFamily="49" charset="0"/>
              </a:rPr>
              <a:t>)</a:t>
            </a:r>
          </a:p>
        </p:txBody>
      </p:sp>
      <p:sp>
        <p:nvSpPr>
          <p:cNvPr id="7" name="Rectangle 2"/>
          <p:cNvSpPr>
            <a:spLocks noGrp="1" noChangeArrowheads="1"/>
          </p:cNvSpPr>
          <p:nvPr>
            <p:ph type="title"/>
          </p:nvPr>
        </p:nvSpPr>
        <p:spPr>
          <a:xfrm>
            <a:off x="152400" y="304800"/>
            <a:ext cx="8229600" cy="620713"/>
          </a:xfrm>
        </p:spPr>
        <p:txBody>
          <a:bodyPr>
            <a:normAutofit/>
          </a:bodyPr>
          <a:lstStyle/>
          <a:p>
            <a:pPr eaLnBrk="1" hangingPunct="1">
              <a:defRPr/>
            </a:pPr>
            <a:r>
              <a:rPr lang="en-US" sz="3600" b="1" dirty="0"/>
              <a:t>Prim’s Algorithm – Complexity analysis</a:t>
            </a:r>
          </a:p>
        </p:txBody>
      </p:sp>
      <p:sp>
        <p:nvSpPr>
          <p:cNvPr id="6" name="Text Box 12"/>
          <p:cNvSpPr txBox="1">
            <a:spLocks noChangeArrowheads="1"/>
          </p:cNvSpPr>
          <p:nvPr/>
        </p:nvSpPr>
        <p:spPr bwMode="auto">
          <a:xfrm>
            <a:off x="4264854" y="4284947"/>
            <a:ext cx="3583745" cy="409575"/>
          </a:xfrm>
          <a:prstGeom prst="rect">
            <a:avLst/>
          </a:prstGeom>
          <a:noFill/>
          <a:ln w="12700">
            <a:solidFill>
              <a:schemeClr val="tx1"/>
            </a:solidFill>
            <a:miter lim="800000"/>
            <a:headEnd type="none" w="sm" len="sm"/>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000" dirty="0">
                <a:solidFill>
                  <a:schemeClr val="accent2">
                    <a:lumMod val="75000"/>
                  </a:schemeClr>
                </a:solidFill>
                <a:latin typeface="Times New Roman" panose="02020603050405020304" pitchFamily="18" charset="0"/>
                <a:cs typeface="Times New Roman" panose="02020603050405020304" pitchFamily="18" charset="0"/>
              </a:rPr>
              <a:t>Extract-Min is executed |</a:t>
            </a:r>
            <a:r>
              <a:rPr lang="en-US" altLang="en-US" sz="2000" i="1" dirty="0">
                <a:solidFill>
                  <a:schemeClr val="accent2">
                    <a:lumMod val="75000"/>
                  </a:schemeClr>
                </a:solidFill>
                <a:latin typeface="Times New Roman" panose="02020603050405020304" pitchFamily="18" charset="0"/>
                <a:cs typeface="Times New Roman" panose="02020603050405020304" pitchFamily="18" charset="0"/>
              </a:rPr>
              <a:t>V</a:t>
            </a:r>
            <a:r>
              <a:rPr lang="en-US" altLang="en-US" sz="2000" dirty="0">
                <a:solidFill>
                  <a:schemeClr val="accent2">
                    <a:lumMod val="75000"/>
                  </a:schemeClr>
                </a:solidFill>
                <a:latin typeface="Times New Roman" panose="02020603050405020304" pitchFamily="18" charset="0"/>
                <a:cs typeface="Times New Roman" panose="02020603050405020304" pitchFamily="18" charset="0"/>
              </a:rPr>
              <a:t>| times</a:t>
            </a:r>
          </a:p>
        </p:txBody>
      </p:sp>
      <p:sp>
        <p:nvSpPr>
          <p:cNvPr id="10" name="Text Box 8"/>
          <p:cNvSpPr txBox="1">
            <a:spLocks noChangeArrowheads="1"/>
          </p:cNvSpPr>
          <p:nvPr/>
        </p:nvSpPr>
        <p:spPr bwMode="auto">
          <a:xfrm>
            <a:off x="4249615" y="3766628"/>
            <a:ext cx="3598984" cy="409575"/>
          </a:xfrm>
          <a:prstGeom prst="rect">
            <a:avLst/>
          </a:prstGeom>
          <a:noFill/>
          <a:ln w="12700">
            <a:solidFill>
              <a:schemeClr val="tx1"/>
            </a:solidFill>
            <a:miter lim="800000"/>
            <a:headEnd type="none" w="sm" len="sm"/>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000" dirty="0">
                <a:solidFill>
                  <a:schemeClr val="accent2">
                    <a:lumMod val="75000"/>
                  </a:schemeClr>
                </a:solidFill>
                <a:latin typeface="Times New Roman" panose="02020603050405020304" pitchFamily="18" charset="0"/>
                <a:cs typeface="Times New Roman" panose="02020603050405020304" pitchFamily="18" charset="0"/>
              </a:rPr>
              <a:t>while loop is executed |</a:t>
            </a:r>
            <a:r>
              <a:rPr lang="en-US" altLang="en-US" sz="2000" i="1" dirty="0">
                <a:solidFill>
                  <a:schemeClr val="accent2">
                    <a:lumMod val="75000"/>
                  </a:schemeClr>
                </a:solidFill>
                <a:latin typeface="Times New Roman" panose="02020603050405020304" pitchFamily="18" charset="0"/>
                <a:cs typeface="Times New Roman" panose="02020603050405020304" pitchFamily="18" charset="0"/>
              </a:rPr>
              <a:t>V</a:t>
            </a:r>
            <a:r>
              <a:rPr lang="en-US" altLang="en-US" sz="2000" dirty="0">
                <a:solidFill>
                  <a:schemeClr val="accent2">
                    <a:lumMod val="75000"/>
                  </a:schemeClr>
                </a:solidFill>
                <a:latin typeface="Times New Roman" panose="02020603050405020304" pitchFamily="18" charset="0"/>
                <a:cs typeface="Times New Roman" panose="02020603050405020304" pitchFamily="18" charset="0"/>
              </a:rPr>
              <a:t>| times</a:t>
            </a:r>
          </a:p>
        </p:txBody>
      </p:sp>
      <p:cxnSp>
        <p:nvCxnSpPr>
          <p:cNvPr id="8" name="Straight Arrow Connector 7"/>
          <p:cNvCxnSpPr/>
          <p:nvPr/>
        </p:nvCxnSpPr>
        <p:spPr>
          <a:xfrm flipV="1">
            <a:off x="2667000" y="3971415"/>
            <a:ext cx="1447800" cy="96046"/>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p:cNvCxnSpPr/>
          <p:nvPr/>
        </p:nvCxnSpPr>
        <p:spPr>
          <a:xfrm>
            <a:off x="3124200" y="4489734"/>
            <a:ext cx="990600"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19" name="Text Box 10"/>
          <p:cNvSpPr txBox="1">
            <a:spLocks noChangeArrowheads="1"/>
          </p:cNvSpPr>
          <p:nvPr/>
        </p:nvSpPr>
        <p:spPr bwMode="auto">
          <a:xfrm>
            <a:off x="7162800" y="5686426"/>
            <a:ext cx="4343400" cy="409575"/>
          </a:xfrm>
          <a:prstGeom prst="rect">
            <a:avLst/>
          </a:prstGeom>
          <a:noFill/>
          <a:ln w="12700">
            <a:solidFill>
              <a:schemeClr val="tx1"/>
            </a:solidFill>
            <a:miter lim="800000"/>
            <a:headEnd type="none" w="sm" len="sm"/>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chemeClr val="accent2">
                    <a:lumMod val="75000"/>
                  </a:schemeClr>
                </a:solidFill>
                <a:latin typeface="Times New Roman" panose="02020603050405020304" pitchFamily="18" charset="0"/>
                <a:cs typeface="Times New Roman" panose="02020603050405020304" pitchFamily="18" charset="0"/>
              </a:rPr>
              <a:t>Decrease-Key is executed O(|E|) times</a:t>
            </a:r>
          </a:p>
        </p:txBody>
      </p:sp>
      <p:cxnSp>
        <p:nvCxnSpPr>
          <p:cNvPr id="17" name="Straight Arrow Connector 16"/>
          <p:cNvCxnSpPr/>
          <p:nvPr/>
        </p:nvCxnSpPr>
        <p:spPr>
          <a:xfrm>
            <a:off x="4343400" y="5913580"/>
            <a:ext cx="2667000"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653401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1251" name="Rectangle 3"/>
          <p:cNvSpPr>
            <a:spLocks noGrp="1" noChangeArrowheads="1"/>
          </p:cNvSpPr>
          <p:nvPr>
            <p:ph type="body" idx="1"/>
          </p:nvPr>
        </p:nvSpPr>
        <p:spPr>
          <a:xfrm>
            <a:off x="228600" y="1219200"/>
            <a:ext cx="11430000" cy="5246687"/>
          </a:xfrm>
        </p:spPr>
        <p:txBody>
          <a:bodyPr>
            <a:normAutofit/>
          </a:bodyPr>
          <a:lstStyle/>
          <a:p>
            <a:pPr>
              <a:buClr>
                <a:srgbClr val="002060"/>
              </a:buClr>
              <a:buFont typeface="Wingdings" panose="05000000000000000000" pitchFamily="2" charset="2"/>
              <a:buChar char="Ø"/>
            </a:pPr>
            <a:r>
              <a:rPr lang="da-DK" altLang="en-US" sz="2800" dirty="0"/>
              <a:t> Time complexity depends on data structure </a:t>
            </a:r>
            <a:r>
              <a:rPr lang="da-DK" altLang="en-US" sz="2800" i="1" dirty="0"/>
              <a:t>Q</a:t>
            </a:r>
          </a:p>
          <a:p>
            <a:pPr>
              <a:buClr>
                <a:srgbClr val="002060"/>
              </a:buClr>
              <a:buFont typeface="Wingdings" panose="05000000000000000000" pitchFamily="2" charset="2"/>
              <a:buChar char="Ø"/>
            </a:pPr>
            <a:r>
              <a:rPr lang="da-DK" altLang="en-US" sz="2800" dirty="0"/>
              <a:t> Binary heap: </a:t>
            </a:r>
            <a:r>
              <a:rPr lang="da-DK" altLang="en-US" sz="2800" i="1" dirty="0"/>
              <a:t>O</a:t>
            </a:r>
            <a:r>
              <a:rPr lang="da-DK" altLang="en-US" sz="2800" dirty="0"/>
              <a:t>(</a:t>
            </a:r>
            <a:r>
              <a:rPr lang="da-DK" altLang="en-US" sz="2800" i="1" dirty="0">
                <a:solidFill>
                  <a:srgbClr val="002060"/>
                </a:solidFill>
              </a:rPr>
              <a:t>E</a:t>
            </a:r>
            <a:r>
              <a:rPr lang="da-DK" altLang="en-US" sz="2800" dirty="0">
                <a:solidFill>
                  <a:srgbClr val="002060"/>
                </a:solidFill>
              </a:rPr>
              <a:t> lg </a:t>
            </a:r>
            <a:r>
              <a:rPr lang="da-DK" altLang="en-US" sz="2800" i="1" dirty="0">
                <a:solidFill>
                  <a:srgbClr val="002060"/>
                </a:solidFill>
              </a:rPr>
              <a:t>V</a:t>
            </a:r>
            <a:r>
              <a:rPr lang="da-DK" altLang="en-US" sz="2800" dirty="0"/>
              <a:t>):</a:t>
            </a:r>
          </a:p>
          <a:p>
            <a:pPr marL="914400" lvl="1" indent="-457200">
              <a:buFont typeface="Wingdings" panose="05000000000000000000" pitchFamily="2" charset="2"/>
              <a:buChar char="§"/>
            </a:pPr>
            <a:r>
              <a:rPr lang="da-DK" altLang="en-US" sz="2800" dirty="0"/>
              <a:t>BuildHeap takes </a:t>
            </a:r>
            <a:r>
              <a:rPr lang="da-DK" altLang="en-US" sz="2800" i="1" dirty="0"/>
              <a:t>O</a:t>
            </a:r>
            <a:r>
              <a:rPr lang="da-DK" altLang="en-US" sz="2800" dirty="0"/>
              <a:t>(</a:t>
            </a:r>
            <a:r>
              <a:rPr lang="da-DK" altLang="en-US" sz="2800" i="1" dirty="0">
                <a:solidFill>
                  <a:srgbClr val="002060"/>
                </a:solidFill>
              </a:rPr>
              <a:t>V</a:t>
            </a:r>
            <a:r>
              <a:rPr lang="da-DK" altLang="en-US" sz="2800" dirty="0"/>
              <a:t>) time</a:t>
            </a:r>
          </a:p>
          <a:p>
            <a:pPr marL="914400" lvl="1" indent="-457200">
              <a:buFont typeface="Wingdings" panose="05000000000000000000" pitchFamily="2" charset="2"/>
              <a:buChar char="§"/>
            </a:pPr>
            <a:r>
              <a:rPr lang="da-DK" altLang="en-US" sz="2800" dirty="0"/>
              <a:t>number of “while” iterations: </a:t>
            </a:r>
            <a:r>
              <a:rPr lang="da-DK" altLang="en-US" sz="2800" i="1" dirty="0">
                <a:solidFill>
                  <a:srgbClr val="002060"/>
                </a:solidFill>
              </a:rPr>
              <a:t>V</a:t>
            </a:r>
            <a:endParaRPr lang="da-DK" altLang="en-US" sz="2800" dirty="0">
              <a:solidFill>
                <a:srgbClr val="002060"/>
              </a:solidFill>
            </a:endParaRPr>
          </a:p>
          <a:p>
            <a:pPr marL="1143000" lvl="2" indent="-228600">
              <a:lnSpc>
                <a:spcPct val="70000"/>
              </a:lnSpc>
              <a:buClr>
                <a:srgbClr val="002060"/>
              </a:buClr>
            </a:pPr>
            <a:r>
              <a:rPr lang="da-DK" altLang="en-US" sz="2800" dirty="0"/>
              <a:t>ExtractMin takes </a:t>
            </a:r>
            <a:r>
              <a:rPr lang="da-DK" altLang="en-US" sz="2800" i="1" dirty="0">
                <a:solidFill>
                  <a:srgbClr val="002060"/>
                </a:solidFill>
              </a:rPr>
              <a:t>O</a:t>
            </a:r>
            <a:r>
              <a:rPr lang="da-DK" altLang="en-US" sz="2800" dirty="0">
                <a:solidFill>
                  <a:srgbClr val="002060"/>
                </a:solidFill>
              </a:rPr>
              <a:t>(lg </a:t>
            </a:r>
            <a:r>
              <a:rPr lang="da-DK" altLang="en-US" sz="2800" i="1" dirty="0">
                <a:solidFill>
                  <a:srgbClr val="002060"/>
                </a:solidFill>
              </a:rPr>
              <a:t>V</a:t>
            </a:r>
            <a:r>
              <a:rPr lang="da-DK" altLang="en-US" sz="2800" dirty="0"/>
              <a:t>) time</a:t>
            </a:r>
          </a:p>
          <a:p>
            <a:pPr marL="914400" lvl="1" indent="-457200">
              <a:buFont typeface="Wingdings" panose="05000000000000000000" pitchFamily="2" charset="2"/>
              <a:buChar char="§"/>
            </a:pPr>
            <a:r>
              <a:rPr lang="da-DK" altLang="en-US" sz="2800" dirty="0"/>
              <a:t>total number of “for” iterations: </a:t>
            </a:r>
            <a:r>
              <a:rPr lang="da-DK" altLang="en-US" sz="2800" i="1" dirty="0">
                <a:solidFill>
                  <a:srgbClr val="002060"/>
                </a:solidFill>
              </a:rPr>
              <a:t>E</a:t>
            </a:r>
            <a:endParaRPr lang="da-DK" altLang="en-US" sz="2800" dirty="0">
              <a:solidFill>
                <a:srgbClr val="002060"/>
              </a:solidFill>
            </a:endParaRPr>
          </a:p>
          <a:p>
            <a:pPr marL="1143000" lvl="2" indent="-228600">
              <a:lnSpc>
                <a:spcPct val="70000"/>
              </a:lnSpc>
              <a:buClr>
                <a:srgbClr val="002060"/>
              </a:buClr>
            </a:pPr>
            <a:r>
              <a:rPr lang="da-DK" altLang="en-US" sz="2800" dirty="0"/>
              <a:t>DecreaseKey takes </a:t>
            </a:r>
            <a:r>
              <a:rPr lang="da-DK" altLang="en-US" sz="2800" i="1" dirty="0"/>
              <a:t>O</a:t>
            </a:r>
            <a:r>
              <a:rPr lang="da-DK" altLang="en-US" sz="2800" dirty="0"/>
              <a:t>(</a:t>
            </a:r>
            <a:r>
              <a:rPr lang="da-DK" altLang="en-US" sz="2800" dirty="0">
                <a:solidFill>
                  <a:srgbClr val="002060"/>
                </a:solidFill>
              </a:rPr>
              <a:t>lg </a:t>
            </a:r>
            <a:r>
              <a:rPr lang="da-DK" altLang="en-US" sz="2800" i="1" dirty="0">
                <a:solidFill>
                  <a:srgbClr val="002060"/>
                </a:solidFill>
              </a:rPr>
              <a:t>V</a:t>
            </a:r>
            <a:r>
              <a:rPr lang="da-DK" altLang="en-US" sz="2800" dirty="0"/>
              <a:t>) time</a:t>
            </a:r>
          </a:p>
          <a:p>
            <a:pPr>
              <a:buClr>
                <a:srgbClr val="002060"/>
              </a:buClr>
              <a:buFont typeface="Wingdings" panose="05000000000000000000" pitchFamily="2" charset="2"/>
              <a:buChar char="Ø"/>
            </a:pPr>
            <a:r>
              <a:rPr lang="da-DK" altLang="en-US" sz="2800" dirty="0"/>
              <a:t> Hence,  </a:t>
            </a:r>
          </a:p>
          <a:p>
            <a:pPr marL="914400" lvl="1" indent="-457200">
              <a:buFont typeface="Wingdings" panose="05000000000000000000" pitchFamily="2" charset="2"/>
              <a:buChar char="§"/>
            </a:pPr>
            <a:r>
              <a:rPr lang="da-DK" altLang="en-US" sz="2800" dirty="0"/>
              <a:t>Time = </a:t>
            </a:r>
            <a:r>
              <a:rPr lang="da-DK" altLang="en-US" sz="2800" i="1" dirty="0"/>
              <a:t>V</a:t>
            </a:r>
            <a:r>
              <a:rPr lang="da-DK" altLang="en-US" sz="2800" dirty="0"/>
              <a:t> + </a:t>
            </a:r>
            <a:r>
              <a:rPr lang="da-DK" altLang="en-US" sz="2800" i="1" dirty="0"/>
              <a:t>V. </a:t>
            </a:r>
            <a:r>
              <a:rPr lang="da-DK" altLang="en-US" sz="2800" i="1" dirty="0">
                <a:solidFill>
                  <a:srgbClr val="002060"/>
                </a:solidFill>
              </a:rPr>
              <a:t>T</a:t>
            </a:r>
            <a:r>
              <a:rPr lang="da-DK" altLang="en-US" sz="2800" dirty="0"/>
              <a:t>(</a:t>
            </a:r>
            <a:r>
              <a:rPr lang="da-DK" altLang="en-US" sz="2800" dirty="0">
                <a:solidFill>
                  <a:srgbClr val="002060"/>
                </a:solidFill>
              </a:rPr>
              <a:t>ExtractMin</a:t>
            </a:r>
            <a:r>
              <a:rPr lang="da-DK" altLang="en-US" sz="2800" dirty="0"/>
              <a:t>) + </a:t>
            </a:r>
            <a:r>
              <a:rPr lang="da-DK" altLang="en-US" sz="2800" i="1" dirty="0"/>
              <a:t>E. </a:t>
            </a:r>
            <a:r>
              <a:rPr lang="da-DK" altLang="en-US" sz="2800" i="1" dirty="0">
                <a:solidFill>
                  <a:srgbClr val="002060"/>
                </a:solidFill>
              </a:rPr>
              <a:t>T</a:t>
            </a:r>
            <a:r>
              <a:rPr lang="da-DK" altLang="en-US" sz="2800" dirty="0"/>
              <a:t>(</a:t>
            </a:r>
            <a:r>
              <a:rPr lang="da-DK" altLang="en-US" sz="2800" dirty="0">
                <a:solidFill>
                  <a:srgbClr val="002060"/>
                </a:solidFill>
              </a:rPr>
              <a:t>DecreaseKey</a:t>
            </a:r>
            <a:r>
              <a:rPr lang="da-DK" altLang="en-US" sz="2800" dirty="0"/>
              <a:t>)</a:t>
            </a:r>
          </a:p>
          <a:p>
            <a:pPr marL="914400" lvl="1" indent="-457200">
              <a:buFont typeface="Wingdings" panose="05000000000000000000" pitchFamily="2" charset="2"/>
              <a:buChar char="§"/>
            </a:pPr>
            <a:r>
              <a:rPr lang="da-DK" altLang="en-US" sz="2800" dirty="0"/>
              <a:t>Time = </a:t>
            </a:r>
            <a:r>
              <a:rPr lang="da-DK" altLang="en-US" sz="2800" i="1" dirty="0">
                <a:solidFill>
                  <a:srgbClr val="002060"/>
                </a:solidFill>
              </a:rPr>
              <a:t>O</a:t>
            </a:r>
            <a:r>
              <a:rPr lang="da-DK" altLang="en-US" sz="2800" dirty="0"/>
              <a:t>(</a:t>
            </a:r>
            <a:r>
              <a:rPr lang="da-DK" altLang="en-US" sz="2800" i="1" dirty="0">
                <a:solidFill>
                  <a:srgbClr val="002060"/>
                </a:solidFill>
              </a:rPr>
              <a:t>V </a:t>
            </a:r>
            <a:r>
              <a:rPr lang="da-DK" altLang="en-US" sz="2800" dirty="0">
                <a:solidFill>
                  <a:srgbClr val="002060"/>
                </a:solidFill>
              </a:rPr>
              <a:t>lg </a:t>
            </a:r>
            <a:r>
              <a:rPr lang="da-DK" altLang="en-US" sz="2800" i="1" dirty="0">
                <a:solidFill>
                  <a:srgbClr val="002060"/>
                </a:solidFill>
              </a:rPr>
              <a:t>V </a:t>
            </a:r>
            <a:r>
              <a:rPr lang="da-DK" altLang="en-US" sz="2800" dirty="0">
                <a:solidFill>
                  <a:srgbClr val="002060"/>
                </a:solidFill>
              </a:rPr>
              <a:t>+ </a:t>
            </a:r>
            <a:r>
              <a:rPr lang="da-DK" altLang="en-US" sz="2800" i="1" dirty="0">
                <a:solidFill>
                  <a:srgbClr val="002060"/>
                </a:solidFill>
              </a:rPr>
              <a:t>E </a:t>
            </a:r>
            <a:r>
              <a:rPr lang="da-DK" altLang="en-US" sz="2800" dirty="0">
                <a:solidFill>
                  <a:srgbClr val="002060"/>
                </a:solidFill>
              </a:rPr>
              <a:t>lg </a:t>
            </a:r>
            <a:r>
              <a:rPr lang="da-DK" altLang="en-US" sz="2800" i="1" dirty="0">
                <a:solidFill>
                  <a:srgbClr val="002060"/>
                </a:solidFill>
              </a:rPr>
              <a:t>V</a:t>
            </a:r>
            <a:r>
              <a:rPr lang="da-DK" altLang="en-US" sz="2800" dirty="0"/>
              <a:t>) = </a:t>
            </a:r>
            <a:r>
              <a:rPr lang="da-DK" altLang="en-US" sz="2800" i="1" dirty="0"/>
              <a:t>O</a:t>
            </a:r>
            <a:r>
              <a:rPr lang="da-DK" altLang="en-US" sz="2800" dirty="0"/>
              <a:t>(</a:t>
            </a:r>
            <a:r>
              <a:rPr lang="da-DK" altLang="en-US" sz="2800" i="1" dirty="0">
                <a:solidFill>
                  <a:srgbClr val="002060"/>
                </a:solidFill>
              </a:rPr>
              <a:t>E </a:t>
            </a:r>
            <a:r>
              <a:rPr lang="da-DK" altLang="en-US" sz="2800" dirty="0">
                <a:solidFill>
                  <a:srgbClr val="002060"/>
                </a:solidFill>
              </a:rPr>
              <a:t>lg </a:t>
            </a:r>
            <a:r>
              <a:rPr lang="da-DK" altLang="en-US" sz="2800" i="1" dirty="0">
                <a:solidFill>
                  <a:srgbClr val="002060"/>
                </a:solidFill>
              </a:rPr>
              <a:t>V</a:t>
            </a:r>
            <a:r>
              <a:rPr lang="da-DK" altLang="en-US" sz="2800" dirty="0"/>
              <a:t>)</a:t>
            </a:r>
          </a:p>
          <a:p>
            <a:pPr marL="1143000" lvl="2" indent="-228600">
              <a:buClr>
                <a:srgbClr val="002060"/>
              </a:buClr>
            </a:pPr>
            <a:r>
              <a:rPr lang="da-DK" altLang="en-US" sz="2800" dirty="0"/>
              <a:t>Since </a:t>
            </a:r>
            <a:r>
              <a:rPr lang="da-DK" altLang="en-US" sz="2800" i="1" dirty="0"/>
              <a:t>E</a:t>
            </a:r>
            <a:r>
              <a:rPr lang="da-DK" altLang="en-US" sz="2800" dirty="0"/>
              <a:t> </a:t>
            </a:r>
            <a:r>
              <a:rPr lang="da-DK" altLang="en-US" sz="2800" dirty="0">
                <a:sym typeface="Symbol" panose="05050102010706020507" pitchFamily="18" charset="2"/>
              </a:rPr>
              <a:t></a:t>
            </a:r>
            <a:r>
              <a:rPr lang="da-DK" altLang="en-US" sz="2800" dirty="0"/>
              <a:t> </a:t>
            </a:r>
            <a:r>
              <a:rPr lang="da-DK" altLang="en-US" sz="2800" i="1" dirty="0"/>
              <a:t>V</a:t>
            </a:r>
            <a:r>
              <a:rPr lang="da-DK" altLang="en-US" sz="2800" dirty="0"/>
              <a:t> – 1  (because </a:t>
            </a:r>
            <a:r>
              <a:rPr lang="da-DK" altLang="en-US" sz="2800" i="1" dirty="0"/>
              <a:t>G</a:t>
            </a:r>
            <a:r>
              <a:rPr lang="da-DK" altLang="en-US" sz="2800" dirty="0"/>
              <a:t> is connected)</a:t>
            </a:r>
          </a:p>
        </p:txBody>
      </p:sp>
      <p:sp>
        <p:nvSpPr>
          <p:cNvPr id="3" name="Rectangle 2"/>
          <p:cNvSpPr/>
          <p:nvPr/>
        </p:nvSpPr>
        <p:spPr>
          <a:xfrm>
            <a:off x="228600" y="304800"/>
            <a:ext cx="7598042" cy="646331"/>
          </a:xfrm>
          <a:prstGeom prst="rect">
            <a:avLst/>
          </a:prstGeom>
        </p:spPr>
        <p:txBody>
          <a:bodyPr wrap="none">
            <a:spAutoFit/>
          </a:bodyPr>
          <a:lstStyle/>
          <a:p>
            <a:r>
              <a:rPr lang="en-US" sz="3600" b="1" dirty="0">
                <a:solidFill>
                  <a:schemeClr val="bg1"/>
                </a:solidFill>
              </a:rPr>
              <a:t>Prim’s Algorithm – Complexity analysis</a:t>
            </a:r>
            <a:endParaRPr lang="en-US" sz="3600" dirty="0">
              <a:solidFill>
                <a:schemeClr val="bg1"/>
              </a:solidFill>
            </a:endParaRPr>
          </a:p>
        </p:txBody>
      </p:sp>
    </p:spTree>
    <p:extLst>
      <p:ext uri="{BB962C8B-B14F-4D97-AF65-F5344CB8AC3E}">
        <p14:creationId xmlns:p14="http://schemas.microsoft.com/office/powerpoint/2010/main" val="10072216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3860" name="Rectangle 4"/>
          <p:cNvSpPr>
            <a:spLocks noGrp="1" noChangeArrowheads="1"/>
          </p:cNvSpPr>
          <p:nvPr>
            <p:ph type="title"/>
          </p:nvPr>
        </p:nvSpPr>
        <p:spPr>
          <a:xfrm>
            <a:off x="152400" y="304800"/>
            <a:ext cx="10515600" cy="636361"/>
          </a:xfrm>
        </p:spPr>
        <p:txBody>
          <a:bodyPr/>
          <a:lstStyle/>
          <a:p>
            <a:r>
              <a:rPr lang="da-DK" altLang="en-US" sz="3600" b="1" dirty="0">
                <a:latin typeface="+mn-lt"/>
                <a:ea typeface="+mn-ea"/>
                <a:cs typeface="+mn-cs"/>
              </a:rPr>
              <a:t>Kruskal's Algorithm </a:t>
            </a:r>
          </a:p>
        </p:txBody>
      </p:sp>
      <p:sp>
        <p:nvSpPr>
          <p:cNvPr id="1913861" name="Rectangle 5"/>
          <p:cNvSpPr>
            <a:spLocks noGrp="1" noChangeArrowheads="1"/>
          </p:cNvSpPr>
          <p:nvPr>
            <p:ph type="body" idx="1"/>
          </p:nvPr>
        </p:nvSpPr>
        <p:spPr>
          <a:xfrm>
            <a:off x="173502" y="1143000"/>
            <a:ext cx="11789898" cy="4351338"/>
          </a:xfrm>
        </p:spPr>
        <p:txBody>
          <a:bodyPr/>
          <a:lstStyle/>
          <a:p>
            <a:pPr>
              <a:buClr>
                <a:srgbClr val="002060"/>
              </a:buClr>
              <a:buFont typeface="Wingdings" panose="05000000000000000000" pitchFamily="2" charset="2"/>
              <a:buChar char="Ø"/>
            </a:pPr>
            <a:r>
              <a:rPr lang="da-DK" altLang="en-US" b="1" dirty="0">
                <a:solidFill>
                  <a:srgbClr val="FF3300"/>
                </a:solidFill>
                <a:effectLst/>
              </a:rPr>
              <a:t> </a:t>
            </a:r>
            <a:r>
              <a:rPr lang="da-DK" altLang="en-US" sz="2000" dirty="0">
                <a:solidFill>
                  <a:srgbClr val="002060"/>
                </a:solidFill>
                <a:effectLst/>
              </a:rPr>
              <a:t>Edge based </a:t>
            </a:r>
            <a:r>
              <a:rPr lang="da-DK" altLang="en-US" sz="2000" dirty="0">
                <a:effectLst/>
              </a:rPr>
              <a:t>algorithm</a:t>
            </a:r>
          </a:p>
          <a:p>
            <a:pPr>
              <a:buClr>
                <a:srgbClr val="002060"/>
              </a:buClr>
              <a:buFont typeface="Wingdings" panose="05000000000000000000" pitchFamily="2" charset="2"/>
              <a:buChar char="Ø"/>
            </a:pPr>
            <a:endParaRPr lang="da-DK" altLang="en-US" sz="2000" dirty="0">
              <a:effectLst/>
            </a:endParaRPr>
          </a:p>
          <a:p>
            <a:pPr>
              <a:buClr>
                <a:srgbClr val="002060"/>
              </a:buClr>
              <a:buFont typeface="Wingdings" panose="05000000000000000000" pitchFamily="2" charset="2"/>
              <a:buChar char="Ø"/>
            </a:pPr>
            <a:r>
              <a:rPr lang="da-DK" altLang="en-US" sz="2000" dirty="0"/>
              <a:t> </a:t>
            </a:r>
            <a:r>
              <a:rPr lang="en-US" sz="2000" dirty="0"/>
              <a:t>Kruskal’s algorithm also finds the minimum cost spanning tree of a graph by adding  edges one-by-one.</a:t>
            </a:r>
          </a:p>
          <a:p>
            <a:pPr>
              <a:buClr>
                <a:srgbClr val="002060"/>
              </a:buClr>
              <a:buFont typeface="Wingdings" panose="05000000000000000000" pitchFamily="2" charset="2"/>
              <a:buChar char="Ø"/>
            </a:pPr>
            <a:endParaRPr lang="en-US" sz="2000" dirty="0"/>
          </a:p>
          <a:p>
            <a:pPr>
              <a:buClr>
                <a:srgbClr val="002060"/>
              </a:buClr>
              <a:buFont typeface="Wingdings" panose="05000000000000000000" pitchFamily="2" charset="2"/>
              <a:buChar char="Ø"/>
            </a:pPr>
            <a:r>
              <a:rPr lang="en-US" sz="2000" dirty="0"/>
              <a:t> Pseudocode </a:t>
            </a:r>
          </a:p>
          <a:p>
            <a:pPr>
              <a:buClr>
                <a:srgbClr val="002060"/>
              </a:buClr>
              <a:buFont typeface="Wingdings" panose="05000000000000000000" pitchFamily="2" charset="2"/>
              <a:buChar char="Ø"/>
            </a:pPr>
            <a:endParaRPr lang="da-DK" altLang="en-US" sz="2000" dirty="0">
              <a:effectLst/>
            </a:endParaRPr>
          </a:p>
        </p:txBody>
      </p:sp>
      <p:sp>
        <p:nvSpPr>
          <p:cNvPr id="4" name="Text Box 4"/>
          <p:cNvSpPr txBox="1">
            <a:spLocks noChangeArrowheads="1"/>
          </p:cNvSpPr>
          <p:nvPr/>
        </p:nvSpPr>
        <p:spPr bwMode="auto">
          <a:xfrm>
            <a:off x="1079695" y="3080824"/>
            <a:ext cx="8458200" cy="2530475"/>
          </a:xfrm>
          <a:prstGeom prst="rect">
            <a:avLst/>
          </a:prstGeom>
          <a:noFill/>
          <a:ln w="9525">
            <a:noFill/>
            <a:miter lim="800000"/>
            <a:headEnd/>
            <a:tailEnd/>
          </a:ln>
        </p:spPr>
        <p:txBody>
          <a:bodyPr wrap="square">
            <a:spAutoFit/>
          </a:bodyPr>
          <a:lstStyle/>
          <a:p>
            <a:r>
              <a:rPr lang="en-US" sz="2000" dirty="0">
                <a:latin typeface="Bodoni MT" panose="02070603080606020203" pitchFamily="18" charset="0"/>
                <a:cs typeface="Times New Roman" panose="02020603050405020304" pitchFamily="18" charset="0"/>
              </a:rPr>
              <a:t>enqueue edges of G in a queue in increasing order of cost.</a:t>
            </a:r>
          </a:p>
          <a:p>
            <a:r>
              <a:rPr lang="en-US" sz="2000" dirty="0">
                <a:latin typeface="Bodoni MT" panose="02070603080606020203" pitchFamily="18" charset="0"/>
                <a:cs typeface="Times New Roman" panose="02020603050405020304" pitchFamily="18" charset="0"/>
              </a:rPr>
              <a:t>T = </a:t>
            </a:r>
            <a:r>
              <a:rPr lang="en-US" sz="2000" dirty="0">
                <a:latin typeface="Bodoni MT" panose="02070603080606020203" pitchFamily="18" charset="0"/>
                <a:cs typeface="Times New Roman" panose="02020603050405020304" pitchFamily="18" charset="0"/>
                <a:sym typeface="Symbol" pitchFamily="18" charset="2"/>
              </a:rPr>
              <a:t></a:t>
            </a:r>
            <a:r>
              <a:rPr lang="en-US" sz="2000" dirty="0">
                <a:latin typeface="Bodoni MT" panose="02070603080606020203" pitchFamily="18" charset="0"/>
                <a:cs typeface="Times New Roman" panose="02020603050405020304" pitchFamily="18" charset="0"/>
              </a:rPr>
              <a:t> ;</a:t>
            </a:r>
          </a:p>
          <a:p>
            <a:r>
              <a:rPr lang="en-US" sz="2000" dirty="0">
                <a:latin typeface="Bodoni MT" panose="02070603080606020203" pitchFamily="18" charset="0"/>
                <a:cs typeface="Times New Roman" panose="02020603050405020304" pitchFamily="18" charset="0"/>
              </a:rPr>
              <a:t>while(queue is not empty){</a:t>
            </a:r>
          </a:p>
          <a:p>
            <a:r>
              <a:rPr lang="en-US" sz="2000" dirty="0">
                <a:latin typeface="Bodoni MT" panose="02070603080606020203" pitchFamily="18" charset="0"/>
                <a:cs typeface="Times New Roman" panose="02020603050405020304" pitchFamily="18" charset="0"/>
              </a:rPr>
              <a:t>   dequeue an edge e;</a:t>
            </a:r>
          </a:p>
          <a:p>
            <a:r>
              <a:rPr lang="en-US" sz="2000" dirty="0">
                <a:latin typeface="Bodoni MT" panose="02070603080606020203" pitchFamily="18" charset="0"/>
                <a:cs typeface="Times New Roman" panose="02020603050405020304" pitchFamily="18" charset="0"/>
              </a:rPr>
              <a:t>   if(e does not create a cycle with edges in T)</a:t>
            </a:r>
          </a:p>
          <a:p>
            <a:r>
              <a:rPr lang="en-US" sz="2000" dirty="0">
                <a:latin typeface="Bodoni MT" panose="02070603080606020203" pitchFamily="18" charset="0"/>
                <a:cs typeface="Times New Roman" panose="02020603050405020304" pitchFamily="18" charset="0"/>
              </a:rPr>
              <a:t>       add e to T;</a:t>
            </a:r>
          </a:p>
          <a:p>
            <a:r>
              <a:rPr lang="en-US" sz="2000" dirty="0">
                <a:latin typeface="Bodoni MT" panose="02070603080606020203" pitchFamily="18" charset="0"/>
                <a:cs typeface="Times New Roman" panose="02020603050405020304" pitchFamily="18" charset="0"/>
              </a:rPr>
              <a:t>}</a:t>
            </a:r>
          </a:p>
          <a:p>
            <a:r>
              <a:rPr lang="en-US" sz="2000" dirty="0">
                <a:latin typeface="Bodoni MT" panose="02070603080606020203" pitchFamily="18" charset="0"/>
                <a:cs typeface="Times New Roman" panose="02020603050405020304" pitchFamily="18" charset="0"/>
              </a:rPr>
              <a:t>return T;</a:t>
            </a:r>
          </a:p>
        </p:txBody>
      </p:sp>
      <p:sp>
        <p:nvSpPr>
          <p:cNvPr id="2" name="Rectangle 1"/>
          <p:cNvSpPr/>
          <p:nvPr/>
        </p:nvSpPr>
        <p:spPr>
          <a:xfrm>
            <a:off x="1066800" y="3122893"/>
            <a:ext cx="7086600" cy="244633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30896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5298" name="Rectangle 2"/>
          <p:cNvSpPr>
            <a:spLocks noGrp="1" noChangeArrowheads="1"/>
          </p:cNvSpPr>
          <p:nvPr>
            <p:ph type="title"/>
          </p:nvPr>
        </p:nvSpPr>
        <p:spPr>
          <a:xfrm>
            <a:off x="152400" y="228600"/>
            <a:ext cx="10515600" cy="636361"/>
          </a:xfrm>
        </p:spPr>
        <p:txBody>
          <a:bodyPr/>
          <a:lstStyle/>
          <a:p>
            <a:r>
              <a:rPr lang="da-DK" altLang="en-US" sz="3200" b="1" dirty="0"/>
              <a:t>Kruskal's Algorithm</a:t>
            </a:r>
          </a:p>
        </p:txBody>
      </p:sp>
      <p:sp>
        <p:nvSpPr>
          <p:cNvPr id="1975299" name="Rectangle 3"/>
          <p:cNvSpPr>
            <a:spLocks noGrp="1" noChangeArrowheads="1"/>
          </p:cNvSpPr>
          <p:nvPr>
            <p:ph type="body" idx="1"/>
          </p:nvPr>
        </p:nvSpPr>
        <p:spPr>
          <a:xfrm>
            <a:off x="304800" y="1295400"/>
            <a:ext cx="11658599" cy="4351338"/>
          </a:xfrm>
        </p:spPr>
        <p:txBody>
          <a:bodyPr>
            <a:normAutofit fontScale="92500" lnSpcReduction="20000"/>
          </a:bodyPr>
          <a:lstStyle/>
          <a:p>
            <a:pPr>
              <a:buClr>
                <a:srgbClr val="002060"/>
              </a:buClr>
              <a:buFont typeface="Wingdings" panose="05000000000000000000" pitchFamily="2" charset="2"/>
              <a:buChar char="Ø"/>
            </a:pPr>
            <a:r>
              <a:rPr lang="en-US" altLang="en-US" sz="2400" dirty="0"/>
              <a:t> INPUT:</a:t>
            </a:r>
          </a:p>
          <a:p>
            <a:pPr lvl="1">
              <a:buFont typeface="Wingdings" panose="05000000000000000000" pitchFamily="2" charset="2"/>
              <a:buChar char="§"/>
            </a:pPr>
            <a:r>
              <a:rPr lang="en-US" altLang="en-US" sz="2400" dirty="0"/>
              <a:t>edge-weighted graph </a:t>
            </a:r>
            <a:r>
              <a:rPr lang="en-US" altLang="en-US" sz="2400" i="1" dirty="0"/>
              <a:t>G</a:t>
            </a:r>
            <a:r>
              <a:rPr lang="en-US" altLang="en-US" sz="2400" dirty="0"/>
              <a:t> = (</a:t>
            </a:r>
            <a:r>
              <a:rPr lang="en-US" altLang="en-US" sz="2400" i="1" dirty="0"/>
              <a:t>V</a:t>
            </a:r>
            <a:r>
              <a:rPr lang="en-US" altLang="en-US" sz="2400" dirty="0"/>
              <a:t>, </a:t>
            </a:r>
            <a:r>
              <a:rPr lang="en-US" altLang="en-US" sz="2400" i="1" dirty="0"/>
              <a:t>E</a:t>
            </a:r>
            <a:r>
              <a:rPr lang="en-US" altLang="en-US" sz="2400" dirty="0"/>
              <a:t>), with |</a:t>
            </a:r>
            <a:r>
              <a:rPr lang="en-US" altLang="en-US" sz="2400" i="1" dirty="0"/>
              <a:t>V</a:t>
            </a:r>
            <a:r>
              <a:rPr lang="en-US" altLang="en-US" sz="2400" dirty="0"/>
              <a:t>| = </a:t>
            </a:r>
            <a:r>
              <a:rPr lang="en-US" altLang="en-US" sz="2400" i="1" dirty="0"/>
              <a:t>n</a:t>
            </a:r>
          </a:p>
          <a:p>
            <a:pPr marL="342900" lvl="1" indent="0">
              <a:buNone/>
            </a:pPr>
            <a:endParaRPr lang="en-US" altLang="en-US" sz="2400" i="1" dirty="0"/>
          </a:p>
          <a:p>
            <a:pPr>
              <a:buClr>
                <a:srgbClr val="002060"/>
              </a:buClr>
              <a:buFont typeface="Wingdings" panose="05000000000000000000" pitchFamily="2" charset="2"/>
              <a:buChar char="Ø"/>
            </a:pPr>
            <a:r>
              <a:rPr lang="en-US" altLang="en-US" sz="2400" dirty="0"/>
              <a:t> OUTPUT:</a:t>
            </a:r>
          </a:p>
          <a:p>
            <a:pPr lvl="1">
              <a:buFont typeface="Wingdings" panose="05000000000000000000" pitchFamily="2" charset="2"/>
              <a:buChar char="§"/>
            </a:pPr>
            <a:r>
              <a:rPr lang="en-US" altLang="en-US" sz="2400" dirty="0"/>
              <a:t>a spanning tree </a:t>
            </a:r>
            <a:r>
              <a:rPr lang="en-US" altLang="en-US" sz="2400" i="1" dirty="0">
                <a:solidFill>
                  <a:srgbClr val="002060"/>
                </a:solidFill>
              </a:rPr>
              <a:t>T </a:t>
            </a:r>
            <a:r>
              <a:rPr lang="en-US" altLang="en-US" sz="2400" dirty="0"/>
              <a:t>of </a:t>
            </a:r>
            <a:r>
              <a:rPr lang="en-US" altLang="en-US" sz="2400" i="1" dirty="0"/>
              <a:t>G</a:t>
            </a:r>
            <a:r>
              <a:rPr lang="en-US" altLang="en-US" sz="2400" dirty="0"/>
              <a:t> </a:t>
            </a:r>
          </a:p>
          <a:p>
            <a:pPr lvl="2"/>
            <a:r>
              <a:rPr lang="en-US" altLang="en-US" sz="2000" dirty="0"/>
              <a:t>touches all vertices,</a:t>
            </a:r>
          </a:p>
          <a:p>
            <a:pPr lvl="2"/>
            <a:r>
              <a:rPr lang="en-US" altLang="en-US" sz="2000" dirty="0"/>
              <a:t>has </a:t>
            </a:r>
            <a:r>
              <a:rPr lang="en-US" altLang="en-US" sz="2000" i="1" dirty="0"/>
              <a:t>n</a:t>
            </a:r>
            <a:r>
              <a:rPr lang="en-US" altLang="en-US" sz="2000" dirty="0"/>
              <a:t>-1 edges</a:t>
            </a:r>
          </a:p>
          <a:p>
            <a:pPr lvl="2"/>
            <a:r>
              <a:rPr lang="en-US" altLang="en-US" sz="2000" dirty="0"/>
              <a:t>of minimum cost ( = total edge weight)</a:t>
            </a:r>
          </a:p>
          <a:p>
            <a:endParaRPr lang="da-DK" altLang="en-US" sz="1800" dirty="0"/>
          </a:p>
          <a:p>
            <a:pPr>
              <a:buClr>
                <a:srgbClr val="002060"/>
              </a:buClr>
              <a:buFont typeface="Wingdings" panose="05000000000000000000" pitchFamily="2" charset="2"/>
              <a:buChar char="Ø"/>
            </a:pPr>
            <a:r>
              <a:rPr lang="en-US" altLang="en-US" sz="2400" dirty="0"/>
              <a:t> Algorithm:</a:t>
            </a:r>
          </a:p>
          <a:p>
            <a:pPr lvl="1">
              <a:buFont typeface="Wingdings" panose="05000000000000000000" pitchFamily="2" charset="2"/>
              <a:buChar char="§"/>
            </a:pPr>
            <a:r>
              <a:rPr lang="en-US" altLang="en-US" sz="2400" dirty="0"/>
              <a:t>Start with </a:t>
            </a:r>
            <a:r>
              <a:rPr lang="en-US" altLang="en-US" sz="2400" i="1" dirty="0"/>
              <a:t>T</a:t>
            </a:r>
            <a:r>
              <a:rPr lang="en-US" altLang="en-US" sz="2400" dirty="0"/>
              <a:t> empty, </a:t>
            </a:r>
          </a:p>
          <a:p>
            <a:pPr lvl="1">
              <a:buFont typeface="Wingdings" panose="05000000000000000000" pitchFamily="2" charset="2"/>
              <a:buChar char="§"/>
            </a:pPr>
            <a:r>
              <a:rPr lang="da-DK" altLang="en-US" sz="2400" dirty="0"/>
              <a:t>Add the edges one at a time, in </a:t>
            </a:r>
            <a:r>
              <a:rPr lang="da-DK" altLang="en-US" sz="2400" dirty="0">
                <a:solidFill>
                  <a:srgbClr val="002060"/>
                </a:solidFill>
              </a:rPr>
              <a:t>increasing weight </a:t>
            </a:r>
            <a:r>
              <a:rPr lang="da-DK" altLang="en-US" sz="2400" dirty="0"/>
              <a:t>order </a:t>
            </a:r>
          </a:p>
          <a:p>
            <a:pPr lvl="1">
              <a:buFont typeface="Wingdings" panose="05000000000000000000" pitchFamily="2" charset="2"/>
              <a:buChar char="§"/>
            </a:pPr>
            <a:r>
              <a:rPr lang="da-DK" altLang="en-US" sz="2400" dirty="0"/>
              <a:t>An edge is accepted it if connects vertices of distinct trees (</a:t>
            </a:r>
            <a:r>
              <a:rPr lang="en-US" altLang="en-US" sz="2400" dirty="0"/>
              <a:t>if the edge </a:t>
            </a:r>
            <a:r>
              <a:rPr lang="en-US" altLang="en-US" sz="2400" dirty="0">
                <a:solidFill>
                  <a:srgbClr val="002060"/>
                </a:solidFill>
              </a:rPr>
              <a:t>does not form a cycle </a:t>
            </a:r>
            <a:r>
              <a:rPr lang="en-US" altLang="en-US" sz="2400" dirty="0"/>
              <a:t>in </a:t>
            </a:r>
            <a:r>
              <a:rPr lang="en-US" altLang="en-US" sz="2400" i="1" dirty="0"/>
              <a:t>T</a:t>
            </a:r>
            <a:r>
              <a:rPr lang="en-US" altLang="en-US" sz="2400" dirty="0"/>
              <a:t>)</a:t>
            </a:r>
          </a:p>
          <a:p>
            <a:pPr lvl="1">
              <a:buFont typeface="Wingdings" panose="05000000000000000000" pitchFamily="2" charset="2"/>
              <a:buChar char="§"/>
            </a:pPr>
            <a:r>
              <a:rPr lang="en-US" altLang="en-US" sz="2400" dirty="0"/>
              <a:t>until </a:t>
            </a:r>
            <a:r>
              <a:rPr lang="en-US" altLang="en-US" sz="2400" i="1" dirty="0"/>
              <a:t>T</a:t>
            </a:r>
            <a:r>
              <a:rPr lang="en-US" altLang="en-US" sz="2400" dirty="0"/>
              <a:t> contains </a:t>
            </a:r>
            <a:r>
              <a:rPr lang="en-US" altLang="en-US" sz="2400" i="1" dirty="0"/>
              <a:t>n</a:t>
            </a:r>
            <a:r>
              <a:rPr lang="en-US" altLang="en-US" sz="2400" dirty="0"/>
              <a:t>-1 edges</a:t>
            </a:r>
          </a:p>
        </p:txBody>
      </p:sp>
    </p:spTree>
    <p:extLst>
      <p:ext uri="{BB962C8B-B14F-4D97-AF65-F5344CB8AC3E}">
        <p14:creationId xmlns:p14="http://schemas.microsoft.com/office/powerpoint/2010/main" val="2204683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9090" name="Rectangle 2"/>
          <p:cNvSpPr>
            <a:spLocks noGrp="1" noChangeArrowheads="1"/>
          </p:cNvSpPr>
          <p:nvPr>
            <p:ph type="title"/>
          </p:nvPr>
        </p:nvSpPr>
        <p:spPr/>
        <p:txBody>
          <a:bodyPr/>
          <a:lstStyle/>
          <a:p>
            <a:r>
              <a:rPr lang="en-US" altLang="en-US" sz="3200"/>
              <a:t>Data Structures For Kruskal’s Algorithm</a:t>
            </a:r>
          </a:p>
        </p:txBody>
      </p:sp>
      <p:sp>
        <p:nvSpPr>
          <p:cNvPr id="2009091" name="Rectangle 3"/>
          <p:cNvSpPr>
            <a:spLocks noGrp="1" noChangeArrowheads="1"/>
          </p:cNvSpPr>
          <p:nvPr>
            <p:ph type="body" idx="1"/>
          </p:nvPr>
        </p:nvSpPr>
        <p:spPr/>
        <p:txBody>
          <a:bodyPr/>
          <a:lstStyle/>
          <a:p>
            <a:r>
              <a:rPr lang="en-US" altLang="en-US" dirty="0">
                <a:effectLst/>
              </a:rPr>
              <a:t>Initially, </a:t>
            </a:r>
            <a:r>
              <a:rPr lang="en-US" altLang="en-US" i="1" dirty="0">
                <a:solidFill>
                  <a:srgbClr val="002060"/>
                </a:solidFill>
                <a:effectLst/>
              </a:rPr>
              <a:t>T</a:t>
            </a:r>
            <a:r>
              <a:rPr lang="en-US" altLang="en-US" dirty="0">
                <a:effectLst/>
              </a:rPr>
              <a:t> is empty</a:t>
            </a:r>
          </a:p>
          <a:p>
            <a:endParaRPr lang="en-US" altLang="en-US" dirty="0">
              <a:effectLst/>
            </a:endParaRPr>
          </a:p>
          <a:p>
            <a:endParaRPr lang="en-US" altLang="en-US" dirty="0">
              <a:effectLst/>
            </a:endParaRPr>
          </a:p>
          <a:p>
            <a:endParaRPr lang="en-US" altLang="en-US" dirty="0">
              <a:effectLst/>
            </a:endParaRPr>
          </a:p>
          <a:p>
            <a:endParaRPr lang="en-US" altLang="en-US" dirty="0">
              <a:effectLst/>
            </a:endParaRPr>
          </a:p>
          <a:p>
            <a:r>
              <a:rPr lang="en-US" altLang="en-US" dirty="0">
                <a:effectLst/>
              </a:rPr>
              <a:t>Initial sets are: </a:t>
            </a:r>
          </a:p>
          <a:p>
            <a:pPr lvl="1"/>
            <a:r>
              <a:rPr lang="en-US" altLang="en-US" dirty="0"/>
              <a:t>{1} {2} {3} {4} {5} {6} {7} {8}</a:t>
            </a:r>
          </a:p>
          <a:p>
            <a:endParaRPr lang="en-US" altLang="en-US" sz="2000" dirty="0"/>
          </a:p>
          <a:p>
            <a:r>
              <a:rPr lang="en-US" altLang="en-US" dirty="0">
                <a:effectLst/>
              </a:rPr>
              <a:t>Does the addition of an edge </a:t>
            </a:r>
            <a:r>
              <a:rPr lang="en-US" altLang="en-US" dirty="0">
                <a:solidFill>
                  <a:srgbClr val="002060"/>
                </a:solidFill>
                <a:effectLst/>
              </a:rPr>
              <a:t>(</a:t>
            </a:r>
            <a:r>
              <a:rPr lang="en-US" altLang="en-US" i="1" dirty="0">
                <a:solidFill>
                  <a:srgbClr val="002060"/>
                </a:solidFill>
                <a:effectLst/>
              </a:rPr>
              <a:t>u</a:t>
            </a:r>
            <a:r>
              <a:rPr lang="en-US" altLang="en-US" dirty="0">
                <a:solidFill>
                  <a:srgbClr val="002060"/>
                </a:solidFill>
                <a:effectLst/>
              </a:rPr>
              <a:t>, </a:t>
            </a:r>
            <a:r>
              <a:rPr lang="en-US" altLang="en-US" i="1" dirty="0">
                <a:solidFill>
                  <a:srgbClr val="002060"/>
                </a:solidFill>
                <a:effectLst/>
              </a:rPr>
              <a:t>v</a:t>
            </a:r>
            <a:r>
              <a:rPr lang="en-US" altLang="en-US" dirty="0">
                <a:solidFill>
                  <a:srgbClr val="002060"/>
                </a:solidFill>
                <a:effectLst/>
              </a:rPr>
              <a:t>) </a:t>
            </a:r>
            <a:r>
              <a:rPr lang="en-US" altLang="en-US" dirty="0">
                <a:effectLst/>
              </a:rPr>
              <a:t>to </a:t>
            </a:r>
            <a:r>
              <a:rPr lang="en-US" altLang="en-US" i="1" dirty="0">
                <a:solidFill>
                  <a:srgbClr val="002060"/>
                </a:solidFill>
                <a:effectLst/>
              </a:rPr>
              <a:t>T</a:t>
            </a:r>
            <a:r>
              <a:rPr lang="en-US" altLang="en-US" dirty="0">
                <a:effectLst/>
              </a:rPr>
              <a:t> result in a cycle? If not, add edge to </a:t>
            </a:r>
            <a:r>
              <a:rPr lang="en-US" altLang="en-US" i="1" dirty="0">
                <a:solidFill>
                  <a:srgbClr val="002060"/>
                </a:solidFill>
                <a:effectLst/>
              </a:rPr>
              <a:t>T</a:t>
            </a:r>
            <a:endParaRPr lang="en-US" altLang="en-US" dirty="0">
              <a:solidFill>
                <a:srgbClr val="002060"/>
              </a:solidFill>
              <a:effectLst/>
            </a:endParaRPr>
          </a:p>
          <a:p>
            <a:pPr lvl="1"/>
            <a:r>
              <a:rPr lang="en-US" altLang="en-US" i="1" dirty="0"/>
              <a:t>s</a:t>
            </a:r>
            <a:r>
              <a:rPr lang="en-US" altLang="en-US" baseline="-25000" dirty="0"/>
              <a:t>1</a:t>
            </a:r>
            <a:r>
              <a:rPr lang="en-US" altLang="en-US" dirty="0"/>
              <a:t> = Find-Set(</a:t>
            </a:r>
            <a:r>
              <a:rPr lang="en-US" altLang="en-US" i="1" dirty="0">
                <a:solidFill>
                  <a:srgbClr val="002060"/>
                </a:solidFill>
              </a:rPr>
              <a:t>u</a:t>
            </a:r>
            <a:r>
              <a:rPr lang="en-US" altLang="en-US" dirty="0"/>
              <a:t>); </a:t>
            </a:r>
            <a:r>
              <a:rPr lang="en-US" altLang="en-US" i="1" dirty="0"/>
              <a:t>s</a:t>
            </a:r>
            <a:r>
              <a:rPr lang="en-US" altLang="en-US" baseline="-25000" dirty="0"/>
              <a:t>2</a:t>
            </a:r>
            <a:r>
              <a:rPr lang="en-US" altLang="en-US" dirty="0"/>
              <a:t> = Find-Set(</a:t>
            </a:r>
            <a:r>
              <a:rPr lang="en-US" altLang="en-US" i="1" dirty="0">
                <a:solidFill>
                  <a:srgbClr val="002060"/>
                </a:solidFill>
              </a:rPr>
              <a:t>v</a:t>
            </a:r>
            <a:r>
              <a:rPr lang="en-US" altLang="en-US" dirty="0"/>
              <a:t>);</a:t>
            </a:r>
          </a:p>
          <a:p>
            <a:pPr lvl="1"/>
            <a:r>
              <a:rPr lang="en-US" altLang="en-US" dirty="0"/>
              <a:t>if (</a:t>
            </a:r>
            <a:r>
              <a:rPr lang="en-US" altLang="en-US" i="1" dirty="0"/>
              <a:t>s</a:t>
            </a:r>
            <a:r>
              <a:rPr lang="en-US" altLang="en-US" baseline="-25000" dirty="0"/>
              <a:t>1</a:t>
            </a:r>
            <a:r>
              <a:rPr lang="en-US" altLang="en-US" dirty="0"/>
              <a:t> </a:t>
            </a:r>
            <a:r>
              <a:rPr lang="en-US" altLang="en-US" b="1" dirty="0">
                <a:sym typeface="Symbol" panose="05050102010706020507" pitchFamily="18" charset="2"/>
              </a:rPr>
              <a:t></a:t>
            </a:r>
            <a:r>
              <a:rPr lang="en-US" altLang="en-US" dirty="0"/>
              <a:t> </a:t>
            </a:r>
            <a:r>
              <a:rPr lang="en-US" altLang="en-US" i="1" dirty="0"/>
              <a:t>s</a:t>
            </a:r>
            <a:r>
              <a:rPr lang="en-US" altLang="en-US" baseline="-25000" dirty="0"/>
              <a:t>2</a:t>
            </a:r>
            <a:r>
              <a:rPr lang="en-US" altLang="en-US" dirty="0"/>
              <a:t>) then Union(</a:t>
            </a:r>
            <a:r>
              <a:rPr lang="en-US" altLang="en-US" i="1" dirty="0"/>
              <a:t>s</a:t>
            </a:r>
            <a:r>
              <a:rPr lang="en-US" altLang="en-US" baseline="-25000" dirty="0"/>
              <a:t>1</a:t>
            </a:r>
            <a:r>
              <a:rPr lang="en-US" altLang="en-US" dirty="0"/>
              <a:t>, </a:t>
            </a:r>
            <a:r>
              <a:rPr lang="en-US" altLang="en-US" i="1" dirty="0"/>
              <a:t>s</a:t>
            </a:r>
            <a:r>
              <a:rPr lang="en-US" altLang="en-US" baseline="-25000" dirty="0"/>
              <a:t>2</a:t>
            </a:r>
            <a:r>
              <a:rPr lang="en-US" altLang="en-US" dirty="0"/>
              <a:t>);</a:t>
            </a:r>
          </a:p>
        </p:txBody>
      </p:sp>
      <p:sp>
        <p:nvSpPr>
          <p:cNvPr id="2009109" name="Oval 21"/>
          <p:cNvSpPr>
            <a:spLocks noChangeArrowheads="1"/>
          </p:cNvSpPr>
          <p:nvPr/>
        </p:nvSpPr>
        <p:spPr bwMode="auto">
          <a:xfrm>
            <a:off x="4119563" y="1871663"/>
            <a:ext cx="285750" cy="27781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09110" name="Rectangle 22"/>
          <p:cNvSpPr>
            <a:spLocks noChangeArrowheads="1"/>
          </p:cNvSpPr>
          <p:nvPr/>
        </p:nvSpPr>
        <p:spPr bwMode="auto">
          <a:xfrm>
            <a:off x="4114800" y="1828800"/>
            <a:ext cx="427038"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eaLnBrk="0" hangingPunct="0">
              <a:spcBef>
                <a:spcPct val="50000"/>
              </a:spcBef>
            </a:pPr>
            <a:r>
              <a:rPr lang="en-US" altLang="en-US" sz="2000">
                <a:latin typeface="Times New Roman" panose="02020603050405020304" pitchFamily="18" charset="0"/>
              </a:rPr>
              <a:t>1</a:t>
            </a:r>
          </a:p>
        </p:txBody>
      </p:sp>
      <p:sp>
        <p:nvSpPr>
          <p:cNvPr id="2009111" name="Oval 23"/>
          <p:cNvSpPr>
            <a:spLocks noChangeArrowheads="1"/>
          </p:cNvSpPr>
          <p:nvPr/>
        </p:nvSpPr>
        <p:spPr bwMode="auto">
          <a:xfrm>
            <a:off x="5164138" y="1871663"/>
            <a:ext cx="285750" cy="27781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09112" name="Rectangle 24"/>
          <p:cNvSpPr>
            <a:spLocks noChangeArrowheads="1"/>
          </p:cNvSpPr>
          <p:nvPr/>
        </p:nvSpPr>
        <p:spPr bwMode="auto">
          <a:xfrm>
            <a:off x="5181601" y="1828800"/>
            <a:ext cx="220663"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eaLnBrk="0" hangingPunct="0">
              <a:spcBef>
                <a:spcPct val="50000"/>
              </a:spcBef>
            </a:pPr>
            <a:r>
              <a:rPr lang="en-US" altLang="en-US" sz="2000">
                <a:latin typeface="Times New Roman" panose="02020603050405020304" pitchFamily="18" charset="0"/>
              </a:rPr>
              <a:t>3</a:t>
            </a:r>
          </a:p>
        </p:txBody>
      </p:sp>
      <p:sp>
        <p:nvSpPr>
          <p:cNvPr id="2009113" name="Oval 25"/>
          <p:cNvSpPr>
            <a:spLocks noChangeArrowheads="1"/>
          </p:cNvSpPr>
          <p:nvPr/>
        </p:nvSpPr>
        <p:spPr bwMode="auto">
          <a:xfrm>
            <a:off x="6208713" y="1871663"/>
            <a:ext cx="285750" cy="27781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09114" name="Rectangle 26"/>
          <p:cNvSpPr>
            <a:spLocks noChangeArrowheads="1"/>
          </p:cNvSpPr>
          <p:nvPr/>
        </p:nvSpPr>
        <p:spPr bwMode="auto">
          <a:xfrm>
            <a:off x="6234114" y="1828800"/>
            <a:ext cx="395287"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eaLnBrk="0" hangingPunct="0">
              <a:spcBef>
                <a:spcPct val="50000"/>
              </a:spcBef>
            </a:pPr>
            <a:r>
              <a:rPr lang="en-US" altLang="en-US" sz="2000">
                <a:latin typeface="Times New Roman" panose="02020603050405020304" pitchFamily="18" charset="0"/>
              </a:rPr>
              <a:t>5</a:t>
            </a:r>
          </a:p>
        </p:txBody>
      </p:sp>
      <p:sp>
        <p:nvSpPr>
          <p:cNvPr id="2009115" name="Oval 27"/>
          <p:cNvSpPr>
            <a:spLocks noChangeArrowheads="1"/>
          </p:cNvSpPr>
          <p:nvPr/>
        </p:nvSpPr>
        <p:spPr bwMode="auto">
          <a:xfrm>
            <a:off x="7253288" y="1871663"/>
            <a:ext cx="285750" cy="27781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09116" name="Rectangle 28"/>
          <p:cNvSpPr>
            <a:spLocks noChangeArrowheads="1"/>
          </p:cNvSpPr>
          <p:nvPr/>
        </p:nvSpPr>
        <p:spPr bwMode="auto">
          <a:xfrm>
            <a:off x="7278688" y="1828800"/>
            <a:ext cx="341312"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eaLnBrk="0" hangingPunct="0">
              <a:spcBef>
                <a:spcPct val="50000"/>
              </a:spcBef>
            </a:pPr>
            <a:r>
              <a:rPr lang="en-US" altLang="en-US" sz="2000">
                <a:latin typeface="Times New Roman" panose="02020603050405020304" pitchFamily="18" charset="0"/>
              </a:rPr>
              <a:t>7</a:t>
            </a:r>
          </a:p>
        </p:txBody>
      </p:sp>
      <p:sp>
        <p:nvSpPr>
          <p:cNvPr id="2009117" name="Oval 29"/>
          <p:cNvSpPr>
            <a:spLocks noChangeArrowheads="1"/>
          </p:cNvSpPr>
          <p:nvPr/>
        </p:nvSpPr>
        <p:spPr bwMode="auto">
          <a:xfrm>
            <a:off x="4119563" y="2693988"/>
            <a:ext cx="285750" cy="27781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09118" name="Rectangle 30"/>
          <p:cNvSpPr>
            <a:spLocks noChangeArrowheads="1"/>
          </p:cNvSpPr>
          <p:nvPr/>
        </p:nvSpPr>
        <p:spPr bwMode="auto">
          <a:xfrm>
            <a:off x="4114800" y="2651125"/>
            <a:ext cx="503238"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eaLnBrk="0" hangingPunct="0">
              <a:spcBef>
                <a:spcPct val="50000"/>
              </a:spcBef>
            </a:pPr>
            <a:r>
              <a:rPr lang="en-US" altLang="en-US" sz="2000">
                <a:latin typeface="Times New Roman" panose="02020603050405020304" pitchFamily="18" charset="0"/>
              </a:rPr>
              <a:t>2</a:t>
            </a:r>
          </a:p>
        </p:txBody>
      </p:sp>
      <p:sp>
        <p:nvSpPr>
          <p:cNvPr id="2009119" name="Oval 31"/>
          <p:cNvSpPr>
            <a:spLocks noChangeArrowheads="1"/>
          </p:cNvSpPr>
          <p:nvPr/>
        </p:nvSpPr>
        <p:spPr bwMode="auto">
          <a:xfrm>
            <a:off x="5164138" y="2693988"/>
            <a:ext cx="285750" cy="27781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09120" name="Rectangle 32"/>
          <p:cNvSpPr>
            <a:spLocks noChangeArrowheads="1"/>
          </p:cNvSpPr>
          <p:nvPr/>
        </p:nvSpPr>
        <p:spPr bwMode="auto">
          <a:xfrm>
            <a:off x="5189538" y="2651125"/>
            <a:ext cx="373062"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eaLnBrk="0" hangingPunct="0">
              <a:spcBef>
                <a:spcPct val="50000"/>
              </a:spcBef>
            </a:pPr>
            <a:r>
              <a:rPr lang="en-US" altLang="en-US" sz="2000">
                <a:latin typeface="Times New Roman" panose="02020603050405020304" pitchFamily="18" charset="0"/>
              </a:rPr>
              <a:t>4</a:t>
            </a:r>
          </a:p>
        </p:txBody>
      </p:sp>
      <p:sp>
        <p:nvSpPr>
          <p:cNvPr id="2009121" name="Oval 33"/>
          <p:cNvSpPr>
            <a:spLocks noChangeArrowheads="1"/>
          </p:cNvSpPr>
          <p:nvPr/>
        </p:nvSpPr>
        <p:spPr bwMode="auto">
          <a:xfrm>
            <a:off x="6208713" y="2693988"/>
            <a:ext cx="285750" cy="27781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09122" name="Rectangle 34"/>
          <p:cNvSpPr>
            <a:spLocks noChangeArrowheads="1"/>
          </p:cNvSpPr>
          <p:nvPr/>
        </p:nvSpPr>
        <p:spPr bwMode="auto">
          <a:xfrm>
            <a:off x="6172200" y="2590800"/>
            <a:ext cx="471488"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eaLnBrk="0" hangingPunct="0">
              <a:spcBef>
                <a:spcPct val="50000"/>
              </a:spcBef>
            </a:pPr>
            <a:r>
              <a:rPr lang="en-US" altLang="en-US" sz="2000">
                <a:latin typeface="Times New Roman" panose="02020603050405020304" pitchFamily="18" charset="0"/>
              </a:rPr>
              <a:t>6</a:t>
            </a:r>
          </a:p>
        </p:txBody>
      </p:sp>
      <p:sp>
        <p:nvSpPr>
          <p:cNvPr id="2009123" name="Oval 35"/>
          <p:cNvSpPr>
            <a:spLocks noChangeArrowheads="1"/>
          </p:cNvSpPr>
          <p:nvPr/>
        </p:nvSpPr>
        <p:spPr bwMode="auto">
          <a:xfrm>
            <a:off x="7253288" y="2693988"/>
            <a:ext cx="285750" cy="27781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09124" name="Rectangle 36"/>
          <p:cNvSpPr>
            <a:spLocks noChangeArrowheads="1"/>
          </p:cNvSpPr>
          <p:nvPr/>
        </p:nvSpPr>
        <p:spPr bwMode="auto">
          <a:xfrm>
            <a:off x="7239001" y="2590800"/>
            <a:ext cx="265113"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eaLnBrk="0" hangingPunct="0">
              <a:spcBef>
                <a:spcPct val="50000"/>
              </a:spcBef>
            </a:pPr>
            <a:r>
              <a:rPr lang="en-US" altLang="en-US" sz="2000">
                <a:latin typeface="Times New Roman" panose="02020603050405020304" pitchFamily="18" charset="0"/>
              </a:rPr>
              <a:t>8</a:t>
            </a:r>
          </a:p>
        </p:txBody>
      </p:sp>
    </p:spTree>
    <p:extLst>
      <p:ext uri="{BB962C8B-B14F-4D97-AF65-F5344CB8AC3E}">
        <p14:creationId xmlns:p14="http://schemas.microsoft.com/office/powerpoint/2010/main" val="32001418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7826" name="Rectangle 2"/>
          <p:cNvSpPr>
            <a:spLocks noGrp="1" noChangeArrowheads="1"/>
          </p:cNvSpPr>
          <p:nvPr>
            <p:ph type="title"/>
          </p:nvPr>
        </p:nvSpPr>
        <p:spPr>
          <a:xfrm>
            <a:off x="152400" y="304800"/>
            <a:ext cx="10515600" cy="636361"/>
          </a:xfrm>
        </p:spPr>
        <p:txBody>
          <a:bodyPr/>
          <a:lstStyle/>
          <a:p>
            <a:r>
              <a:rPr lang="da-DK" altLang="en-US" sz="3200" b="1" dirty="0"/>
              <a:t>Kruskal's Algorithm Code</a:t>
            </a:r>
          </a:p>
        </p:txBody>
      </p:sp>
      <p:sp>
        <p:nvSpPr>
          <p:cNvPr id="1997828" name="Rectangle 4"/>
          <p:cNvSpPr>
            <a:spLocks noChangeArrowheads="1"/>
          </p:cNvSpPr>
          <p:nvPr/>
        </p:nvSpPr>
        <p:spPr bwMode="auto">
          <a:xfrm>
            <a:off x="304800" y="1143000"/>
            <a:ext cx="96012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lgn="l" eaLnBrk="0" hangingPunct="0">
              <a:tabLst>
                <a:tab pos="228600" algn="l"/>
                <a:tab pos="431800" algn="l"/>
                <a:tab pos="647700" algn="l"/>
                <a:tab pos="863600" algn="l"/>
                <a:tab pos="1079500" algn="l"/>
                <a:tab pos="1295400" algn="l"/>
                <a:tab pos="1511300" algn="l"/>
                <a:tab pos="1728788" algn="l"/>
                <a:tab pos="1944688" algn="l"/>
                <a:tab pos="2160588" algn="l"/>
                <a:tab pos="2376488" algn="l"/>
              </a:tabLst>
              <a:defRPr sz="2400">
                <a:solidFill>
                  <a:schemeClr val="tx1"/>
                </a:solidFill>
                <a:latin typeface="Times New Roman" panose="02020603050405020304" pitchFamily="18" charset="0"/>
              </a:defRPr>
            </a:lvl1pPr>
            <a:lvl2pPr marL="742950" indent="-285750" algn="l" eaLnBrk="0" hangingPunct="0">
              <a:tabLst>
                <a:tab pos="228600" algn="l"/>
                <a:tab pos="431800" algn="l"/>
                <a:tab pos="647700" algn="l"/>
                <a:tab pos="863600" algn="l"/>
                <a:tab pos="1079500" algn="l"/>
                <a:tab pos="1295400" algn="l"/>
                <a:tab pos="1511300" algn="l"/>
                <a:tab pos="1728788" algn="l"/>
                <a:tab pos="1944688" algn="l"/>
                <a:tab pos="2160588" algn="l"/>
                <a:tab pos="2376488" algn="l"/>
              </a:tabLst>
              <a:defRPr sz="2400">
                <a:solidFill>
                  <a:schemeClr val="tx1"/>
                </a:solidFill>
                <a:latin typeface="Times New Roman" panose="02020603050405020304" pitchFamily="18" charset="0"/>
              </a:defRPr>
            </a:lvl2pPr>
            <a:lvl3pPr marL="1143000" indent="-228600" algn="l" eaLnBrk="0" hangingPunct="0">
              <a:tabLst>
                <a:tab pos="228600" algn="l"/>
                <a:tab pos="431800" algn="l"/>
                <a:tab pos="647700" algn="l"/>
                <a:tab pos="863600" algn="l"/>
                <a:tab pos="1079500" algn="l"/>
                <a:tab pos="1295400" algn="l"/>
                <a:tab pos="1511300" algn="l"/>
                <a:tab pos="1728788" algn="l"/>
                <a:tab pos="1944688" algn="l"/>
                <a:tab pos="2160588" algn="l"/>
                <a:tab pos="2376488" algn="l"/>
              </a:tabLst>
              <a:defRPr sz="2400">
                <a:solidFill>
                  <a:schemeClr val="tx1"/>
                </a:solidFill>
                <a:latin typeface="Times New Roman" panose="02020603050405020304" pitchFamily="18" charset="0"/>
              </a:defRPr>
            </a:lvl3pPr>
            <a:lvl4pPr marL="1600200" indent="-228600" algn="l" eaLnBrk="0" hangingPunct="0">
              <a:tabLst>
                <a:tab pos="228600" algn="l"/>
                <a:tab pos="431800" algn="l"/>
                <a:tab pos="647700" algn="l"/>
                <a:tab pos="863600" algn="l"/>
                <a:tab pos="1079500" algn="l"/>
                <a:tab pos="1295400" algn="l"/>
                <a:tab pos="1511300" algn="l"/>
                <a:tab pos="1728788" algn="l"/>
                <a:tab pos="1944688" algn="l"/>
                <a:tab pos="2160588" algn="l"/>
                <a:tab pos="2376488" algn="l"/>
              </a:tabLst>
              <a:defRPr sz="2400">
                <a:solidFill>
                  <a:schemeClr val="tx1"/>
                </a:solidFill>
                <a:latin typeface="Times New Roman" panose="02020603050405020304" pitchFamily="18" charset="0"/>
              </a:defRPr>
            </a:lvl4pPr>
            <a:lvl5pPr marL="2057400" indent="-228600" algn="l" eaLnBrk="0" hangingPunct="0">
              <a:tabLst>
                <a:tab pos="228600" algn="l"/>
                <a:tab pos="431800" algn="l"/>
                <a:tab pos="647700" algn="l"/>
                <a:tab pos="863600" algn="l"/>
                <a:tab pos="1079500" algn="l"/>
                <a:tab pos="1295400" algn="l"/>
                <a:tab pos="1511300" algn="l"/>
                <a:tab pos="1728788" algn="l"/>
                <a:tab pos="1944688" algn="l"/>
                <a:tab pos="2160588" algn="l"/>
                <a:tab pos="2376488"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228600" algn="l"/>
                <a:tab pos="431800" algn="l"/>
                <a:tab pos="647700" algn="l"/>
                <a:tab pos="863600" algn="l"/>
                <a:tab pos="1079500" algn="l"/>
                <a:tab pos="1295400" algn="l"/>
                <a:tab pos="1511300" algn="l"/>
                <a:tab pos="1728788" algn="l"/>
                <a:tab pos="1944688" algn="l"/>
                <a:tab pos="2160588" algn="l"/>
                <a:tab pos="2376488"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228600" algn="l"/>
                <a:tab pos="431800" algn="l"/>
                <a:tab pos="647700" algn="l"/>
                <a:tab pos="863600" algn="l"/>
                <a:tab pos="1079500" algn="l"/>
                <a:tab pos="1295400" algn="l"/>
                <a:tab pos="1511300" algn="l"/>
                <a:tab pos="1728788" algn="l"/>
                <a:tab pos="1944688" algn="l"/>
                <a:tab pos="2160588" algn="l"/>
                <a:tab pos="2376488"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228600" algn="l"/>
                <a:tab pos="431800" algn="l"/>
                <a:tab pos="647700" algn="l"/>
                <a:tab pos="863600" algn="l"/>
                <a:tab pos="1079500" algn="l"/>
                <a:tab pos="1295400" algn="l"/>
                <a:tab pos="1511300" algn="l"/>
                <a:tab pos="1728788" algn="l"/>
                <a:tab pos="1944688" algn="l"/>
                <a:tab pos="2160588" algn="l"/>
                <a:tab pos="2376488"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228600" algn="l"/>
                <a:tab pos="431800" algn="l"/>
                <a:tab pos="647700" algn="l"/>
                <a:tab pos="863600" algn="l"/>
                <a:tab pos="1079500" algn="l"/>
                <a:tab pos="1295400" algn="l"/>
                <a:tab pos="1511300" algn="l"/>
                <a:tab pos="1728788" algn="l"/>
                <a:tab pos="1944688" algn="l"/>
                <a:tab pos="2160588" algn="l"/>
                <a:tab pos="2376488" algn="l"/>
              </a:tabLst>
              <a:defRPr sz="2400">
                <a:solidFill>
                  <a:schemeClr val="tx1"/>
                </a:solidFill>
                <a:latin typeface="Times New Roman" panose="02020603050405020304" pitchFamily="18" charset="0"/>
              </a:defRPr>
            </a:lvl9pPr>
          </a:lstStyle>
          <a:p>
            <a:r>
              <a:rPr lang="da-DK" altLang="en-US" sz="2000" dirty="0">
                <a:latin typeface="Courier New" panose="02070309020205020404" pitchFamily="49" charset="0"/>
                <a:cs typeface="Times New Roman" panose="02020603050405020304" pitchFamily="18" charset="0"/>
              </a:rPr>
              <a:t>MST-Kruskal</a:t>
            </a:r>
            <a:r>
              <a:rPr lang="en-US" altLang="en-US" sz="2000" dirty="0">
                <a:latin typeface="Courier New" panose="02070309020205020404" pitchFamily="49" charset="0"/>
                <a:cs typeface="Times New Roman" panose="02020603050405020304" pitchFamily="18" charset="0"/>
              </a:rPr>
              <a:t>(</a:t>
            </a:r>
            <a:r>
              <a:rPr lang="en-US" altLang="en-US" sz="2000" i="1" dirty="0" err="1">
                <a:latin typeface="Courier New" panose="02070309020205020404" pitchFamily="49" charset="0"/>
                <a:cs typeface="Times New Roman" panose="02020603050405020304" pitchFamily="18" charset="0"/>
              </a:rPr>
              <a:t>G</a:t>
            </a:r>
            <a:r>
              <a:rPr lang="en-US" altLang="en-US" sz="2000" dirty="0" err="1">
                <a:latin typeface="Courier New" panose="02070309020205020404" pitchFamily="49" charset="0"/>
                <a:cs typeface="Times New Roman" panose="02020603050405020304" pitchFamily="18" charset="0"/>
              </a:rPr>
              <a:t>,</a:t>
            </a:r>
            <a:r>
              <a:rPr lang="en-US" altLang="en-US" sz="2000" i="1" dirty="0" err="1">
                <a:latin typeface="Courier New" panose="02070309020205020404" pitchFamily="49" charset="0"/>
                <a:cs typeface="Times New Roman" panose="02020603050405020304" pitchFamily="18" charset="0"/>
              </a:rPr>
              <a:t>w</a:t>
            </a:r>
            <a:r>
              <a:rPr lang="en-US" altLang="en-US" sz="2000" dirty="0">
                <a:latin typeface="Courier New" panose="02070309020205020404" pitchFamily="49" charset="0"/>
                <a:cs typeface="Times New Roman" panose="02020603050405020304" pitchFamily="18" charset="0"/>
              </a:rPr>
              <a:t>)</a:t>
            </a:r>
          </a:p>
          <a:p>
            <a:r>
              <a:rPr lang="en-US" altLang="en-US" sz="2000" dirty="0">
                <a:latin typeface="Courier New" panose="02070309020205020404" pitchFamily="49" charset="0"/>
                <a:cs typeface="Courier New" panose="02070309020205020404" pitchFamily="49" charset="0"/>
              </a:rPr>
              <a:t>1</a:t>
            </a:r>
            <a:r>
              <a:rPr lang="en-US" altLang="en-US" sz="2000" dirty="0">
                <a:latin typeface="Courier New" panose="02070309020205020404" pitchFamily="49" charset="0"/>
                <a:cs typeface="Times New Roman" panose="02020603050405020304" pitchFamily="18" charset="0"/>
              </a:rPr>
              <a:t> </a:t>
            </a:r>
            <a:r>
              <a:rPr lang="da-DK" altLang="en-US" sz="2000" i="1" dirty="0">
                <a:latin typeface="Courier New" panose="02070309020205020404" pitchFamily="49" charset="0"/>
                <a:cs typeface="Times New Roman" panose="02020603050405020304" pitchFamily="18" charset="0"/>
              </a:rPr>
              <a:t>T</a:t>
            </a:r>
            <a:r>
              <a:rPr lang="en-US" altLang="en-US" sz="2000" dirty="0">
                <a:latin typeface="Courier New" panose="02070309020205020404" pitchFamily="49" charset="0"/>
                <a:cs typeface="Times New Roman" panose="02020603050405020304" pitchFamily="18" charset="0"/>
              </a:rPr>
              <a:t> </a:t>
            </a:r>
            <a:r>
              <a:rPr lang="en-US" altLang="en-US" sz="2000" dirty="0">
                <a:latin typeface="Symbol" panose="05050102010706020507" pitchFamily="18" charset="2"/>
                <a:cs typeface="Courier New" panose="02070309020205020404" pitchFamily="49" charset="0"/>
              </a:rPr>
              <a:t>¬</a:t>
            </a:r>
            <a:r>
              <a:rPr lang="en-US" altLang="en-US" sz="2000" dirty="0">
                <a:latin typeface="Courier New" panose="02070309020205020404" pitchFamily="49" charset="0"/>
                <a:cs typeface="Times New Roman" panose="02020603050405020304" pitchFamily="18" charset="0"/>
              </a:rPr>
              <a:t> </a:t>
            </a:r>
            <a:r>
              <a:rPr lang="en-US" altLang="en-US" sz="2000" dirty="0">
                <a:latin typeface="Symbol" panose="05050102010706020507" pitchFamily="18" charset="2"/>
                <a:cs typeface="Times New Roman" panose="02020603050405020304" pitchFamily="18" charset="0"/>
              </a:rPr>
              <a:t>Æ</a:t>
            </a:r>
            <a:endParaRPr lang="en-US" altLang="en-US" sz="2000" dirty="0">
              <a:latin typeface="Courier New" panose="02070309020205020404" pitchFamily="49" charset="0"/>
              <a:cs typeface="Times New Roman" panose="02020603050405020304" pitchFamily="18" charset="0"/>
            </a:endParaRPr>
          </a:p>
          <a:p>
            <a:r>
              <a:rPr lang="en-US" altLang="en-US" sz="2000" dirty="0">
                <a:latin typeface="Courier New" panose="02070309020205020404" pitchFamily="49" charset="0"/>
                <a:cs typeface="Times New Roman" panose="02020603050405020304" pitchFamily="18" charset="0"/>
              </a:rPr>
              <a:t>2 for each </a:t>
            </a:r>
            <a:r>
              <a:rPr lang="da-DK" altLang="en-US" sz="2000" dirty="0">
                <a:latin typeface="Courier New" panose="02070309020205020404" pitchFamily="49" charset="0"/>
                <a:cs typeface="Times New Roman" panose="02020603050405020304" pitchFamily="18" charset="0"/>
              </a:rPr>
              <a:t>vertex </a:t>
            </a:r>
            <a:r>
              <a:rPr lang="da-DK" altLang="en-US" sz="2000" i="1" dirty="0">
                <a:latin typeface="Courier New" panose="02070309020205020404" pitchFamily="49" charset="0"/>
                <a:cs typeface="Times New Roman" panose="02020603050405020304" pitchFamily="18" charset="0"/>
              </a:rPr>
              <a:t>v</a:t>
            </a:r>
            <a:r>
              <a:rPr lang="en-US" altLang="en-US" sz="2000" dirty="0">
                <a:latin typeface="Courier New" panose="02070309020205020404" pitchFamily="49" charset="0"/>
                <a:cs typeface="Times New Roman" panose="02020603050405020304" pitchFamily="18" charset="0"/>
              </a:rPr>
              <a:t> </a:t>
            </a:r>
            <a:r>
              <a:rPr lang="en-US" altLang="en-US" sz="2000" dirty="0">
                <a:latin typeface="Symbol" panose="05050102010706020507" pitchFamily="18" charset="2"/>
                <a:cs typeface="Times New Roman" panose="02020603050405020304" pitchFamily="18" charset="0"/>
              </a:rPr>
              <a:t>Î</a:t>
            </a:r>
            <a:r>
              <a:rPr lang="en-US" altLang="en-US" sz="2000" dirty="0">
                <a:latin typeface="Courier New" panose="02070309020205020404" pitchFamily="49" charset="0"/>
                <a:cs typeface="Times New Roman" panose="02020603050405020304" pitchFamily="18" charset="0"/>
              </a:rPr>
              <a:t> </a:t>
            </a:r>
            <a:r>
              <a:rPr lang="da-DK" altLang="en-US" sz="2000" i="1" dirty="0">
                <a:latin typeface="Courier New" panose="02070309020205020404" pitchFamily="49" charset="0"/>
                <a:cs typeface="Times New Roman" panose="02020603050405020304" pitchFamily="18" charset="0"/>
              </a:rPr>
              <a:t>V</a:t>
            </a:r>
            <a:r>
              <a:rPr lang="da-DK" altLang="en-US" sz="2000" dirty="0">
                <a:latin typeface="Courier New" panose="02070309020205020404" pitchFamily="49" charset="0"/>
                <a:cs typeface="Times New Roman" panose="02020603050405020304" pitchFamily="18" charset="0"/>
              </a:rPr>
              <a:t>[</a:t>
            </a:r>
            <a:r>
              <a:rPr lang="da-DK" altLang="en-US" sz="2000" i="1" dirty="0">
                <a:latin typeface="Courier New" panose="02070309020205020404" pitchFamily="49" charset="0"/>
                <a:cs typeface="Times New Roman" panose="02020603050405020304" pitchFamily="18" charset="0"/>
              </a:rPr>
              <a:t>G</a:t>
            </a:r>
            <a:r>
              <a:rPr lang="da-DK" altLang="en-US" sz="2000" dirty="0">
                <a:latin typeface="Courier New" panose="02070309020205020404" pitchFamily="49" charset="0"/>
                <a:cs typeface="Times New Roman" panose="02020603050405020304" pitchFamily="18" charset="0"/>
              </a:rPr>
              <a:t>] do</a:t>
            </a:r>
            <a:endParaRPr lang="en-US" altLang="en-US" sz="2000" dirty="0">
              <a:latin typeface="Courier New" panose="02070309020205020404" pitchFamily="49" charset="0"/>
              <a:cs typeface="Times New Roman" panose="02020603050405020304" pitchFamily="18" charset="0"/>
            </a:endParaRPr>
          </a:p>
          <a:p>
            <a:r>
              <a:rPr lang="en-US" altLang="en-US" sz="2000" dirty="0">
                <a:latin typeface="Courier New" panose="02070309020205020404" pitchFamily="49" charset="0"/>
                <a:cs typeface="Times New Roman" panose="02020603050405020304" pitchFamily="18" charset="0"/>
              </a:rPr>
              <a:t>3    </a:t>
            </a:r>
            <a:r>
              <a:rPr lang="da-DK" altLang="en-US" sz="2000" dirty="0">
                <a:solidFill>
                  <a:srgbClr val="002060"/>
                </a:solidFill>
                <a:latin typeface="Courier New" panose="02070309020205020404" pitchFamily="49" charset="0"/>
                <a:cs typeface="Times New Roman" panose="02020603050405020304" pitchFamily="18" charset="0"/>
              </a:rPr>
              <a:t>Make-Set</a:t>
            </a:r>
            <a:r>
              <a:rPr lang="en-US" altLang="en-US" sz="2000" dirty="0">
                <a:latin typeface="Courier New" panose="02070309020205020404" pitchFamily="49" charset="0"/>
                <a:cs typeface="Times New Roman" panose="02020603050405020304" pitchFamily="18" charset="0"/>
              </a:rPr>
              <a:t>(</a:t>
            </a:r>
            <a:r>
              <a:rPr lang="en-US" altLang="en-US" sz="2000" i="1" dirty="0">
                <a:latin typeface="Courier New" panose="02070309020205020404" pitchFamily="49" charset="0"/>
                <a:cs typeface="Times New Roman" panose="02020603050405020304" pitchFamily="18" charset="0"/>
              </a:rPr>
              <a:t>v</a:t>
            </a:r>
            <a:r>
              <a:rPr lang="en-US" altLang="en-US" sz="2000" dirty="0">
                <a:latin typeface="Courier New" panose="02070309020205020404" pitchFamily="49" charset="0"/>
                <a:cs typeface="Times New Roman" panose="02020603050405020304" pitchFamily="18" charset="0"/>
              </a:rPr>
              <a:t>)</a:t>
            </a:r>
            <a:endParaRPr lang="en-US" altLang="en-US" sz="2000" dirty="0">
              <a:latin typeface="Symbol" panose="05050102010706020507" pitchFamily="18" charset="2"/>
              <a:cs typeface="Times New Roman" panose="02020603050405020304" pitchFamily="18" charset="0"/>
            </a:endParaRPr>
          </a:p>
          <a:p>
            <a:r>
              <a:rPr lang="en-US" altLang="en-US" sz="2000" dirty="0">
                <a:latin typeface="Courier New" panose="02070309020205020404" pitchFamily="49" charset="0"/>
                <a:cs typeface="Times New Roman" panose="02020603050405020304" pitchFamily="18" charset="0"/>
              </a:rPr>
              <a:t>4 </a:t>
            </a:r>
            <a:r>
              <a:rPr lang="da-DK" altLang="en-US" sz="2000" dirty="0">
                <a:latin typeface="Courier New" panose="02070309020205020404" pitchFamily="49" charset="0"/>
                <a:cs typeface="Times New Roman" panose="02020603050405020304" pitchFamily="18" charset="0"/>
              </a:rPr>
              <a:t>sort the edges of </a:t>
            </a:r>
            <a:r>
              <a:rPr lang="da-DK" altLang="en-US" sz="2000" i="1" dirty="0">
                <a:latin typeface="Courier New" panose="02070309020205020404" pitchFamily="49" charset="0"/>
                <a:cs typeface="Times New Roman" panose="02020603050405020304" pitchFamily="18" charset="0"/>
              </a:rPr>
              <a:t>E</a:t>
            </a:r>
            <a:r>
              <a:rPr lang="da-DK" altLang="en-US" sz="2000" dirty="0">
                <a:latin typeface="Courier New" panose="02070309020205020404" pitchFamily="49" charset="0"/>
                <a:cs typeface="Times New Roman" panose="02020603050405020304" pitchFamily="18" charset="0"/>
              </a:rPr>
              <a:t> by nondecreasing weight </a:t>
            </a:r>
            <a:r>
              <a:rPr lang="da-DK" altLang="en-US" sz="2000" i="1" dirty="0">
                <a:latin typeface="Courier New" panose="02070309020205020404" pitchFamily="49" charset="0"/>
                <a:cs typeface="Times New Roman" panose="02020603050405020304" pitchFamily="18" charset="0"/>
              </a:rPr>
              <a:t>w</a:t>
            </a:r>
            <a:endParaRPr lang="en-US" altLang="en-US" sz="2000" i="1" dirty="0">
              <a:latin typeface="Courier New" panose="02070309020205020404" pitchFamily="49" charset="0"/>
              <a:cs typeface="Times New Roman" panose="02020603050405020304" pitchFamily="18" charset="0"/>
            </a:endParaRPr>
          </a:p>
          <a:p>
            <a:r>
              <a:rPr lang="da-DK" altLang="en-US" sz="2000" dirty="0">
                <a:latin typeface="Courier New" panose="02070309020205020404" pitchFamily="49" charset="0"/>
                <a:cs typeface="Times New Roman" panose="02020603050405020304" pitchFamily="18" charset="0"/>
              </a:rPr>
              <a:t>5 for</a:t>
            </a:r>
            <a:r>
              <a:rPr lang="en-US" altLang="en-US" sz="2000" dirty="0">
                <a:latin typeface="Courier New" panose="02070309020205020404" pitchFamily="49" charset="0"/>
                <a:cs typeface="Times New Roman" panose="02020603050405020304" pitchFamily="18" charset="0"/>
              </a:rPr>
              <a:t> </a:t>
            </a:r>
            <a:r>
              <a:rPr lang="da-DK" altLang="en-US" sz="2000" dirty="0">
                <a:latin typeface="Courier New" panose="02070309020205020404" pitchFamily="49" charset="0"/>
                <a:cs typeface="Times New Roman" panose="02020603050405020304" pitchFamily="18" charset="0"/>
              </a:rPr>
              <a:t>each (</a:t>
            </a:r>
            <a:r>
              <a:rPr lang="da-DK" altLang="en-US" sz="2000" i="1" dirty="0">
                <a:latin typeface="Courier New" panose="02070309020205020404" pitchFamily="49" charset="0"/>
                <a:cs typeface="Times New Roman" panose="02020603050405020304" pitchFamily="18" charset="0"/>
              </a:rPr>
              <a:t>u</a:t>
            </a:r>
            <a:r>
              <a:rPr lang="da-DK" altLang="en-US" sz="2000" dirty="0">
                <a:latin typeface="Courier New" panose="02070309020205020404" pitchFamily="49" charset="0"/>
                <a:cs typeface="Times New Roman" panose="02020603050405020304" pitchFamily="18" charset="0"/>
              </a:rPr>
              <a:t>,</a:t>
            </a:r>
            <a:r>
              <a:rPr lang="da-DK" altLang="en-US" sz="2000" i="1" dirty="0">
                <a:latin typeface="Courier New" panose="02070309020205020404" pitchFamily="49" charset="0"/>
                <a:cs typeface="Times New Roman" panose="02020603050405020304" pitchFamily="18" charset="0"/>
              </a:rPr>
              <a:t>v</a:t>
            </a:r>
            <a:r>
              <a:rPr lang="da-DK" altLang="en-US" sz="2000" dirty="0">
                <a:latin typeface="Courier New" panose="02070309020205020404" pitchFamily="49" charset="0"/>
                <a:cs typeface="Times New Roman" panose="02020603050405020304" pitchFamily="18" charset="0"/>
              </a:rPr>
              <a:t>)</a:t>
            </a:r>
            <a:r>
              <a:rPr lang="en-US" altLang="en-US" sz="2000" dirty="0">
                <a:latin typeface="Symbol" panose="05050102010706020507" pitchFamily="18" charset="2"/>
                <a:cs typeface="Times New Roman" panose="02020603050405020304" pitchFamily="18" charset="0"/>
              </a:rPr>
              <a:t>Î</a:t>
            </a:r>
            <a:r>
              <a:rPr lang="da-DK" altLang="en-US" sz="2000" i="1" dirty="0">
                <a:latin typeface="Courier New" panose="02070309020205020404" pitchFamily="49" charset="0"/>
                <a:cs typeface="Times New Roman" panose="02020603050405020304" pitchFamily="18" charset="0"/>
              </a:rPr>
              <a:t>E</a:t>
            </a:r>
            <a:r>
              <a:rPr lang="da-DK" altLang="en-US" sz="2000" dirty="0">
                <a:latin typeface="Courier New" panose="02070309020205020404" pitchFamily="49" charset="0"/>
                <a:cs typeface="Times New Roman" panose="02020603050405020304" pitchFamily="18" charset="0"/>
              </a:rPr>
              <a:t>, in nondecreasing of weight do</a:t>
            </a:r>
          </a:p>
          <a:p>
            <a:r>
              <a:rPr lang="da-DK" altLang="en-US" sz="2000" dirty="0">
                <a:latin typeface="Courier New" panose="02070309020205020404" pitchFamily="49" charset="0"/>
                <a:cs typeface="Times New Roman" panose="02020603050405020304" pitchFamily="18" charset="0"/>
              </a:rPr>
              <a:t>6   if </a:t>
            </a:r>
            <a:r>
              <a:rPr lang="da-DK" altLang="en-US" sz="2000" dirty="0">
                <a:solidFill>
                  <a:srgbClr val="002060"/>
                </a:solidFill>
                <a:latin typeface="Courier New" panose="02070309020205020404" pitchFamily="49" charset="0"/>
                <a:cs typeface="Times New Roman" panose="02020603050405020304" pitchFamily="18" charset="0"/>
              </a:rPr>
              <a:t>Find-Set</a:t>
            </a:r>
            <a:r>
              <a:rPr lang="da-DK" altLang="en-US" sz="2000" dirty="0">
                <a:latin typeface="Courier New" panose="02070309020205020404" pitchFamily="49" charset="0"/>
                <a:cs typeface="Times New Roman" panose="02020603050405020304" pitchFamily="18" charset="0"/>
              </a:rPr>
              <a:t>(</a:t>
            </a:r>
            <a:r>
              <a:rPr lang="da-DK" altLang="en-US" sz="2000" i="1" dirty="0">
                <a:latin typeface="Courier New" panose="02070309020205020404" pitchFamily="49" charset="0"/>
                <a:cs typeface="Times New Roman" panose="02020603050405020304" pitchFamily="18" charset="0"/>
              </a:rPr>
              <a:t>u</a:t>
            </a:r>
            <a:r>
              <a:rPr lang="da-DK" altLang="en-US" sz="2000" dirty="0">
                <a:latin typeface="Courier New" panose="02070309020205020404" pitchFamily="49" charset="0"/>
                <a:cs typeface="Times New Roman" panose="02020603050405020304" pitchFamily="18" charset="0"/>
              </a:rPr>
              <a:t>) </a:t>
            </a:r>
            <a:r>
              <a:rPr lang="en-US" altLang="en-US" sz="2000" dirty="0">
                <a:latin typeface="Symbol" panose="05050102010706020507" pitchFamily="18" charset="2"/>
                <a:cs typeface="Times New Roman" panose="02020603050405020304" pitchFamily="18" charset="0"/>
              </a:rPr>
              <a:t>¹</a:t>
            </a:r>
            <a:r>
              <a:rPr lang="da-DK" altLang="en-US" sz="2000" dirty="0">
                <a:latin typeface="Courier New" panose="02070309020205020404" pitchFamily="49" charset="0"/>
                <a:cs typeface="Times New Roman" panose="02020603050405020304" pitchFamily="18" charset="0"/>
              </a:rPr>
              <a:t> </a:t>
            </a:r>
            <a:r>
              <a:rPr lang="da-DK" altLang="en-US" sz="2000" dirty="0">
                <a:solidFill>
                  <a:srgbClr val="002060"/>
                </a:solidFill>
                <a:latin typeface="Courier New" panose="02070309020205020404" pitchFamily="49" charset="0"/>
                <a:cs typeface="Times New Roman" panose="02020603050405020304" pitchFamily="18" charset="0"/>
              </a:rPr>
              <a:t>Find-Set</a:t>
            </a:r>
            <a:r>
              <a:rPr lang="da-DK" altLang="en-US" sz="2000" dirty="0">
                <a:latin typeface="Courier New" panose="02070309020205020404" pitchFamily="49" charset="0"/>
                <a:cs typeface="Times New Roman" panose="02020603050405020304" pitchFamily="18" charset="0"/>
              </a:rPr>
              <a:t>(</a:t>
            </a:r>
            <a:r>
              <a:rPr lang="da-DK" altLang="en-US" sz="2000" i="1" dirty="0">
                <a:latin typeface="Courier New" panose="02070309020205020404" pitchFamily="49" charset="0"/>
                <a:cs typeface="Times New Roman" panose="02020603050405020304" pitchFamily="18" charset="0"/>
              </a:rPr>
              <a:t>v</a:t>
            </a:r>
            <a:r>
              <a:rPr lang="da-DK" altLang="en-US" sz="2000" dirty="0">
                <a:latin typeface="Courier New" panose="02070309020205020404" pitchFamily="49" charset="0"/>
                <a:cs typeface="Times New Roman" panose="02020603050405020304" pitchFamily="18" charset="0"/>
              </a:rPr>
              <a:t>) then</a:t>
            </a:r>
          </a:p>
          <a:p>
            <a:r>
              <a:rPr lang="da-DK" altLang="en-US" sz="2000" dirty="0">
                <a:latin typeface="Courier New" panose="02070309020205020404" pitchFamily="49" charset="0"/>
                <a:cs typeface="Times New Roman" panose="02020603050405020304" pitchFamily="18" charset="0"/>
              </a:rPr>
              <a:t>7      </a:t>
            </a:r>
            <a:r>
              <a:rPr lang="da-DK" altLang="en-US" sz="2000" i="1" dirty="0">
                <a:latin typeface="Courier New" panose="02070309020205020404" pitchFamily="49" charset="0"/>
                <a:cs typeface="Times New Roman" panose="02020603050405020304" pitchFamily="18" charset="0"/>
              </a:rPr>
              <a:t>T</a:t>
            </a:r>
            <a:r>
              <a:rPr lang="da-DK" altLang="en-US" sz="2000" dirty="0">
                <a:latin typeface="Courier New" panose="02070309020205020404" pitchFamily="49" charset="0"/>
                <a:cs typeface="Times New Roman" panose="02020603050405020304" pitchFamily="18" charset="0"/>
              </a:rPr>
              <a:t> </a:t>
            </a:r>
            <a:r>
              <a:rPr lang="en-US" altLang="en-US" sz="2000" dirty="0">
                <a:latin typeface="Symbol" panose="05050102010706020507" pitchFamily="18" charset="2"/>
                <a:cs typeface="Courier New" panose="02070309020205020404" pitchFamily="49" charset="0"/>
              </a:rPr>
              <a:t>¬</a:t>
            </a:r>
            <a:r>
              <a:rPr lang="da-DK" altLang="en-US" sz="2000" dirty="0">
                <a:latin typeface="Courier New" panose="02070309020205020404" pitchFamily="49" charset="0"/>
                <a:cs typeface="Times New Roman" panose="02020603050405020304" pitchFamily="18" charset="0"/>
              </a:rPr>
              <a:t> </a:t>
            </a:r>
            <a:r>
              <a:rPr lang="da-DK" altLang="en-US" sz="2000" i="1" dirty="0">
                <a:latin typeface="Courier New" panose="02070309020205020404" pitchFamily="49" charset="0"/>
                <a:cs typeface="Times New Roman" panose="02020603050405020304" pitchFamily="18" charset="0"/>
              </a:rPr>
              <a:t>T</a:t>
            </a:r>
            <a:r>
              <a:rPr lang="da-DK" altLang="en-US" sz="2000" dirty="0">
                <a:latin typeface="Courier New" panose="02070309020205020404" pitchFamily="49" charset="0"/>
                <a:cs typeface="Times New Roman" panose="02020603050405020304" pitchFamily="18" charset="0"/>
              </a:rPr>
              <a:t> </a:t>
            </a:r>
            <a:r>
              <a:rPr lang="da-DK" altLang="en-US" sz="2000" dirty="0">
                <a:latin typeface="Symbol" panose="05050102010706020507" pitchFamily="18" charset="2"/>
                <a:cs typeface="Times New Roman" panose="02020603050405020304" pitchFamily="18" charset="0"/>
              </a:rPr>
              <a:t>È</a:t>
            </a:r>
            <a:r>
              <a:rPr lang="da-DK" altLang="en-US" sz="2000" dirty="0">
                <a:latin typeface="Courier New" panose="02070309020205020404" pitchFamily="49" charset="0"/>
                <a:cs typeface="Times New Roman" panose="02020603050405020304" pitchFamily="18" charset="0"/>
              </a:rPr>
              <a:t> {(</a:t>
            </a:r>
            <a:r>
              <a:rPr lang="da-DK" altLang="en-US" sz="2000" i="1" dirty="0">
                <a:latin typeface="Courier New" panose="02070309020205020404" pitchFamily="49" charset="0"/>
                <a:cs typeface="Times New Roman" panose="02020603050405020304" pitchFamily="18" charset="0"/>
              </a:rPr>
              <a:t>u</a:t>
            </a:r>
            <a:r>
              <a:rPr lang="da-DK" altLang="en-US" sz="2000" dirty="0">
                <a:latin typeface="Courier New" panose="02070309020205020404" pitchFamily="49" charset="0"/>
                <a:cs typeface="Times New Roman" panose="02020603050405020304" pitchFamily="18" charset="0"/>
              </a:rPr>
              <a:t>,</a:t>
            </a:r>
            <a:r>
              <a:rPr lang="da-DK" altLang="en-US" sz="2000" i="1" dirty="0">
                <a:latin typeface="Courier New" panose="02070309020205020404" pitchFamily="49" charset="0"/>
                <a:cs typeface="Times New Roman" panose="02020603050405020304" pitchFamily="18" charset="0"/>
              </a:rPr>
              <a:t>v</a:t>
            </a:r>
            <a:r>
              <a:rPr lang="da-DK" altLang="en-US" sz="2000" dirty="0">
                <a:latin typeface="Courier New" panose="02070309020205020404" pitchFamily="49" charset="0"/>
                <a:cs typeface="Times New Roman" panose="02020603050405020304" pitchFamily="18" charset="0"/>
              </a:rPr>
              <a:t>)}</a:t>
            </a:r>
          </a:p>
          <a:p>
            <a:r>
              <a:rPr lang="da-DK" altLang="en-US" sz="2000" dirty="0">
                <a:latin typeface="Courier New" panose="02070309020205020404" pitchFamily="49" charset="0"/>
                <a:cs typeface="Times New Roman" panose="02020603050405020304" pitchFamily="18" charset="0"/>
              </a:rPr>
              <a:t>8      </a:t>
            </a:r>
            <a:r>
              <a:rPr lang="da-DK" altLang="en-US" sz="2000" dirty="0">
                <a:solidFill>
                  <a:srgbClr val="002060"/>
                </a:solidFill>
                <a:latin typeface="Courier New" panose="02070309020205020404" pitchFamily="49" charset="0"/>
                <a:cs typeface="Times New Roman" panose="02020603050405020304" pitchFamily="18" charset="0"/>
              </a:rPr>
              <a:t>Union</a:t>
            </a:r>
            <a:r>
              <a:rPr lang="da-DK" altLang="en-US" sz="2000" dirty="0">
                <a:latin typeface="Courier New" panose="02070309020205020404" pitchFamily="49" charset="0"/>
                <a:cs typeface="Times New Roman" panose="02020603050405020304" pitchFamily="18" charset="0"/>
              </a:rPr>
              <a:t>(Set(</a:t>
            </a:r>
            <a:r>
              <a:rPr lang="da-DK" altLang="en-US" sz="2000" i="1" dirty="0">
                <a:latin typeface="Courier New" panose="02070309020205020404" pitchFamily="49" charset="0"/>
                <a:cs typeface="Times New Roman" panose="02020603050405020304" pitchFamily="18" charset="0"/>
              </a:rPr>
              <a:t>u</a:t>
            </a:r>
            <a:r>
              <a:rPr lang="da-DK" altLang="en-US" sz="2000" dirty="0">
                <a:latin typeface="Courier New" panose="02070309020205020404" pitchFamily="49" charset="0"/>
                <a:cs typeface="Times New Roman" panose="02020603050405020304" pitchFamily="18" charset="0"/>
              </a:rPr>
              <a:t>),Set(</a:t>
            </a:r>
            <a:r>
              <a:rPr lang="da-DK" altLang="en-US" sz="2000" i="1" dirty="0">
                <a:latin typeface="Courier New" panose="02070309020205020404" pitchFamily="49" charset="0"/>
                <a:cs typeface="Times New Roman" panose="02020603050405020304" pitchFamily="18" charset="0"/>
              </a:rPr>
              <a:t>v</a:t>
            </a:r>
            <a:r>
              <a:rPr lang="da-DK" altLang="en-US" sz="2000" dirty="0">
                <a:latin typeface="Courier New" panose="02070309020205020404" pitchFamily="49" charset="0"/>
                <a:cs typeface="Times New Roman" panose="02020603050405020304" pitchFamily="18" charset="0"/>
              </a:rPr>
              <a:t>))</a:t>
            </a:r>
          </a:p>
          <a:p>
            <a:r>
              <a:rPr lang="da-DK" altLang="en-US" sz="2000" dirty="0">
                <a:latin typeface="Courier New" panose="02070309020205020404" pitchFamily="49" charset="0"/>
                <a:cs typeface="Times New Roman" panose="02020603050405020304" pitchFamily="18" charset="0"/>
              </a:rPr>
              <a:t>9 return </a:t>
            </a:r>
            <a:r>
              <a:rPr lang="da-DK" altLang="en-US" sz="2000" i="1" dirty="0">
                <a:latin typeface="Courier New" panose="02070309020205020404" pitchFamily="49" charset="0"/>
                <a:cs typeface="Times New Roman" panose="02020603050405020304" pitchFamily="18" charset="0"/>
              </a:rPr>
              <a:t>T</a:t>
            </a:r>
            <a:endParaRPr lang="da-DK" altLang="en-US" sz="2000" i="1" dirty="0">
              <a:solidFill>
                <a:srgbClr val="3333CC"/>
              </a:solidFill>
            </a:endParaRPr>
          </a:p>
        </p:txBody>
      </p:sp>
    </p:spTree>
    <p:extLst>
      <p:ext uri="{BB962C8B-B14F-4D97-AF65-F5344CB8AC3E}">
        <p14:creationId xmlns:p14="http://schemas.microsoft.com/office/powerpoint/2010/main" val="8041746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5"/>
          <p:cNvSpPr>
            <a:spLocks noChangeArrowheads="1"/>
          </p:cNvSpPr>
          <p:nvPr/>
        </p:nvSpPr>
        <p:spPr bwMode="auto">
          <a:xfrm>
            <a:off x="304800" y="1176192"/>
            <a:ext cx="11557000" cy="5372100"/>
          </a:xfrm>
          <a:prstGeom prst="rect">
            <a:avLst/>
          </a:prstGeom>
          <a:noFill/>
          <a:ln w="9525">
            <a:noFill/>
            <a:miter lim="800000"/>
            <a:headEnd/>
            <a:tailEnd/>
          </a:ln>
        </p:spPr>
        <p:txBody>
          <a:bodyPr/>
          <a:lstStyle/>
          <a:p>
            <a:pPr marL="342900" indent="-342900" algn="just">
              <a:lnSpc>
                <a:spcPct val="90000"/>
              </a:lnSpc>
              <a:spcBef>
                <a:spcPct val="20000"/>
              </a:spcBef>
              <a:buClr>
                <a:srgbClr val="002060"/>
              </a:buClr>
              <a:buFont typeface="Wingdings" pitchFamily="2" charset="2"/>
              <a:buChar char="Ø"/>
            </a:pPr>
            <a:r>
              <a:rPr lang="en-US" sz="2000" dirty="0"/>
              <a:t>Mark each vertex as being in a </a:t>
            </a:r>
            <a:r>
              <a:rPr lang="en-US" sz="2000" i="1" dirty="0">
                <a:solidFill>
                  <a:srgbClr val="002060"/>
                </a:solidFill>
              </a:rPr>
              <a:t>Set</a:t>
            </a:r>
          </a:p>
          <a:p>
            <a:pPr marL="342900" indent="-342900" algn="just">
              <a:lnSpc>
                <a:spcPct val="90000"/>
              </a:lnSpc>
              <a:spcBef>
                <a:spcPct val="20000"/>
              </a:spcBef>
              <a:buClr>
                <a:srgbClr val="002060"/>
              </a:buClr>
              <a:buFont typeface="Wingdings" pitchFamily="2" charset="2"/>
              <a:buChar char="Ø"/>
            </a:pPr>
            <a:r>
              <a:rPr lang="en-US" sz="2000" dirty="0"/>
              <a:t>Initially each vertex is in a set of it’s own</a:t>
            </a:r>
          </a:p>
          <a:p>
            <a:pPr marL="342900" indent="-342900" algn="just">
              <a:lnSpc>
                <a:spcPct val="90000"/>
              </a:lnSpc>
              <a:spcBef>
                <a:spcPct val="20000"/>
              </a:spcBef>
              <a:buClr>
                <a:srgbClr val="002060"/>
              </a:buClr>
              <a:buFont typeface="Wingdings" pitchFamily="2" charset="2"/>
              <a:buChar char="Ø"/>
            </a:pPr>
            <a:r>
              <a:rPr lang="en-US" sz="2000" i="1" dirty="0">
                <a:solidFill>
                  <a:srgbClr val="002060"/>
                </a:solidFill>
              </a:rPr>
              <a:t>Sort</a:t>
            </a:r>
            <a:r>
              <a:rPr lang="en-US" sz="2000" dirty="0"/>
              <a:t> the edges in increasing order of the weight</a:t>
            </a:r>
          </a:p>
          <a:p>
            <a:pPr marL="342900" indent="-342900" algn="just">
              <a:lnSpc>
                <a:spcPct val="90000"/>
              </a:lnSpc>
              <a:spcBef>
                <a:spcPct val="20000"/>
              </a:spcBef>
              <a:buClr>
                <a:srgbClr val="002060"/>
              </a:buClr>
              <a:buFont typeface="Wingdings" pitchFamily="2" charset="2"/>
              <a:buChar char="Ø"/>
            </a:pPr>
            <a:r>
              <a:rPr lang="en-US" sz="2000" dirty="0"/>
              <a:t>Take the edges in the sorted order (smallest one first)</a:t>
            </a:r>
          </a:p>
          <a:p>
            <a:pPr marL="800100" lvl="1" indent="-342900" algn="just">
              <a:lnSpc>
                <a:spcPct val="90000"/>
              </a:lnSpc>
              <a:spcBef>
                <a:spcPct val="20000"/>
              </a:spcBef>
              <a:buFont typeface="Wingdings" panose="05000000000000000000" pitchFamily="2" charset="2"/>
              <a:buChar char="§"/>
            </a:pPr>
            <a:r>
              <a:rPr lang="en-US" sz="2000" dirty="0"/>
              <a:t>If it’s </a:t>
            </a:r>
            <a:r>
              <a:rPr lang="en-US" sz="2000" i="1" dirty="0">
                <a:solidFill>
                  <a:srgbClr val="002060"/>
                </a:solidFill>
              </a:rPr>
              <a:t>Safe</a:t>
            </a:r>
            <a:r>
              <a:rPr lang="en-US" sz="2000" dirty="0">
                <a:solidFill>
                  <a:srgbClr val="002060"/>
                </a:solidFill>
              </a:rPr>
              <a:t> </a:t>
            </a:r>
            <a:r>
              <a:rPr lang="en-US" sz="2000" dirty="0"/>
              <a:t>to add the edge</a:t>
            </a:r>
          </a:p>
          <a:p>
            <a:pPr marL="800100" lvl="1" indent="-342900" algn="just">
              <a:lnSpc>
                <a:spcPct val="90000"/>
              </a:lnSpc>
              <a:spcBef>
                <a:spcPct val="20000"/>
              </a:spcBef>
              <a:buFont typeface="Wingdings" panose="05000000000000000000" pitchFamily="2" charset="2"/>
              <a:buChar char="§"/>
            </a:pPr>
            <a:r>
              <a:rPr lang="en-US" sz="2000" dirty="0"/>
              <a:t>Add it to the tree, don’t worry about the overall structure</a:t>
            </a:r>
          </a:p>
          <a:p>
            <a:pPr marL="342900" indent="-342900" algn="just">
              <a:lnSpc>
                <a:spcPct val="90000"/>
              </a:lnSpc>
              <a:spcBef>
                <a:spcPct val="20000"/>
              </a:spcBef>
              <a:buClr>
                <a:srgbClr val="002060"/>
              </a:buClr>
              <a:buFont typeface="Wingdings" pitchFamily="2" charset="2"/>
              <a:buChar char="Ø"/>
            </a:pPr>
            <a:r>
              <a:rPr lang="en-US" sz="2000" dirty="0"/>
              <a:t>It is </a:t>
            </a:r>
            <a:r>
              <a:rPr lang="en-US" sz="2000" i="1" dirty="0">
                <a:solidFill>
                  <a:srgbClr val="002060"/>
                </a:solidFill>
              </a:rPr>
              <a:t>Safe</a:t>
            </a:r>
            <a:r>
              <a:rPr lang="en-US" sz="2000" dirty="0"/>
              <a:t> to connect to vertices from different sets, </a:t>
            </a:r>
            <a:r>
              <a:rPr lang="en-US" sz="2000" i="1" dirty="0">
                <a:solidFill>
                  <a:srgbClr val="002060"/>
                </a:solidFill>
              </a:rPr>
              <a:t>No Cycles</a:t>
            </a:r>
            <a:r>
              <a:rPr lang="en-US" sz="2000" dirty="0">
                <a:solidFill>
                  <a:srgbClr val="002060"/>
                </a:solidFill>
              </a:rPr>
              <a:t> </a:t>
            </a:r>
            <a:r>
              <a:rPr lang="en-US" sz="2000" dirty="0"/>
              <a:t>will be formed.</a:t>
            </a:r>
          </a:p>
          <a:p>
            <a:pPr marL="342900" indent="-342900" algn="just">
              <a:lnSpc>
                <a:spcPct val="90000"/>
              </a:lnSpc>
              <a:spcBef>
                <a:spcPct val="20000"/>
              </a:spcBef>
              <a:buClr>
                <a:srgbClr val="002060"/>
              </a:buClr>
              <a:buFont typeface="Wingdings" pitchFamily="2" charset="2"/>
              <a:buChar char="Ø"/>
            </a:pPr>
            <a:r>
              <a:rPr lang="en-US" sz="2000" dirty="0"/>
              <a:t>Our implementation of Kruskal’s algorithm uses a disjoint-set data structure to maintain several set of elements.</a:t>
            </a:r>
          </a:p>
          <a:p>
            <a:pPr marL="342900" indent="-342900" algn="just">
              <a:lnSpc>
                <a:spcPct val="90000"/>
              </a:lnSpc>
              <a:spcBef>
                <a:spcPct val="20000"/>
              </a:spcBef>
              <a:buClr>
                <a:srgbClr val="002060"/>
              </a:buClr>
              <a:buFont typeface="Wingdings" pitchFamily="2" charset="2"/>
              <a:buChar char="Ø"/>
            </a:pPr>
            <a:r>
              <a:rPr lang="en-US" sz="2000" dirty="0"/>
              <a:t>Each set contains the vertices in a tree of the current forest.</a:t>
            </a:r>
          </a:p>
          <a:p>
            <a:pPr marL="342900" indent="-342900" algn="just">
              <a:lnSpc>
                <a:spcPct val="90000"/>
              </a:lnSpc>
              <a:spcBef>
                <a:spcPct val="20000"/>
              </a:spcBef>
              <a:buClr>
                <a:srgbClr val="002060"/>
              </a:buClr>
              <a:buFont typeface="Wingdings" pitchFamily="2" charset="2"/>
              <a:buChar char="Ø"/>
            </a:pPr>
            <a:r>
              <a:rPr lang="en-US" sz="2000" dirty="0"/>
              <a:t>The operation Find-Set(u) returns a representative element from the set that contains u.</a:t>
            </a:r>
          </a:p>
          <a:p>
            <a:pPr marL="342900" indent="-342900" algn="just">
              <a:lnSpc>
                <a:spcPct val="90000"/>
              </a:lnSpc>
              <a:spcBef>
                <a:spcPct val="20000"/>
              </a:spcBef>
              <a:buClr>
                <a:srgbClr val="002060"/>
              </a:buClr>
              <a:buFont typeface="Wingdings" pitchFamily="2" charset="2"/>
              <a:buChar char="Ø"/>
            </a:pPr>
            <a:r>
              <a:rPr lang="en-US" sz="2000" dirty="0"/>
              <a:t>Thus, we can determine whether two vertices u and v belong to the same tree by testing whether Find-Set(u)=Find-Set(v).</a:t>
            </a:r>
          </a:p>
          <a:p>
            <a:pPr marL="342900" indent="-342900" algn="just">
              <a:lnSpc>
                <a:spcPct val="90000"/>
              </a:lnSpc>
              <a:spcBef>
                <a:spcPct val="20000"/>
              </a:spcBef>
              <a:buClr>
                <a:srgbClr val="002060"/>
              </a:buClr>
              <a:buFont typeface="Wingdings" pitchFamily="2" charset="2"/>
              <a:buChar char="Ø"/>
            </a:pPr>
            <a:r>
              <a:rPr lang="en-US" sz="2000" dirty="0"/>
              <a:t>The combining of trees is accomplished by the Union() procedure.</a:t>
            </a:r>
          </a:p>
        </p:txBody>
      </p:sp>
      <p:sp>
        <p:nvSpPr>
          <p:cNvPr id="66563" name="Rectangle 4"/>
          <p:cNvSpPr>
            <a:spLocks noChangeArrowheads="1"/>
          </p:cNvSpPr>
          <p:nvPr/>
        </p:nvSpPr>
        <p:spPr bwMode="auto">
          <a:xfrm>
            <a:off x="12700" y="350727"/>
            <a:ext cx="3632200" cy="584775"/>
          </a:xfrm>
          <a:prstGeom prst="rect">
            <a:avLst/>
          </a:prstGeom>
          <a:noFill/>
          <a:ln w="9525">
            <a:noFill/>
            <a:miter lim="800000"/>
            <a:headEnd/>
            <a:tailEnd/>
          </a:ln>
        </p:spPr>
        <p:txBody>
          <a:bodyPr>
            <a:spAutoFit/>
          </a:bodyPr>
          <a:lstStyle/>
          <a:p>
            <a:pPr algn="ctr"/>
            <a:r>
              <a:rPr lang="en-US" sz="3200" b="1" dirty="0">
                <a:solidFill>
                  <a:schemeClr val="bg1"/>
                </a:solidFill>
              </a:rPr>
              <a:t>Kruskal’s Algorithm</a:t>
            </a:r>
          </a:p>
        </p:txBody>
      </p:sp>
      <p:sp>
        <p:nvSpPr>
          <p:cNvPr id="66564" name="Slide Number Placeholder 5"/>
          <p:cNvSpPr>
            <a:spLocks noGrp="1"/>
          </p:cNvSpPr>
          <p:nvPr>
            <p:ph type="sldNum" sz="quarter" idx="12"/>
          </p:nvPr>
        </p:nvSpPr>
        <p:spPr bwMode="auto">
          <a:noFill/>
          <a:ln>
            <a:miter lim="800000"/>
            <a:headEnd/>
            <a:tailEnd/>
          </a:ln>
        </p:spPr>
        <p:txBody>
          <a:bodyPr vert="horz" wrap="square" lIns="91440" tIns="45720" rIns="91440" bIns="45720" numCol="1" rtlCol="0" anchor="ctr" anchorCtr="0" compatLnSpc="1">
            <a:prstTxWarp prst="textNoShape">
              <a:avLst/>
            </a:prstTxWarp>
          </a:bodyPr>
          <a:lstStyle/>
          <a:p>
            <a:fld id="{E0AC4187-057B-44B1-BC6A-EE8E034C77DC}" type="slidenum">
              <a:rPr lang="en-US" smtClean="0"/>
              <a:pPr/>
              <a:t>55</a:t>
            </a:fld>
            <a:endParaRPr lang="en-US"/>
          </a:p>
        </p:txBody>
      </p:sp>
    </p:spTree>
    <p:extLst>
      <p:ext uri="{BB962C8B-B14F-4D97-AF65-F5344CB8AC3E}">
        <p14:creationId xmlns:p14="http://schemas.microsoft.com/office/powerpoint/2010/main" val="36156588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5"/>
          <p:cNvSpPr>
            <a:spLocks noChangeArrowheads="1"/>
          </p:cNvSpPr>
          <p:nvPr/>
        </p:nvSpPr>
        <p:spPr bwMode="auto">
          <a:xfrm>
            <a:off x="152400" y="1212852"/>
            <a:ext cx="11963400" cy="5143500"/>
          </a:xfrm>
          <a:prstGeom prst="rect">
            <a:avLst/>
          </a:prstGeom>
          <a:noFill/>
          <a:ln w="9525">
            <a:noFill/>
            <a:miter lim="800000"/>
            <a:headEnd/>
            <a:tailEnd/>
          </a:ln>
        </p:spPr>
        <p:txBody>
          <a:bodyPr/>
          <a:lstStyle/>
          <a:p>
            <a:pPr marL="342900" indent="-342900" algn="just">
              <a:lnSpc>
                <a:spcPct val="90000"/>
              </a:lnSpc>
              <a:spcBef>
                <a:spcPct val="20000"/>
              </a:spcBef>
              <a:buClr>
                <a:srgbClr val="002060"/>
              </a:buClr>
              <a:buFont typeface="Wingdings" pitchFamily="2" charset="2"/>
              <a:buChar char="Ø"/>
            </a:pPr>
            <a:r>
              <a:rPr lang="en-US" sz="2400" dirty="0"/>
              <a:t>To implement a disjoint-set forest with the union-by-rank heuristic, we must keep track of ranks.</a:t>
            </a:r>
          </a:p>
          <a:p>
            <a:pPr marL="342900" indent="-342900" algn="just">
              <a:lnSpc>
                <a:spcPct val="90000"/>
              </a:lnSpc>
              <a:spcBef>
                <a:spcPct val="20000"/>
              </a:spcBef>
              <a:buClr>
                <a:srgbClr val="002060"/>
              </a:buClr>
              <a:buFont typeface="Wingdings" pitchFamily="2" charset="2"/>
              <a:buChar char="Ø"/>
            </a:pPr>
            <a:r>
              <a:rPr lang="en-US" sz="2400" dirty="0"/>
              <a:t>With each node x, we maintain the integer value rank[x], which is an upper bound on the height of x.</a:t>
            </a:r>
          </a:p>
          <a:p>
            <a:pPr marL="342900" indent="-342900" algn="just">
              <a:lnSpc>
                <a:spcPct val="90000"/>
              </a:lnSpc>
              <a:spcBef>
                <a:spcPct val="20000"/>
              </a:spcBef>
              <a:buClr>
                <a:srgbClr val="002060"/>
              </a:buClr>
              <a:buFont typeface="Wingdings" pitchFamily="2" charset="2"/>
              <a:buChar char="Ø"/>
            </a:pPr>
            <a:r>
              <a:rPr lang="en-US" sz="2400" dirty="0"/>
              <a:t>When a singleton set is created by </a:t>
            </a:r>
            <a:r>
              <a:rPr lang="en-US" sz="2400" dirty="0">
                <a:solidFill>
                  <a:srgbClr val="002060"/>
                </a:solidFill>
              </a:rPr>
              <a:t>Make-Set()</a:t>
            </a:r>
            <a:r>
              <a:rPr lang="en-US" sz="2400" dirty="0"/>
              <a:t>, the initial rank of the single node in the corresponding tree is 0.</a:t>
            </a:r>
          </a:p>
          <a:p>
            <a:pPr marL="342900" indent="-342900" algn="just">
              <a:lnSpc>
                <a:spcPct val="90000"/>
              </a:lnSpc>
              <a:spcBef>
                <a:spcPct val="20000"/>
              </a:spcBef>
              <a:buClr>
                <a:srgbClr val="002060"/>
              </a:buClr>
              <a:buFont typeface="Wingdings" pitchFamily="2" charset="2"/>
              <a:buChar char="Ø"/>
            </a:pPr>
            <a:r>
              <a:rPr lang="en-US" sz="2400" dirty="0"/>
              <a:t>Each </a:t>
            </a:r>
            <a:r>
              <a:rPr lang="en-US" sz="2400" dirty="0">
                <a:solidFill>
                  <a:srgbClr val="002060"/>
                </a:solidFill>
              </a:rPr>
              <a:t>Find-Set() </a:t>
            </a:r>
            <a:r>
              <a:rPr lang="en-US" sz="2400" dirty="0"/>
              <a:t>operation leaves all ranks unchanged.</a:t>
            </a:r>
          </a:p>
          <a:p>
            <a:pPr marL="342900" indent="-342900" algn="just">
              <a:lnSpc>
                <a:spcPct val="90000"/>
              </a:lnSpc>
              <a:spcBef>
                <a:spcPct val="20000"/>
              </a:spcBef>
              <a:buClr>
                <a:srgbClr val="002060"/>
              </a:buClr>
              <a:buFont typeface="Wingdings" pitchFamily="2" charset="2"/>
              <a:buChar char="Ø"/>
            </a:pPr>
            <a:r>
              <a:rPr lang="en-US" sz="2400" dirty="0"/>
              <a:t>When applying </a:t>
            </a:r>
            <a:r>
              <a:rPr lang="en-US" sz="2400" dirty="0">
                <a:solidFill>
                  <a:srgbClr val="002060"/>
                </a:solidFill>
              </a:rPr>
              <a:t>Union() </a:t>
            </a:r>
            <a:r>
              <a:rPr lang="en-US" sz="2400" dirty="0"/>
              <a:t>to two trees, there are two cases, depending on whether the roots have equal rank.</a:t>
            </a:r>
          </a:p>
          <a:p>
            <a:pPr marL="342900" indent="-342900" algn="just">
              <a:lnSpc>
                <a:spcPct val="90000"/>
              </a:lnSpc>
              <a:spcBef>
                <a:spcPct val="20000"/>
              </a:spcBef>
              <a:buClr>
                <a:srgbClr val="002060"/>
              </a:buClr>
              <a:buFont typeface="Wingdings" pitchFamily="2" charset="2"/>
              <a:buChar char="Ø"/>
            </a:pPr>
            <a:r>
              <a:rPr lang="en-US" sz="2400" dirty="0"/>
              <a:t>If unequal ranks, we make root of the higher rank the parent of the root of other, but their ranks remain same.</a:t>
            </a:r>
          </a:p>
          <a:p>
            <a:pPr marL="342900" indent="-342900" algn="just">
              <a:lnSpc>
                <a:spcPct val="90000"/>
              </a:lnSpc>
              <a:spcBef>
                <a:spcPct val="20000"/>
              </a:spcBef>
              <a:buClr>
                <a:srgbClr val="002060"/>
              </a:buClr>
              <a:buFont typeface="Wingdings" pitchFamily="2" charset="2"/>
              <a:buChar char="Ø"/>
            </a:pPr>
            <a:r>
              <a:rPr lang="en-US" sz="2400" dirty="0"/>
              <a:t>If equal ranks, we arbitrarily choose one of the roots as the parent and increment its rank.</a:t>
            </a:r>
          </a:p>
        </p:txBody>
      </p:sp>
      <p:sp>
        <p:nvSpPr>
          <p:cNvPr id="67588" name="Slide Number Placeholder 5"/>
          <p:cNvSpPr>
            <a:spLocks noGrp="1"/>
          </p:cNvSpPr>
          <p:nvPr>
            <p:ph type="sldNum" sz="quarter" idx="12"/>
          </p:nvPr>
        </p:nvSpPr>
        <p:spPr bwMode="auto">
          <a:noFill/>
          <a:ln>
            <a:miter lim="800000"/>
            <a:headEnd/>
            <a:tailEnd/>
          </a:ln>
        </p:spPr>
        <p:txBody>
          <a:bodyPr vert="horz" wrap="square" lIns="91440" tIns="45720" rIns="91440" bIns="45720" numCol="1" rtlCol="0" anchor="ctr" anchorCtr="0" compatLnSpc="1">
            <a:prstTxWarp prst="textNoShape">
              <a:avLst/>
            </a:prstTxWarp>
          </a:bodyPr>
          <a:lstStyle/>
          <a:p>
            <a:fld id="{77B29B13-3C6B-4CE2-BA65-C7AC116065E8}" type="slidenum">
              <a:rPr lang="en-US" smtClean="0"/>
              <a:pPr/>
              <a:t>56</a:t>
            </a:fld>
            <a:endParaRPr lang="en-US"/>
          </a:p>
        </p:txBody>
      </p:sp>
      <p:sp>
        <p:nvSpPr>
          <p:cNvPr id="5" name="Rectangle 4"/>
          <p:cNvSpPr>
            <a:spLocks noChangeArrowheads="1"/>
          </p:cNvSpPr>
          <p:nvPr/>
        </p:nvSpPr>
        <p:spPr bwMode="auto">
          <a:xfrm>
            <a:off x="0" y="381000"/>
            <a:ext cx="4403725" cy="523220"/>
          </a:xfrm>
          <a:prstGeom prst="rect">
            <a:avLst/>
          </a:prstGeom>
          <a:noFill/>
          <a:ln w="9525">
            <a:noFill/>
            <a:miter lim="800000"/>
            <a:headEnd/>
            <a:tailEnd/>
          </a:ln>
        </p:spPr>
        <p:txBody>
          <a:bodyPr>
            <a:spAutoFit/>
          </a:bodyPr>
          <a:lstStyle/>
          <a:p>
            <a:pPr algn="ctr"/>
            <a:r>
              <a:rPr lang="en-US" sz="2800" b="1" dirty="0">
                <a:solidFill>
                  <a:schemeClr val="bg1"/>
                </a:solidFill>
              </a:rPr>
              <a:t>Kruskal’s Algorithm (Contd.)</a:t>
            </a:r>
          </a:p>
        </p:txBody>
      </p:sp>
    </p:spTree>
    <p:extLst>
      <p:ext uri="{BB962C8B-B14F-4D97-AF65-F5344CB8AC3E}">
        <p14:creationId xmlns:p14="http://schemas.microsoft.com/office/powerpoint/2010/main" val="14101098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58"/>
          <p:cNvSpPr txBox="1">
            <a:spLocks noChangeArrowheads="1"/>
          </p:cNvSpPr>
          <p:nvPr/>
        </p:nvSpPr>
        <p:spPr bwMode="auto">
          <a:xfrm>
            <a:off x="206289" y="1177125"/>
            <a:ext cx="11584781" cy="369332"/>
          </a:xfrm>
          <a:prstGeom prst="rect">
            <a:avLst/>
          </a:prstGeom>
          <a:noFill/>
          <a:ln w="9525">
            <a:noFill/>
            <a:miter lim="800000"/>
            <a:headEnd/>
            <a:tailEnd/>
          </a:ln>
        </p:spPr>
        <p:txBody>
          <a:bodyPr wrap="square">
            <a:spAutoFit/>
          </a:bodyPr>
          <a:lstStyle/>
          <a:p>
            <a:r>
              <a:rPr lang="en-US" dirty="0"/>
              <a:t>Trace Kruskal's algorithm in finding a minimum-cost spanning tree for the undirected, weighted graph given below:</a:t>
            </a:r>
          </a:p>
        </p:txBody>
      </p:sp>
      <p:pic>
        <p:nvPicPr>
          <p:cNvPr id="69636" name="Picture 59" descr="prim"/>
          <p:cNvPicPr>
            <a:picLocks noChangeAspect="1" noChangeArrowheads="1"/>
          </p:cNvPicPr>
          <p:nvPr/>
        </p:nvPicPr>
        <p:blipFill>
          <a:blip r:embed="rId3"/>
          <a:srcRect/>
          <a:stretch>
            <a:fillRect/>
          </a:stretch>
        </p:blipFill>
        <p:spPr bwMode="auto">
          <a:xfrm>
            <a:off x="381000" y="1579282"/>
            <a:ext cx="2647950" cy="2190750"/>
          </a:xfrm>
          <a:prstGeom prst="rect">
            <a:avLst/>
          </a:prstGeom>
          <a:noFill/>
          <a:ln w="9525">
            <a:noFill/>
            <a:miter lim="800000"/>
            <a:headEnd/>
            <a:tailEnd/>
          </a:ln>
        </p:spPr>
      </p:pic>
      <p:pic>
        <p:nvPicPr>
          <p:cNvPr id="69637" name="Picture 60" descr="kruskal"/>
          <p:cNvPicPr>
            <a:picLocks noChangeAspect="1" noChangeArrowheads="1"/>
          </p:cNvPicPr>
          <p:nvPr/>
        </p:nvPicPr>
        <p:blipFill>
          <a:blip r:embed="rId4"/>
          <a:srcRect/>
          <a:stretch>
            <a:fillRect/>
          </a:stretch>
        </p:blipFill>
        <p:spPr bwMode="auto">
          <a:xfrm>
            <a:off x="226218" y="4572000"/>
            <a:ext cx="7056438" cy="1209675"/>
          </a:xfrm>
          <a:prstGeom prst="rect">
            <a:avLst/>
          </a:prstGeom>
          <a:noFill/>
          <a:ln w="9525">
            <a:noFill/>
            <a:miter lim="800000"/>
            <a:headEnd/>
            <a:tailEnd/>
          </a:ln>
        </p:spPr>
      </p:pic>
      <p:pic>
        <p:nvPicPr>
          <p:cNvPr id="69638" name="Picture 61" descr="graph5"/>
          <p:cNvPicPr>
            <a:picLocks noChangeAspect="1" noChangeArrowheads="1"/>
          </p:cNvPicPr>
          <p:nvPr/>
        </p:nvPicPr>
        <p:blipFill>
          <a:blip r:embed="rId5"/>
          <a:srcRect/>
          <a:stretch>
            <a:fillRect/>
          </a:stretch>
        </p:blipFill>
        <p:spPr bwMode="auto">
          <a:xfrm>
            <a:off x="8378446" y="3946069"/>
            <a:ext cx="2362200" cy="2181225"/>
          </a:xfrm>
          <a:prstGeom prst="rect">
            <a:avLst/>
          </a:prstGeom>
          <a:noFill/>
          <a:ln w="9525">
            <a:noFill/>
            <a:miter lim="800000"/>
            <a:headEnd/>
            <a:tailEnd/>
          </a:ln>
        </p:spPr>
      </p:pic>
      <p:sp>
        <p:nvSpPr>
          <p:cNvPr id="69639" name="Text Box 62"/>
          <p:cNvSpPr txBox="1">
            <a:spLocks noChangeArrowheads="1"/>
          </p:cNvSpPr>
          <p:nvPr/>
        </p:nvSpPr>
        <p:spPr bwMode="auto">
          <a:xfrm>
            <a:off x="8610600" y="6384611"/>
            <a:ext cx="2469266" cy="369332"/>
          </a:xfrm>
          <a:prstGeom prst="rect">
            <a:avLst/>
          </a:prstGeom>
          <a:noFill/>
          <a:ln w="9525">
            <a:noFill/>
            <a:miter lim="800000"/>
            <a:headEnd/>
            <a:tailEnd/>
          </a:ln>
        </p:spPr>
        <p:txBody>
          <a:bodyPr wrap="none">
            <a:spAutoFit/>
          </a:bodyPr>
          <a:lstStyle/>
          <a:p>
            <a:r>
              <a:rPr lang="en-US" dirty="0"/>
              <a:t>The minimum cost is: 24</a:t>
            </a:r>
          </a:p>
        </p:txBody>
      </p:sp>
      <p:sp>
        <p:nvSpPr>
          <p:cNvPr id="69640" name="Slide Number Placeholder 7"/>
          <p:cNvSpPr>
            <a:spLocks noGrp="1"/>
          </p:cNvSpPr>
          <p:nvPr>
            <p:ph type="sldNum" sz="quarter" idx="11"/>
          </p:nvPr>
        </p:nvSpPr>
        <p:spPr bwMode="auto">
          <a:noFill/>
          <a:ln>
            <a:miter lim="800000"/>
            <a:headEnd/>
            <a:tailEnd/>
          </a:ln>
        </p:spPr>
        <p:txBody>
          <a:bodyPr vert="horz" wrap="square" lIns="91440" tIns="45720" rIns="91440" bIns="45720" numCol="1" rtlCol="0" anchor="ctr" anchorCtr="0" compatLnSpc="1">
            <a:prstTxWarp prst="textNoShape">
              <a:avLst/>
            </a:prstTxWarp>
          </a:bodyPr>
          <a:lstStyle/>
          <a:p>
            <a:fld id="{F57E596B-D3CD-4D83-94B2-E2CF814A3EC7}" type="slidenum">
              <a:rPr lang="en-US" smtClean="0"/>
              <a:pPr/>
              <a:t>57</a:t>
            </a:fld>
            <a:endParaRPr lang="en-US"/>
          </a:p>
        </p:txBody>
      </p:sp>
      <p:sp>
        <p:nvSpPr>
          <p:cNvPr id="11" name="Title 1"/>
          <p:cNvSpPr>
            <a:spLocks noGrp="1"/>
          </p:cNvSpPr>
          <p:nvPr>
            <p:ph type="title"/>
          </p:nvPr>
        </p:nvSpPr>
        <p:spPr>
          <a:xfrm>
            <a:off x="250837" y="269327"/>
            <a:ext cx="10515600" cy="636361"/>
          </a:xfrm>
        </p:spPr>
        <p:txBody>
          <a:bodyPr/>
          <a:lstStyle/>
          <a:p>
            <a:r>
              <a:rPr lang="en-US" b="1" dirty="0"/>
              <a:t>Kruskal’s algorithm Example</a:t>
            </a:r>
          </a:p>
        </p:txBody>
      </p:sp>
    </p:spTree>
    <p:extLst>
      <p:ext uri="{BB962C8B-B14F-4D97-AF65-F5344CB8AC3E}">
        <p14:creationId xmlns:p14="http://schemas.microsoft.com/office/powerpoint/2010/main" val="3469720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96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96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96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3730" name="Rectangle 2"/>
          <p:cNvSpPr>
            <a:spLocks noGrp="1" noChangeArrowheads="1"/>
          </p:cNvSpPr>
          <p:nvPr>
            <p:ph type="title"/>
          </p:nvPr>
        </p:nvSpPr>
        <p:spPr>
          <a:xfrm>
            <a:off x="0" y="304800"/>
            <a:ext cx="10515600" cy="636361"/>
          </a:xfrm>
        </p:spPr>
        <p:txBody>
          <a:bodyPr/>
          <a:lstStyle/>
          <a:p>
            <a:r>
              <a:rPr lang="en-US" altLang="en-US" b="1" dirty="0">
                <a:effectLst/>
              </a:rPr>
              <a:t>Kruskal’s Algorithm Complexity analysis</a:t>
            </a:r>
          </a:p>
        </p:txBody>
      </p:sp>
      <p:sp>
        <p:nvSpPr>
          <p:cNvPr id="1993731" name="Rectangle 3"/>
          <p:cNvSpPr>
            <a:spLocks noGrp="1" noChangeArrowheads="1"/>
          </p:cNvSpPr>
          <p:nvPr>
            <p:ph type="body" idx="1"/>
          </p:nvPr>
        </p:nvSpPr>
        <p:spPr>
          <a:xfrm>
            <a:off x="498566" y="1184048"/>
            <a:ext cx="11236233" cy="4351338"/>
          </a:xfrm>
        </p:spPr>
        <p:txBody>
          <a:bodyPr>
            <a:normAutofit fontScale="92500" lnSpcReduction="20000"/>
          </a:bodyPr>
          <a:lstStyle/>
          <a:p>
            <a:pPr>
              <a:buClr>
                <a:srgbClr val="002060"/>
              </a:buClr>
              <a:buFont typeface="Wingdings" panose="05000000000000000000" pitchFamily="2" charset="2"/>
              <a:buChar char="Ø"/>
            </a:pPr>
            <a:r>
              <a:rPr lang="en-US" altLang="en-US" sz="2400" dirty="0"/>
              <a:t> Kruskal’s Algorithm consists of two stages.</a:t>
            </a:r>
          </a:p>
          <a:p>
            <a:pPr marL="800100" lvl="1" indent="-342900">
              <a:buFont typeface="Wingdings" panose="05000000000000000000" pitchFamily="2" charset="2"/>
              <a:buChar char="§"/>
            </a:pPr>
            <a:r>
              <a:rPr lang="en-US" altLang="en-US" sz="2400" dirty="0"/>
              <a:t>Initializing the set A in line 1 takes </a:t>
            </a:r>
            <a:r>
              <a:rPr lang="en-US" altLang="en-US" sz="2400" dirty="0">
                <a:solidFill>
                  <a:srgbClr val="002060"/>
                </a:solidFill>
              </a:rPr>
              <a:t>O(1)</a:t>
            </a:r>
            <a:r>
              <a:rPr lang="en-US" altLang="en-US" sz="2400" dirty="0"/>
              <a:t> time.</a:t>
            </a:r>
          </a:p>
          <a:p>
            <a:pPr marL="800100" lvl="1" indent="-342900">
              <a:buFont typeface="Wingdings" panose="05000000000000000000" pitchFamily="2" charset="2"/>
              <a:buChar char="§"/>
            </a:pPr>
            <a:r>
              <a:rPr lang="en-US" altLang="en-US" sz="2400" dirty="0"/>
              <a:t>Sorting the edges by weight in line 4.</a:t>
            </a:r>
          </a:p>
          <a:p>
            <a:pPr marL="1143000" lvl="2" indent="-228600"/>
            <a:r>
              <a:rPr lang="en-US" altLang="en-US" sz="2000" dirty="0"/>
              <a:t> takes	</a:t>
            </a:r>
            <a:r>
              <a:rPr lang="en-US" altLang="en-US" sz="2000" i="1" dirty="0">
                <a:solidFill>
                  <a:srgbClr val="002060"/>
                </a:solidFill>
              </a:rPr>
              <a:t>O</a:t>
            </a:r>
            <a:r>
              <a:rPr lang="en-US" altLang="en-US" sz="2000" dirty="0">
                <a:solidFill>
                  <a:srgbClr val="002060"/>
                </a:solidFill>
              </a:rPr>
              <a:t>(</a:t>
            </a:r>
            <a:r>
              <a:rPr lang="en-US" altLang="en-US" sz="2000" i="1" dirty="0">
                <a:solidFill>
                  <a:srgbClr val="002060"/>
                </a:solidFill>
              </a:rPr>
              <a:t>E</a:t>
            </a:r>
            <a:r>
              <a:rPr lang="en-US" altLang="en-US" sz="2000" dirty="0">
                <a:solidFill>
                  <a:srgbClr val="002060"/>
                </a:solidFill>
              </a:rPr>
              <a:t> </a:t>
            </a:r>
            <a:r>
              <a:rPr lang="en-US" altLang="en-US" sz="2000" dirty="0" err="1">
                <a:solidFill>
                  <a:srgbClr val="002060"/>
                </a:solidFill>
              </a:rPr>
              <a:t>lg</a:t>
            </a:r>
            <a:r>
              <a:rPr lang="en-US" altLang="en-US" sz="2000" dirty="0">
                <a:solidFill>
                  <a:srgbClr val="002060"/>
                </a:solidFill>
              </a:rPr>
              <a:t> </a:t>
            </a:r>
            <a:r>
              <a:rPr lang="en-US" altLang="en-US" sz="2000" i="1" dirty="0">
                <a:solidFill>
                  <a:srgbClr val="002060"/>
                </a:solidFill>
              </a:rPr>
              <a:t>E</a:t>
            </a:r>
            <a:r>
              <a:rPr lang="en-US" altLang="en-US" sz="2000" dirty="0">
                <a:solidFill>
                  <a:srgbClr val="002060"/>
                </a:solidFill>
              </a:rPr>
              <a:t>) </a:t>
            </a:r>
          </a:p>
          <a:p>
            <a:pPr marL="742950" lvl="1" indent="-285750"/>
            <a:endParaRPr lang="en-US" altLang="en-US" sz="1400" dirty="0"/>
          </a:p>
          <a:p>
            <a:pPr marL="800100" lvl="1" indent="-342900">
              <a:buFont typeface="Wingdings" panose="05000000000000000000" pitchFamily="2" charset="2"/>
              <a:buChar char="§"/>
            </a:pPr>
            <a:r>
              <a:rPr lang="en-US" altLang="en-US" sz="2400" dirty="0"/>
              <a:t>Performing </a:t>
            </a:r>
          </a:p>
          <a:p>
            <a:pPr marL="1143000" lvl="2" indent="-228600"/>
            <a:r>
              <a:rPr lang="en-US" altLang="en-US" sz="2000" dirty="0"/>
              <a:t>|</a:t>
            </a:r>
            <a:r>
              <a:rPr lang="en-US" altLang="en-US" sz="2000" i="1" dirty="0"/>
              <a:t>V</a:t>
            </a:r>
            <a:r>
              <a:rPr lang="en-US" altLang="en-US" sz="2000" dirty="0"/>
              <a:t>| </a:t>
            </a:r>
            <a:r>
              <a:rPr lang="en-US" altLang="en-US" sz="2000" dirty="0" err="1"/>
              <a:t>MakeSet</a:t>
            </a:r>
            <a:r>
              <a:rPr lang="en-US" altLang="en-US" sz="2000" dirty="0"/>
              <a:t>() operations		                                                 </a:t>
            </a:r>
            <a:r>
              <a:rPr lang="en-US" altLang="en-US" sz="2000" dirty="0">
                <a:solidFill>
                  <a:schemeClr val="accent6">
                    <a:lumMod val="75000"/>
                  </a:schemeClr>
                </a:solidFill>
              </a:rPr>
              <a:t>// for loop in lines 2-3.</a:t>
            </a:r>
          </a:p>
          <a:p>
            <a:pPr marL="1143000" lvl="2" indent="-228600"/>
            <a:r>
              <a:rPr lang="en-US" altLang="en-US" sz="2000" dirty="0"/>
              <a:t>|</a:t>
            </a:r>
            <a:r>
              <a:rPr lang="en-US" altLang="en-US" sz="2000" i="1" dirty="0"/>
              <a:t>E| </a:t>
            </a:r>
            <a:r>
              <a:rPr lang="en-US" altLang="en-US" sz="2000" dirty="0" err="1"/>
              <a:t>FindSet</a:t>
            </a:r>
            <a:r>
              <a:rPr lang="en-US" altLang="en-US" sz="2000" dirty="0"/>
              <a:t>(),			                                                            </a:t>
            </a:r>
            <a:r>
              <a:rPr lang="en-US" altLang="en-US" sz="2000" dirty="0">
                <a:solidFill>
                  <a:schemeClr val="accent6">
                    <a:lumMod val="75000"/>
                  </a:schemeClr>
                </a:solidFill>
              </a:rPr>
              <a:t>//for loop in lines 5-8.</a:t>
            </a:r>
          </a:p>
          <a:p>
            <a:pPr marL="1143000" lvl="2" indent="-228600"/>
            <a:r>
              <a:rPr lang="en-US" altLang="en-US" sz="2000" dirty="0"/>
              <a:t>|</a:t>
            </a:r>
            <a:r>
              <a:rPr lang="en-US" altLang="en-US" sz="2000" i="1" dirty="0"/>
              <a:t>V</a:t>
            </a:r>
            <a:r>
              <a:rPr lang="en-US" altLang="en-US" sz="2000" dirty="0"/>
              <a:t>| - 1 Union(), 			                                                            </a:t>
            </a:r>
            <a:r>
              <a:rPr lang="en-US" altLang="en-US" sz="2000" dirty="0">
                <a:solidFill>
                  <a:schemeClr val="accent6">
                    <a:lumMod val="75000"/>
                  </a:schemeClr>
                </a:solidFill>
              </a:rPr>
              <a:t>//for loop in lines 5-8. </a:t>
            </a:r>
          </a:p>
          <a:p>
            <a:pPr marL="1143000" lvl="2" indent="-228600"/>
            <a:r>
              <a:rPr lang="en-US" altLang="en-US" sz="2000" dirty="0"/>
              <a:t>which takes 	</a:t>
            </a:r>
            <a:r>
              <a:rPr lang="en-US" altLang="en-US" sz="2000" i="1" dirty="0">
                <a:solidFill>
                  <a:srgbClr val="002060"/>
                </a:solidFill>
              </a:rPr>
              <a:t>O</a:t>
            </a:r>
            <a:r>
              <a:rPr lang="en-US" altLang="en-US" sz="2000" dirty="0">
                <a:solidFill>
                  <a:srgbClr val="002060"/>
                </a:solidFill>
              </a:rPr>
              <a:t>(</a:t>
            </a:r>
            <a:r>
              <a:rPr lang="en-US" altLang="en-US" sz="2000" i="1" dirty="0">
                <a:solidFill>
                  <a:srgbClr val="002060"/>
                </a:solidFill>
              </a:rPr>
              <a:t>V</a:t>
            </a:r>
            <a:r>
              <a:rPr lang="en-US" altLang="en-US" sz="2000" dirty="0">
                <a:solidFill>
                  <a:srgbClr val="002060"/>
                </a:solidFill>
              </a:rPr>
              <a:t> + </a:t>
            </a:r>
            <a:r>
              <a:rPr lang="en-US" altLang="en-US" sz="2000" i="1" dirty="0">
                <a:solidFill>
                  <a:srgbClr val="002060"/>
                </a:solidFill>
              </a:rPr>
              <a:t>E</a:t>
            </a:r>
            <a:r>
              <a:rPr lang="en-US" altLang="en-US" sz="2000" dirty="0">
                <a:solidFill>
                  <a:srgbClr val="002060"/>
                </a:solidFill>
              </a:rPr>
              <a:t>) </a:t>
            </a:r>
          </a:p>
          <a:p>
            <a:pPr marL="342900" indent="-342900"/>
            <a:endParaRPr lang="en-US" altLang="en-US" sz="1400" dirty="0"/>
          </a:p>
          <a:p>
            <a:pPr>
              <a:buClr>
                <a:srgbClr val="002060"/>
              </a:buClr>
              <a:buFont typeface="Wingdings" panose="05000000000000000000" pitchFamily="2" charset="2"/>
              <a:buChar char="Ø"/>
            </a:pPr>
            <a:r>
              <a:rPr lang="en-US" altLang="en-US" sz="2400" dirty="0"/>
              <a:t> The total running time is</a:t>
            </a:r>
          </a:p>
          <a:p>
            <a:pPr marL="800100" lvl="1" indent="-342900">
              <a:buFont typeface="Wingdings" panose="05000000000000000000" pitchFamily="2" charset="2"/>
              <a:buChar char="§"/>
            </a:pPr>
            <a:r>
              <a:rPr lang="en-US" altLang="en-US" sz="2400" i="1" dirty="0">
                <a:solidFill>
                  <a:srgbClr val="002060"/>
                </a:solidFill>
              </a:rPr>
              <a:t>O</a:t>
            </a:r>
            <a:r>
              <a:rPr lang="en-US" altLang="en-US" sz="2400" dirty="0">
                <a:solidFill>
                  <a:srgbClr val="002060"/>
                </a:solidFill>
              </a:rPr>
              <a:t>(</a:t>
            </a:r>
            <a:r>
              <a:rPr lang="en-US" altLang="en-US" sz="2400" i="1" dirty="0">
                <a:solidFill>
                  <a:srgbClr val="002060"/>
                </a:solidFill>
              </a:rPr>
              <a:t>E</a:t>
            </a:r>
            <a:r>
              <a:rPr lang="en-US" altLang="en-US" sz="2400" dirty="0">
                <a:solidFill>
                  <a:srgbClr val="002060"/>
                </a:solidFill>
              </a:rPr>
              <a:t> </a:t>
            </a:r>
            <a:r>
              <a:rPr lang="en-US" altLang="en-US" sz="2400" dirty="0" err="1">
                <a:solidFill>
                  <a:srgbClr val="002060"/>
                </a:solidFill>
              </a:rPr>
              <a:t>lg</a:t>
            </a:r>
            <a:r>
              <a:rPr lang="en-US" altLang="en-US" sz="2400" dirty="0">
                <a:solidFill>
                  <a:srgbClr val="002060"/>
                </a:solidFill>
              </a:rPr>
              <a:t> </a:t>
            </a:r>
            <a:r>
              <a:rPr lang="en-US" altLang="en-US" sz="2400" i="1" dirty="0">
                <a:solidFill>
                  <a:srgbClr val="002060"/>
                </a:solidFill>
              </a:rPr>
              <a:t>E</a:t>
            </a:r>
            <a:r>
              <a:rPr lang="en-US" altLang="en-US" sz="2400" dirty="0">
                <a:solidFill>
                  <a:srgbClr val="002060"/>
                </a:solidFill>
              </a:rPr>
              <a:t>)</a:t>
            </a:r>
          </a:p>
          <a:p>
            <a:pPr marL="800100" lvl="1" indent="-342900">
              <a:buFont typeface="Wingdings" panose="05000000000000000000" pitchFamily="2" charset="2"/>
              <a:buChar char="§"/>
            </a:pPr>
            <a:r>
              <a:rPr lang="en-US" altLang="en-US" sz="2400" dirty="0"/>
              <a:t>Observing that │</a:t>
            </a:r>
            <a:r>
              <a:rPr lang="en-US" altLang="en-US" sz="2400" dirty="0">
                <a:solidFill>
                  <a:srgbClr val="002060"/>
                </a:solidFill>
              </a:rPr>
              <a:t>E │&lt; │V│</a:t>
            </a:r>
            <a:r>
              <a:rPr lang="en-US" altLang="en-US" sz="2400" baseline="30000" dirty="0">
                <a:solidFill>
                  <a:srgbClr val="002060"/>
                </a:solidFill>
              </a:rPr>
              <a:t>2</a:t>
            </a:r>
            <a:r>
              <a:rPr lang="en-US" altLang="en-US" sz="2400" dirty="0">
                <a:solidFill>
                  <a:srgbClr val="002060"/>
                </a:solidFill>
              </a:rPr>
              <a:t> we have </a:t>
            </a:r>
            <a:r>
              <a:rPr lang="en-US" altLang="en-US" sz="2400" dirty="0" err="1">
                <a:solidFill>
                  <a:srgbClr val="002060"/>
                </a:solidFill>
              </a:rPr>
              <a:t>lg</a:t>
            </a:r>
            <a:r>
              <a:rPr lang="en-US" altLang="en-US" sz="2400" dirty="0">
                <a:solidFill>
                  <a:srgbClr val="002060"/>
                </a:solidFill>
              </a:rPr>
              <a:t> │E│ = O(</a:t>
            </a:r>
            <a:r>
              <a:rPr lang="en-US" altLang="en-US" sz="2400" dirty="0" err="1">
                <a:solidFill>
                  <a:srgbClr val="002060"/>
                </a:solidFill>
              </a:rPr>
              <a:t>lg</a:t>
            </a:r>
            <a:r>
              <a:rPr lang="en-US" altLang="en-US" sz="2400" dirty="0">
                <a:solidFill>
                  <a:srgbClr val="002060"/>
                </a:solidFill>
              </a:rPr>
              <a:t> V), </a:t>
            </a:r>
            <a:r>
              <a:rPr lang="en-US" altLang="en-US" sz="2400" dirty="0"/>
              <a:t>So total running time becomes </a:t>
            </a:r>
            <a:r>
              <a:rPr lang="en-US" altLang="en-US" sz="2400" dirty="0">
                <a:solidFill>
                  <a:srgbClr val="002060"/>
                </a:solidFill>
              </a:rPr>
              <a:t>O(E </a:t>
            </a:r>
            <a:r>
              <a:rPr lang="en-US" altLang="en-US" sz="2400" dirty="0" err="1">
                <a:solidFill>
                  <a:srgbClr val="002060"/>
                </a:solidFill>
              </a:rPr>
              <a:t>lg</a:t>
            </a:r>
            <a:r>
              <a:rPr lang="en-US" altLang="en-US" sz="2400" dirty="0">
                <a:solidFill>
                  <a:srgbClr val="002060"/>
                </a:solidFill>
              </a:rPr>
              <a:t> V)</a:t>
            </a:r>
            <a:r>
              <a:rPr lang="en-US" altLang="en-US" sz="2400" dirty="0"/>
              <a:t>.</a:t>
            </a:r>
          </a:p>
        </p:txBody>
      </p:sp>
    </p:spTree>
    <p:extLst>
      <p:ext uri="{BB962C8B-B14F-4D97-AF65-F5344CB8AC3E}">
        <p14:creationId xmlns:p14="http://schemas.microsoft.com/office/powerpoint/2010/main" val="14568939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52400" y="265908"/>
            <a:ext cx="7467600" cy="620712"/>
          </a:xfrm>
        </p:spPr>
        <p:txBody>
          <a:bodyPr>
            <a:normAutofit/>
          </a:bodyPr>
          <a:lstStyle/>
          <a:p>
            <a:pPr eaLnBrk="1" hangingPunct="1">
              <a:defRPr/>
            </a:pPr>
            <a:r>
              <a:rPr lang="en-US" sz="3200" b="1" dirty="0"/>
              <a:t>Review Questions</a:t>
            </a:r>
          </a:p>
        </p:txBody>
      </p:sp>
      <p:pic>
        <p:nvPicPr>
          <p:cNvPr id="71683" name="Picture 4"/>
          <p:cNvPicPr>
            <a:picLocks noGrp="1" noChangeAspect="1" noChangeArrowheads="1"/>
          </p:cNvPicPr>
          <p:nvPr>
            <p:ph sz="half" idx="1"/>
          </p:nvPr>
        </p:nvPicPr>
        <p:blipFill>
          <a:blip r:embed="rId3"/>
          <a:srcRect/>
          <a:stretch>
            <a:fillRect/>
          </a:stretch>
        </p:blipFill>
        <p:spPr>
          <a:xfrm>
            <a:off x="630995" y="2087363"/>
            <a:ext cx="3257550" cy="2265363"/>
          </a:xfrm>
          <a:noFill/>
        </p:spPr>
      </p:pic>
      <p:pic>
        <p:nvPicPr>
          <p:cNvPr id="71684" name="Picture 6"/>
          <p:cNvPicPr>
            <a:picLocks noGrp="1" noChangeAspect="1" noChangeArrowheads="1"/>
          </p:cNvPicPr>
          <p:nvPr>
            <p:ph sz="half" idx="2"/>
          </p:nvPr>
        </p:nvPicPr>
        <p:blipFill>
          <a:blip r:embed="rId4"/>
          <a:srcRect/>
          <a:stretch>
            <a:fillRect/>
          </a:stretch>
        </p:blipFill>
        <p:spPr>
          <a:xfrm>
            <a:off x="6897882" y="2056883"/>
            <a:ext cx="3097213" cy="2189163"/>
          </a:xfrm>
          <a:noFill/>
        </p:spPr>
      </p:pic>
      <p:sp>
        <p:nvSpPr>
          <p:cNvPr id="71685" name="Text Box 8"/>
          <p:cNvSpPr txBox="1">
            <a:spLocks noChangeArrowheads="1"/>
          </p:cNvSpPr>
          <p:nvPr/>
        </p:nvSpPr>
        <p:spPr bwMode="auto">
          <a:xfrm>
            <a:off x="188742" y="4608997"/>
            <a:ext cx="12003258" cy="1938992"/>
          </a:xfrm>
          <a:prstGeom prst="rect">
            <a:avLst/>
          </a:prstGeom>
          <a:noFill/>
          <a:ln w="9525">
            <a:noFill/>
            <a:miter lim="800000"/>
            <a:headEnd/>
            <a:tailEnd/>
          </a:ln>
        </p:spPr>
        <p:txBody>
          <a:bodyPr wrap="square">
            <a:spAutoFit/>
          </a:bodyPr>
          <a:lstStyle/>
          <a:p>
            <a:pPr marL="342900" indent="-342900">
              <a:buFontTx/>
              <a:buAutoNum type="arabicPeriod"/>
            </a:pPr>
            <a:r>
              <a:rPr lang="en-US" sz="2000" dirty="0"/>
              <a:t>Find the breadth-first spanning tree and depth-first spanning tree of the  graph G</a:t>
            </a:r>
            <a:r>
              <a:rPr lang="en-US" sz="2000" baseline="-25000" dirty="0"/>
              <a:t>A</a:t>
            </a:r>
            <a:r>
              <a:rPr lang="en-US" sz="2000" dirty="0"/>
              <a:t> shown above.</a:t>
            </a:r>
          </a:p>
          <a:p>
            <a:pPr marL="342900" indent="-342900">
              <a:buFontTx/>
              <a:buAutoNum type="arabicPeriod"/>
            </a:pPr>
            <a:endParaRPr lang="en-US" sz="2000" dirty="0"/>
          </a:p>
          <a:p>
            <a:pPr marL="342900" indent="-342900">
              <a:buFontTx/>
              <a:buAutoNum type="arabicPeriod"/>
            </a:pPr>
            <a:r>
              <a:rPr lang="en-US" sz="2000" dirty="0"/>
              <a:t>For the graph G</a:t>
            </a:r>
            <a:r>
              <a:rPr lang="en-US" sz="2000" baseline="-25000" dirty="0"/>
              <a:t>B</a:t>
            </a:r>
            <a:r>
              <a:rPr lang="en-US" sz="2000" dirty="0"/>
              <a:t>  shown above, trace the execution of Prim's algorithm as it finds the minimum-cost spanning tree of the graph starting from vertex a.</a:t>
            </a:r>
          </a:p>
          <a:p>
            <a:pPr marL="342900" indent="-342900">
              <a:buFontTx/>
              <a:buAutoNum type="arabicPeriod"/>
            </a:pPr>
            <a:endParaRPr lang="en-US" sz="2000" dirty="0"/>
          </a:p>
          <a:p>
            <a:pPr marL="342900" indent="-342900">
              <a:buFontTx/>
              <a:buAutoNum type="arabicPeriod"/>
            </a:pPr>
            <a:r>
              <a:rPr lang="en-US" sz="2000" dirty="0"/>
              <a:t>Repeat question 2 above using Kruskal's algorithm.</a:t>
            </a:r>
          </a:p>
        </p:txBody>
      </p:sp>
      <p:sp>
        <p:nvSpPr>
          <p:cNvPr id="71686" name="Text Box 9"/>
          <p:cNvSpPr txBox="1">
            <a:spLocks noChangeArrowheads="1"/>
          </p:cNvSpPr>
          <p:nvPr/>
        </p:nvSpPr>
        <p:spPr bwMode="auto">
          <a:xfrm>
            <a:off x="6849818" y="1829762"/>
            <a:ext cx="762000" cy="646331"/>
          </a:xfrm>
          <a:prstGeom prst="rect">
            <a:avLst/>
          </a:prstGeom>
          <a:noFill/>
          <a:ln w="9525">
            <a:noFill/>
            <a:miter lim="800000"/>
            <a:headEnd/>
            <a:tailEnd/>
          </a:ln>
        </p:spPr>
        <p:txBody>
          <a:bodyPr wrap="square">
            <a:spAutoFit/>
          </a:bodyPr>
          <a:lstStyle/>
          <a:p>
            <a:r>
              <a:rPr lang="en-US" sz="3600" b="1" dirty="0">
                <a:solidFill>
                  <a:srgbClr val="0070C0"/>
                </a:solidFill>
              </a:rPr>
              <a:t>G</a:t>
            </a:r>
            <a:r>
              <a:rPr lang="en-US" sz="3600" b="1" baseline="-25000" dirty="0">
                <a:solidFill>
                  <a:srgbClr val="0070C0"/>
                </a:solidFill>
              </a:rPr>
              <a:t>B</a:t>
            </a:r>
            <a:endParaRPr lang="en-US" sz="3600" b="1" dirty="0">
              <a:solidFill>
                <a:srgbClr val="0070C0"/>
              </a:solidFill>
            </a:endParaRPr>
          </a:p>
        </p:txBody>
      </p:sp>
      <p:sp>
        <p:nvSpPr>
          <p:cNvPr id="71687" name="Slide Number Placeholder 6"/>
          <p:cNvSpPr>
            <a:spLocks noGrp="1"/>
          </p:cNvSpPr>
          <p:nvPr>
            <p:ph type="sldNum" sz="quarter" idx="12"/>
          </p:nvPr>
        </p:nvSpPr>
        <p:spPr bwMode="auto">
          <a:noFill/>
          <a:ln>
            <a:miter lim="800000"/>
            <a:headEnd/>
            <a:tailEnd/>
          </a:ln>
        </p:spPr>
        <p:txBody>
          <a:bodyPr vert="horz" wrap="square" lIns="91440" tIns="45720" rIns="91440" bIns="45720" numCol="1" rtlCol="0" anchor="ctr" anchorCtr="0" compatLnSpc="1">
            <a:prstTxWarp prst="textNoShape">
              <a:avLst/>
            </a:prstTxWarp>
          </a:bodyPr>
          <a:lstStyle/>
          <a:p>
            <a:fld id="{70BA945B-9038-4FD8-827E-D125B3C713B5}" type="slidenum">
              <a:rPr lang="en-US" smtClean="0"/>
              <a:pPr/>
              <a:t>59</a:t>
            </a:fld>
            <a:endParaRPr lang="en-US"/>
          </a:p>
        </p:txBody>
      </p:sp>
      <p:sp>
        <p:nvSpPr>
          <p:cNvPr id="8" name="Text Box 8"/>
          <p:cNvSpPr txBox="1">
            <a:spLocks noChangeArrowheads="1"/>
          </p:cNvSpPr>
          <p:nvPr/>
        </p:nvSpPr>
        <p:spPr bwMode="auto">
          <a:xfrm>
            <a:off x="8206" y="1256457"/>
            <a:ext cx="11165058" cy="400110"/>
          </a:xfrm>
          <a:prstGeom prst="rect">
            <a:avLst/>
          </a:prstGeom>
          <a:noFill/>
          <a:ln w="9525">
            <a:noFill/>
            <a:miter lim="800000"/>
            <a:headEnd/>
            <a:tailEnd/>
          </a:ln>
        </p:spPr>
        <p:txBody>
          <a:bodyPr wrap="square">
            <a:spAutoFit/>
          </a:bodyPr>
          <a:lstStyle/>
          <a:p>
            <a:r>
              <a:rPr lang="en-US" sz="2000" dirty="0"/>
              <a:t>Using the following graphs answer the question 1 - 3</a:t>
            </a:r>
          </a:p>
        </p:txBody>
      </p:sp>
    </p:spTree>
    <p:extLst>
      <p:ext uri="{BB962C8B-B14F-4D97-AF65-F5344CB8AC3E}">
        <p14:creationId xmlns:p14="http://schemas.microsoft.com/office/powerpoint/2010/main" val="7626205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52400" y="274638"/>
            <a:ext cx="7467600" cy="700087"/>
          </a:xfrm>
        </p:spPr>
        <p:txBody>
          <a:bodyPr>
            <a:normAutofit/>
          </a:bodyPr>
          <a:lstStyle/>
          <a:p>
            <a:pPr eaLnBrk="1" hangingPunct="1">
              <a:defRPr/>
            </a:pPr>
            <a:r>
              <a:rPr lang="en-US" sz="3200" b="1" dirty="0"/>
              <a:t>Shortest path problem</a:t>
            </a:r>
          </a:p>
        </p:txBody>
      </p:sp>
      <p:sp>
        <p:nvSpPr>
          <p:cNvPr id="72707" name="Rectangle 3"/>
          <p:cNvSpPr>
            <a:spLocks noGrp="1" noChangeArrowheads="1"/>
          </p:cNvSpPr>
          <p:nvPr>
            <p:ph type="body" idx="1"/>
          </p:nvPr>
        </p:nvSpPr>
        <p:spPr>
          <a:xfrm>
            <a:off x="173502" y="1165227"/>
            <a:ext cx="11866098" cy="2263774"/>
          </a:xfrm>
        </p:spPr>
        <p:txBody>
          <a:bodyPr/>
          <a:lstStyle/>
          <a:p>
            <a:pPr eaLnBrk="1" hangingPunct="1">
              <a:buClr>
                <a:srgbClr val="002060"/>
              </a:buClr>
              <a:buFont typeface="Wingdings" panose="05000000000000000000" pitchFamily="2" charset="2"/>
              <a:buChar char="Ø"/>
            </a:pPr>
            <a:r>
              <a:rPr lang="en-US" sz="2000" dirty="0"/>
              <a:t> In an edge-weighted graph, the weight of an edge measures the cost of traveling that edge.</a:t>
            </a:r>
          </a:p>
          <a:p>
            <a:pPr lvl="1">
              <a:buFont typeface="Wingdings" panose="05000000000000000000" pitchFamily="2" charset="2"/>
              <a:buChar char="§"/>
            </a:pPr>
            <a:r>
              <a:rPr lang="en-US" sz="2000" dirty="0"/>
              <a:t>For example, in a graph representing a network of airports, the weights could represent: distance, cost or time.</a:t>
            </a:r>
          </a:p>
          <a:p>
            <a:pPr lvl="1">
              <a:buFont typeface="Wingdings" panose="05000000000000000000" pitchFamily="2" charset="2"/>
              <a:buChar char="§"/>
            </a:pPr>
            <a:r>
              <a:rPr lang="en-US" sz="2000" dirty="0"/>
              <a:t>Such a graph could be used to answer any of the following:</a:t>
            </a:r>
          </a:p>
          <a:p>
            <a:pPr lvl="2"/>
            <a:r>
              <a:rPr lang="en-US" sz="1700" dirty="0"/>
              <a:t>What is the fastest way to get from A to B?</a:t>
            </a:r>
          </a:p>
          <a:p>
            <a:pPr lvl="2"/>
            <a:r>
              <a:rPr lang="en-US" sz="1700" dirty="0"/>
              <a:t>Which route from A to B is the least expensive?</a:t>
            </a:r>
          </a:p>
          <a:p>
            <a:pPr lvl="2"/>
            <a:r>
              <a:rPr lang="en-US" sz="1700" dirty="0"/>
              <a:t>What is the shortest possible distance from A to B?</a:t>
            </a:r>
          </a:p>
          <a:p>
            <a:pPr lvl="1" eaLnBrk="1" hangingPunct="1"/>
            <a:endParaRPr lang="en-US" sz="2000" dirty="0"/>
          </a:p>
        </p:txBody>
      </p:sp>
      <p:sp>
        <p:nvSpPr>
          <p:cNvPr id="72708" name="Slide Number Placeholder 3"/>
          <p:cNvSpPr>
            <a:spLocks noGrp="1"/>
          </p:cNvSpPr>
          <p:nvPr>
            <p:ph type="sldNum" sz="quarter" idx="11"/>
          </p:nvPr>
        </p:nvSpPr>
        <p:spPr bwMode="auto">
          <a:noFill/>
          <a:ln>
            <a:miter lim="800000"/>
            <a:headEnd/>
            <a:tailEnd/>
          </a:ln>
        </p:spPr>
        <p:txBody>
          <a:bodyPr vert="horz" wrap="square" lIns="91440" tIns="45720" rIns="91440" bIns="45720" numCol="1" rtlCol="0" anchor="ctr" anchorCtr="0" compatLnSpc="1">
            <a:prstTxWarp prst="textNoShape">
              <a:avLst/>
            </a:prstTxWarp>
          </a:bodyPr>
          <a:lstStyle/>
          <a:p>
            <a:fld id="{73896A39-34E6-4D6A-B9DB-AAEED225B1DA}" type="slidenum">
              <a:rPr lang="en-US" smtClean="0"/>
              <a:pPr/>
              <a:t>60</a:t>
            </a:fld>
            <a:endParaRPr lang="en-US"/>
          </a:p>
        </p:txBody>
      </p:sp>
      <p:sp>
        <p:nvSpPr>
          <p:cNvPr id="2" name="Right Brace 1"/>
          <p:cNvSpPr/>
          <p:nvPr/>
        </p:nvSpPr>
        <p:spPr>
          <a:xfrm>
            <a:off x="5687451" y="2438400"/>
            <a:ext cx="838200" cy="762000"/>
          </a:xfrm>
          <a:prstGeom prst="righ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 name="Rectangle 2"/>
          <p:cNvSpPr/>
          <p:nvPr/>
        </p:nvSpPr>
        <p:spPr>
          <a:xfrm>
            <a:off x="6234626" y="2438400"/>
            <a:ext cx="6096000" cy="646331"/>
          </a:xfrm>
          <a:prstGeom prst="rect">
            <a:avLst/>
          </a:prstGeom>
        </p:spPr>
        <p:txBody>
          <a:bodyPr>
            <a:spAutoFit/>
          </a:bodyPr>
          <a:lstStyle/>
          <a:p>
            <a:r>
              <a:rPr lang="en-US" dirty="0">
                <a:solidFill>
                  <a:srgbClr val="002060"/>
                </a:solidFill>
              </a:rPr>
              <a:t>Each of these questions is an instance of the same problem:</a:t>
            </a:r>
          </a:p>
          <a:p>
            <a:pPr algn="ctr"/>
            <a:r>
              <a:rPr lang="en-US" dirty="0">
                <a:solidFill>
                  <a:srgbClr val="002060"/>
                </a:solidFill>
              </a:rPr>
              <a:t>The shortest path problem!</a:t>
            </a:r>
          </a:p>
        </p:txBody>
      </p:sp>
      <p:sp>
        <p:nvSpPr>
          <p:cNvPr id="7" name="Rectangle 3"/>
          <p:cNvSpPr txBox="1">
            <a:spLocks noChangeArrowheads="1"/>
          </p:cNvSpPr>
          <p:nvPr/>
        </p:nvSpPr>
        <p:spPr>
          <a:xfrm>
            <a:off x="533400" y="3429001"/>
            <a:ext cx="8534400" cy="2519086"/>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Times New Roman" panose="02020603050405020304" pitchFamily="18" charset="0"/>
                <a:ea typeface="+mn-ea"/>
                <a:cs typeface="Times New Roman" panose="02020603050405020304" pitchFamily="18"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Times New Roman" panose="02020603050405020304" pitchFamily="18" charset="0"/>
                <a:ea typeface="+mn-ea"/>
                <a:cs typeface="Times New Roman" panose="02020603050405020304" pitchFamily="18"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pitchFamily="2" charset="2"/>
              <a:buChar char="§"/>
            </a:pPr>
            <a:r>
              <a:rPr lang="en-US" sz="2000" b="1" dirty="0">
                <a:solidFill>
                  <a:srgbClr val="002060"/>
                </a:solidFill>
              </a:rPr>
              <a:t>Shortest path problem</a:t>
            </a:r>
            <a:r>
              <a:rPr lang="en-US" sz="2000" dirty="0"/>
              <a:t> is the problem of finding a path between two nodes in a graph such that the sum of the weights of its constituent edges is minimized. </a:t>
            </a:r>
          </a:p>
          <a:p>
            <a:pPr>
              <a:buFont typeface="Wingdings" panose="05000000000000000000" pitchFamily="2" charset="2"/>
              <a:buChar char="§"/>
            </a:pPr>
            <a:endParaRPr lang="en-US" sz="2000" dirty="0"/>
          </a:p>
          <a:p>
            <a:pPr>
              <a:buFont typeface="Wingdings" panose="05000000000000000000" pitchFamily="2" charset="2"/>
              <a:buChar char="§"/>
            </a:pPr>
            <a:r>
              <a:rPr lang="en-US" sz="2000" dirty="0"/>
              <a:t>If all the edges in a graph have non-negative weights, then it is possible to find the shortest path from any two vertices.</a:t>
            </a:r>
          </a:p>
          <a:p>
            <a:pPr lvl="1"/>
            <a:r>
              <a:rPr lang="en-US" sz="1700" dirty="0"/>
              <a:t>For example, in the figure below, the shortest path from B to F is { B, A, C, E, F } with a total cost of nine.</a:t>
            </a:r>
          </a:p>
          <a:p>
            <a:pPr lvl="1"/>
            <a:r>
              <a:rPr lang="en-US" sz="1700" dirty="0"/>
              <a:t>Thus, the problem is well defined for a graph that contains non-negative weights.</a:t>
            </a:r>
          </a:p>
          <a:p>
            <a:pPr marL="0" indent="0">
              <a:buNone/>
            </a:pPr>
            <a:endParaRPr lang="en-US" sz="2000" dirty="0"/>
          </a:p>
          <a:p>
            <a:endParaRPr lang="en-US" sz="1700" dirty="0"/>
          </a:p>
        </p:txBody>
      </p:sp>
      <p:pic>
        <p:nvPicPr>
          <p:cNvPr id="8" name="Picture 4"/>
          <p:cNvPicPr>
            <a:picLocks noChangeAspect="1" noChangeArrowheads="1"/>
          </p:cNvPicPr>
          <p:nvPr/>
        </p:nvPicPr>
        <p:blipFill>
          <a:blip r:embed="rId3"/>
          <a:srcRect/>
          <a:stretch>
            <a:fillRect/>
          </a:stretch>
        </p:blipFill>
        <p:spPr>
          <a:xfrm>
            <a:off x="9235159" y="3352800"/>
            <a:ext cx="2440455" cy="2241344"/>
          </a:xfrm>
          <a:prstGeom prst="rect">
            <a:avLst/>
          </a:prstGeom>
          <a:noFill/>
        </p:spPr>
      </p:pic>
      <p:sp>
        <p:nvSpPr>
          <p:cNvPr id="4" name="Rectangle 3"/>
          <p:cNvSpPr/>
          <p:nvPr/>
        </p:nvSpPr>
        <p:spPr>
          <a:xfrm>
            <a:off x="574431" y="5938414"/>
            <a:ext cx="11430000" cy="707886"/>
          </a:xfrm>
          <a:prstGeom prst="rect">
            <a:avLst/>
          </a:prstGeom>
        </p:spPr>
        <p:txBody>
          <a:bodyPr wrap="square">
            <a:spAutoFit/>
          </a:bodyPr>
          <a:lstStyle/>
          <a:p>
            <a:pPr marL="285750" indent="-285750">
              <a:buFont typeface="Wingdings" panose="05000000000000000000" pitchFamily="2" charset="2"/>
              <a:buChar char="§"/>
            </a:pPr>
            <a:r>
              <a:rPr lang="en-US" sz="2000" dirty="0"/>
              <a:t> </a:t>
            </a:r>
            <a:r>
              <a:rPr lang="en-US" sz="2000" dirty="0">
                <a:latin typeface="Times New Roman" panose="02020603050405020304" pitchFamily="18" charset="0"/>
                <a:cs typeface="Times New Roman" panose="02020603050405020304" pitchFamily="18" charset="0"/>
              </a:rPr>
              <a:t>There exist Several well known algorithms for solving the shortest path problem and its variants like </a:t>
            </a:r>
            <a:r>
              <a:rPr lang="en-US" sz="2000" dirty="0">
                <a:solidFill>
                  <a:srgbClr val="FF0000"/>
                </a:solidFill>
                <a:latin typeface="Times New Roman" panose="02020603050405020304" pitchFamily="18" charset="0"/>
                <a:cs typeface="Times New Roman" panose="02020603050405020304" pitchFamily="18" charset="0"/>
              </a:rPr>
              <a:t>Dijkstra's Algorithm.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76487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52400" y="381000"/>
            <a:ext cx="8229600" cy="490537"/>
          </a:xfrm>
        </p:spPr>
        <p:txBody>
          <a:bodyPr>
            <a:normAutofit/>
          </a:bodyPr>
          <a:lstStyle/>
          <a:p>
            <a:pPr eaLnBrk="1" hangingPunct="1">
              <a:defRPr/>
            </a:pPr>
            <a:r>
              <a:rPr lang="en-US" sz="2800" b="1" dirty="0"/>
              <a:t>The Dijkstra's Algorithm</a:t>
            </a:r>
          </a:p>
        </p:txBody>
      </p:sp>
      <p:sp>
        <p:nvSpPr>
          <p:cNvPr id="9219" name="Rectangle 3"/>
          <p:cNvSpPr>
            <a:spLocks noGrp="1" noChangeArrowheads="1"/>
          </p:cNvSpPr>
          <p:nvPr>
            <p:ph type="body" idx="1"/>
          </p:nvPr>
        </p:nvSpPr>
        <p:spPr>
          <a:xfrm>
            <a:off x="304800" y="1211265"/>
            <a:ext cx="11658600" cy="5510212"/>
          </a:xfrm>
        </p:spPr>
        <p:txBody>
          <a:bodyPr/>
          <a:lstStyle/>
          <a:p>
            <a:pPr eaLnBrk="1" hangingPunct="1">
              <a:buClr>
                <a:srgbClr val="002060"/>
              </a:buClr>
              <a:buFont typeface="Wingdings" panose="05000000000000000000" pitchFamily="2" charset="2"/>
              <a:buChar char="Ø"/>
              <a:defRPr/>
            </a:pPr>
            <a:r>
              <a:rPr lang="en-US" sz="2000" dirty="0"/>
              <a:t> </a:t>
            </a:r>
            <a:r>
              <a:rPr lang="en-US" sz="2000" dirty="0">
                <a:solidFill>
                  <a:srgbClr val="002060"/>
                </a:solidFill>
              </a:rPr>
              <a:t>Dijkstra’s Algorithm </a:t>
            </a:r>
            <a:r>
              <a:rPr lang="en-US" sz="2000" dirty="0"/>
              <a:t>uses the </a:t>
            </a:r>
            <a:r>
              <a:rPr lang="en-US" sz="2000" dirty="0">
                <a:solidFill>
                  <a:srgbClr val="002060"/>
                </a:solidFill>
              </a:rPr>
              <a:t>Greedy Method</a:t>
            </a:r>
          </a:p>
          <a:p>
            <a:pPr eaLnBrk="1" hangingPunct="1">
              <a:buClr>
                <a:srgbClr val="002060"/>
              </a:buClr>
              <a:buFont typeface="Wingdings" panose="05000000000000000000" pitchFamily="2" charset="2"/>
              <a:buChar char="Ø"/>
              <a:defRPr/>
            </a:pPr>
            <a:r>
              <a:rPr lang="en-US" sz="2000" dirty="0"/>
              <a:t> It is a very Efficient Algorithm to calculate the Shortest Path for a non-negative weights graph.</a:t>
            </a:r>
          </a:p>
          <a:p>
            <a:pPr eaLnBrk="1" hangingPunct="1">
              <a:buClr>
                <a:srgbClr val="002060"/>
              </a:buClr>
              <a:buFont typeface="Wingdings" panose="05000000000000000000" pitchFamily="2" charset="2"/>
              <a:buChar char="Ø"/>
              <a:defRPr/>
            </a:pPr>
            <a:r>
              <a:rPr lang="en-US" sz="2000" dirty="0"/>
              <a:t> It finds the shortest path from an initial vertex, say s, to all the other vertices.</a:t>
            </a:r>
          </a:p>
          <a:p>
            <a:pPr lvl="1" algn="just">
              <a:spcBef>
                <a:spcPct val="20000"/>
              </a:spcBef>
              <a:buFont typeface="Wingdings" panose="05000000000000000000" pitchFamily="2" charset="2"/>
              <a:buChar char="§"/>
              <a:defRPr/>
            </a:pPr>
            <a:r>
              <a:rPr lang="en-US" sz="1700" dirty="0"/>
              <a:t>The algorithm maintains a set S of vertices whose final shortest-path weights from source s have already been determined.</a:t>
            </a:r>
          </a:p>
          <a:p>
            <a:pPr lvl="1" algn="just">
              <a:spcBef>
                <a:spcPct val="20000"/>
              </a:spcBef>
              <a:buFont typeface="Wingdings" panose="05000000000000000000" pitchFamily="2" charset="2"/>
              <a:buChar char="§"/>
              <a:defRPr/>
            </a:pPr>
            <a:r>
              <a:rPr lang="en-US" sz="1700" dirty="0"/>
              <a:t>Take the adjacent nodes and update the current shortest distance.</a:t>
            </a:r>
          </a:p>
          <a:p>
            <a:pPr lvl="1" algn="just">
              <a:spcBef>
                <a:spcPct val="20000"/>
              </a:spcBef>
              <a:buFont typeface="Wingdings" panose="05000000000000000000" pitchFamily="2" charset="2"/>
              <a:buChar char="§"/>
              <a:defRPr/>
            </a:pPr>
            <a:r>
              <a:rPr lang="en-US" sz="1700" dirty="0"/>
              <a:t>The algorithm repeatedly selects the vertex u </a:t>
            </a:r>
            <a:r>
              <a:rPr lang="el-GR" sz="2000" dirty="0"/>
              <a:t>ϵ</a:t>
            </a:r>
            <a:r>
              <a:rPr lang="en-US" sz="2000" dirty="0"/>
              <a:t> </a:t>
            </a:r>
            <a:r>
              <a:rPr lang="en-US" sz="1700" dirty="0"/>
              <a:t>V-S, with minimum shortest distance estimated.</a:t>
            </a:r>
          </a:p>
          <a:p>
            <a:pPr lvl="1" algn="just">
              <a:spcBef>
                <a:spcPct val="20000"/>
              </a:spcBef>
              <a:buFont typeface="Wingdings" panose="05000000000000000000" pitchFamily="2" charset="2"/>
              <a:buChar char="§"/>
              <a:defRPr/>
            </a:pPr>
            <a:r>
              <a:rPr lang="en-US" sz="1700" dirty="0"/>
              <a:t>Update the current shortest distance of the adjacent vertices where necessary.</a:t>
            </a:r>
          </a:p>
          <a:p>
            <a:pPr marL="1085850" lvl="2" indent="-285750" algn="just">
              <a:defRPr/>
            </a:pPr>
            <a:r>
              <a:rPr lang="en-US" sz="1700" b="1" dirty="0">
                <a:solidFill>
                  <a:srgbClr val="002060"/>
                </a:solidFill>
              </a:rPr>
              <a:t>i.e. </a:t>
            </a:r>
            <a:r>
              <a:rPr lang="en-US" sz="1700" dirty="0"/>
              <a:t>when the new distance is less than the  existing value.</a:t>
            </a:r>
          </a:p>
          <a:p>
            <a:pPr lvl="1" algn="just">
              <a:spcBef>
                <a:spcPct val="20000"/>
              </a:spcBef>
              <a:buFont typeface="Wingdings" panose="05000000000000000000" pitchFamily="2" charset="2"/>
              <a:buChar char="§"/>
              <a:defRPr/>
            </a:pPr>
            <a:r>
              <a:rPr lang="en-US" sz="1700" dirty="0"/>
              <a:t>Stop when all the Vertices are checked.</a:t>
            </a:r>
          </a:p>
          <a:p>
            <a:pPr eaLnBrk="1" hangingPunct="1">
              <a:defRPr/>
            </a:pPr>
            <a:endParaRPr lang="en-US" sz="2000" dirty="0"/>
          </a:p>
          <a:p>
            <a:pPr eaLnBrk="1" hangingPunct="1">
              <a:defRPr/>
            </a:pPr>
            <a:endParaRPr lang="en-US" sz="2000" dirty="0"/>
          </a:p>
        </p:txBody>
      </p:sp>
      <p:sp>
        <p:nvSpPr>
          <p:cNvPr id="74756" name="Slide Number Placeholder 4"/>
          <p:cNvSpPr>
            <a:spLocks noGrp="1"/>
          </p:cNvSpPr>
          <p:nvPr>
            <p:ph type="sldNum" sz="quarter" idx="11"/>
          </p:nvPr>
        </p:nvSpPr>
        <p:spPr bwMode="auto">
          <a:noFill/>
          <a:ln>
            <a:miter lim="800000"/>
            <a:headEnd/>
            <a:tailEnd/>
          </a:ln>
        </p:spPr>
        <p:txBody>
          <a:bodyPr vert="horz" wrap="square" lIns="91440" tIns="45720" rIns="91440" bIns="45720" numCol="1" rtlCol="0" anchor="ctr" anchorCtr="0" compatLnSpc="1">
            <a:prstTxWarp prst="textNoShape">
              <a:avLst/>
            </a:prstTxWarp>
          </a:bodyPr>
          <a:lstStyle/>
          <a:p>
            <a:fld id="{A43DE26D-4984-49E9-964C-D6D70A452639}" type="slidenum">
              <a:rPr lang="en-US" smtClean="0"/>
              <a:pPr/>
              <a:t>61</a:t>
            </a:fld>
            <a:endParaRPr lang="en-US"/>
          </a:p>
        </p:txBody>
      </p:sp>
    </p:spTree>
    <p:extLst>
      <p:ext uri="{BB962C8B-B14F-4D97-AF65-F5344CB8AC3E}">
        <p14:creationId xmlns:p14="http://schemas.microsoft.com/office/powerpoint/2010/main" val="29477108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52400" y="435771"/>
            <a:ext cx="8229600" cy="490538"/>
          </a:xfrm>
        </p:spPr>
        <p:txBody>
          <a:bodyPr>
            <a:normAutofit/>
          </a:bodyPr>
          <a:lstStyle/>
          <a:p>
            <a:pPr eaLnBrk="1" hangingPunct="1">
              <a:defRPr/>
            </a:pPr>
            <a:r>
              <a:rPr lang="en-US" sz="2800" b="1" dirty="0"/>
              <a:t>The Dijkstra's </a:t>
            </a:r>
            <a:r>
              <a:rPr lang="en-US" sz="2800" b="1" dirty="0" err="1"/>
              <a:t>Algorithm_Code</a:t>
            </a:r>
            <a:endParaRPr lang="en-US" sz="2800" b="1" dirty="0"/>
          </a:p>
        </p:txBody>
      </p:sp>
      <p:sp>
        <p:nvSpPr>
          <p:cNvPr id="75779" name="Rectangle 3"/>
          <p:cNvSpPr>
            <a:spLocks noGrp="1" noChangeArrowheads="1"/>
          </p:cNvSpPr>
          <p:nvPr>
            <p:ph type="body" idx="1"/>
          </p:nvPr>
        </p:nvSpPr>
        <p:spPr>
          <a:xfrm>
            <a:off x="381000" y="1219200"/>
            <a:ext cx="11811000" cy="6192837"/>
          </a:xfrm>
        </p:spPr>
        <p:txBody>
          <a:bodyPr/>
          <a:lstStyle/>
          <a:p>
            <a:pPr marL="533400" indent="-533400">
              <a:buNone/>
            </a:pPr>
            <a:r>
              <a:rPr lang="en-US" sz="1600" b="1" dirty="0">
                <a:solidFill>
                  <a:schemeClr val="accent6">
                    <a:lumMod val="75000"/>
                  </a:schemeClr>
                </a:solidFill>
              </a:rPr>
              <a:t>// Let V be the set of all vertices in G, and s the start vertex.</a:t>
            </a:r>
          </a:p>
          <a:p>
            <a:pPr marL="533400" indent="-533400">
              <a:buNone/>
            </a:pPr>
            <a:r>
              <a:rPr lang="en-US" sz="1800" b="1" dirty="0"/>
              <a:t>for each vertex v  {</a:t>
            </a:r>
          </a:p>
          <a:p>
            <a:pPr marL="533400" indent="-533400">
              <a:buNone/>
            </a:pPr>
            <a:r>
              <a:rPr lang="en-US" sz="1800" b="1" dirty="0"/>
              <a:t>   </a:t>
            </a:r>
            <a:r>
              <a:rPr lang="en-US" sz="1800" b="1" dirty="0" err="1"/>
              <a:t>currentDistance</a:t>
            </a:r>
            <a:r>
              <a:rPr lang="en-US" sz="1800" b="1" dirty="0"/>
              <a:t>(s-v) = ∞;</a:t>
            </a:r>
          </a:p>
          <a:p>
            <a:pPr marL="533400" indent="-533400">
              <a:buNone/>
            </a:pPr>
            <a:r>
              <a:rPr lang="en-US" sz="1800" b="1" dirty="0"/>
              <a:t>   predecessor(v) = undefined;</a:t>
            </a:r>
          </a:p>
          <a:p>
            <a:pPr marL="533400" indent="-533400">
              <a:buNone/>
            </a:pPr>
            <a:r>
              <a:rPr lang="en-US" sz="1800" b="1" dirty="0"/>
              <a:t>}</a:t>
            </a:r>
          </a:p>
          <a:p>
            <a:pPr marL="533400" indent="-533400">
              <a:buNone/>
            </a:pPr>
            <a:r>
              <a:rPr lang="en-US" sz="1800" b="1" dirty="0" err="1"/>
              <a:t>currentDistance</a:t>
            </a:r>
            <a:r>
              <a:rPr lang="en-US" sz="1800" b="1" dirty="0"/>
              <a:t>(s-s) = 0;</a:t>
            </a:r>
          </a:p>
          <a:p>
            <a:pPr marL="533400" indent="-533400">
              <a:buNone/>
            </a:pPr>
            <a:r>
              <a:rPr lang="en-US" sz="1800" b="1" dirty="0"/>
              <a:t>T = V;</a:t>
            </a:r>
          </a:p>
          <a:p>
            <a:pPr marL="533400" indent="-533400">
              <a:buNone/>
            </a:pPr>
            <a:r>
              <a:rPr lang="en-US" sz="1800" b="1" dirty="0"/>
              <a:t>while(T </a:t>
            </a:r>
            <a:r>
              <a:rPr lang="en-US" sz="1800" b="1" dirty="0">
                <a:sym typeface="Symbol" pitchFamily="18" charset="2"/>
              </a:rPr>
              <a:t></a:t>
            </a:r>
            <a:r>
              <a:rPr lang="en-US" sz="1800" b="1" dirty="0"/>
              <a:t> </a:t>
            </a:r>
            <a:r>
              <a:rPr lang="en-US" sz="1800" b="1" dirty="0">
                <a:sym typeface="Symbol" pitchFamily="18" charset="2"/>
              </a:rPr>
              <a:t></a:t>
            </a:r>
            <a:r>
              <a:rPr lang="en-US" sz="1800" b="1" dirty="0"/>
              <a:t>){</a:t>
            </a:r>
          </a:p>
          <a:p>
            <a:pPr marL="533400" indent="-533400">
              <a:buNone/>
            </a:pPr>
            <a:r>
              <a:rPr lang="en-US" sz="1800" b="1" dirty="0"/>
              <a:t>   v = a vertex in T with minimal </a:t>
            </a:r>
            <a:r>
              <a:rPr lang="en-US" sz="1800" b="1" dirty="0" err="1"/>
              <a:t>currentDistance</a:t>
            </a:r>
            <a:r>
              <a:rPr lang="en-US" sz="1800" b="1" dirty="0"/>
              <a:t> from s;</a:t>
            </a:r>
          </a:p>
          <a:p>
            <a:pPr marL="533400" indent="-533400">
              <a:buNone/>
            </a:pPr>
            <a:r>
              <a:rPr lang="en-US" sz="1800" b="1" dirty="0"/>
              <a:t>    T= T – {v};</a:t>
            </a:r>
          </a:p>
          <a:p>
            <a:pPr marL="533400" indent="-533400">
              <a:buNone/>
            </a:pPr>
            <a:r>
              <a:rPr lang="en-US" sz="1800" b="1" dirty="0"/>
              <a:t>    for(each vertex u adjacent to v and in T){</a:t>
            </a:r>
          </a:p>
          <a:p>
            <a:pPr marL="533400" indent="-533400">
              <a:buNone/>
            </a:pPr>
            <a:r>
              <a:rPr lang="en-US" sz="1800" b="1" dirty="0"/>
              <a:t>        if(</a:t>
            </a:r>
            <a:r>
              <a:rPr lang="en-US" sz="1800" b="1" dirty="0" err="1"/>
              <a:t>currentDistance</a:t>
            </a:r>
            <a:r>
              <a:rPr lang="en-US" sz="1800" b="1" dirty="0"/>
              <a:t>(s-u) &gt; </a:t>
            </a:r>
            <a:r>
              <a:rPr lang="en-US" sz="1800" b="1" dirty="0" err="1"/>
              <a:t>currentDistance</a:t>
            </a:r>
            <a:r>
              <a:rPr lang="en-US" sz="1800" b="1" dirty="0"/>
              <a:t>(s-v) + weight(edge(vu)){</a:t>
            </a:r>
          </a:p>
          <a:p>
            <a:pPr marL="533400" indent="-533400">
              <a:buNone/>
            </a:pPr>
            <a:r>
              <a:rPr lang="en-US" sz="1800" b="1" dirty="0"/>
              <a:t>             </a:t>
            </a:r>
            <a:r>
              <a:rPr lang="en-US" sz="1800" b="1" dirty="0" err="1"/>
              <a:t>currentDistance</a:t>
            </a:r>
            <a:r>
              <a:rPr lang="en-US" sz="1800" b="1" dirty="0"/>
              <a:t>(s-u) = </a:t>
            </a:r>
            <a:r>
              <a:rPr lang="en-US" sz="1800" b="1" dirty="0" err="1"/>
              <a:t>currentDistance</a:t>
            </a:r>
            <a:r>
              <a:rPr lang="en-US" sz="1800" b="1" dirty="0"/>
              <a:t>(s-v) + weight(edge(vu));</a:t>
            </a:r>
          </a:p>
          <a:p>
            <a:pPr marL="533400" indent="-533400">
              <a:buNone/>
            </a:pPr>
            <a:r>
              <a:rPr lang="en-US" sz="1800" b="1" dirty="0"/>
              <a:t>             predecessor(u) = v;</a:t>
            </a:r>
          </a:p>
          <a:p>
            <a:pPr marL="533400" indent="-533400">
              <a:buNone/>
            </a:pPr>
            <a:r>
              <a:rPr lang="en-US" sz="1800" b="1" dirty="0"/>
              <a:t>        }    }   }</a:t>
            </a:r>
          </a:p>
        </p:txBody>
      </p:sp>
      <p:sp>
        <p:nvSpPr>
          <p:cNvPr id="75780" name="Text Box 4"/>
          <p:cNvSpPr txBox="1">
            <a:spLocks noChangeArrowheads="1"/>
          </p:cNvSpPr>
          <p:nvPr/>
        </p:nvSpPr>
        <p:spPr bwMode="auto">
          <a:xfrm>
            <a:off x="7162800" y="1371600"/>
            <a:ext cx="3475037" cy="1200150"/>
          </a:xfrm>
          <a:prstGeom prst="rect">
            <a:avLst/>
          </a:prstGeom>
          <a:solidFill>
            <a:schemeClr val="bg1"/>
          </a:solidFill>
          <a:ln w="9525">
            <a:solidFill>
              <a:srgbClr val="C00000"/>
            </a:solidFill>
            <a:miter lim="800000"/>
            <a:headEnd/>
            <a:tailEnd/>
          </a:ln>
        </p:spPr>
        <p:txBody>
          <a:bodyPr>
            <a:spAutoFit/>
          </a:bodyPr>
          <a:lstStyle/>
          <a:p>
            <a:r>
              <a:rPr lang="en-US"/>
              <a:t>For each vertex, the algorithm keeps track of its current distance from the starting vertex and the predecessor on the current path</a:t>
            </a:r>
          </a:p>
        </p:txBody>
      </p:sp>
      <p:sp>
        <p:nvSpPr>
          <p:cNvPr id="75781" name="Slide Number Placeholder 4"/>
          <p:cNvSpPr>
            <a:spLocks noGrp="1"/>
          </p:cNvSpPr>
          <p:nvPr>
            <p:ph type="sldNum" sz="quarter" idx="11"/>
          </p:nvPr>
        </p:nvSpPr>
        <p:spPr bwMode="auto">
          <a:noFill/>
          <a:ln>
            <a:miter lim="800000"/>
            <a:headEnd/>
            <a:tailEnd/>
          </a:ln>
        </p:spPr>
        <p:txBody>
          <a:bodyPr vert="horz" wrap="square" lIns="91440" tIns="45720" rIns="91440" bIns="45720" numCol="1" rtlCol="0" anchor="ctr" anchorCtr="0" compatLnSpc="1">
            <a:prstTxWarp prst="textNoShape">
              <a:avLst/>
            </a:prstTxWarp>
          </a:bodyPr>
          <a:lstStyle/>
          <a:p>
            <a:fld id="{6C62343F-FB68-4D8F-8FFD-3FE79001BBE2}" type="slidenum">
              <a:rPr lang="en-US" smtClean="0"/>
              <a:pPr/>
              <a:t>62</a:t>
            </a:fld>
            <a:endParaRPr lang="en-US"/>
          </a:p>
        </p:txBody>
      </p:sp>
    </p:spTree>
    <p:extLst>
      <p:ext uri="{BB962C8B-B14F-4D97-AF65-F5344CB8AC3E}">
        <p14:creationId xmlns:p14="http://schemas.microsoft.com/office/powerpoint/2010/main" val="26034200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5"/>
          <p:cNvSpPr>
            <a:spLocks noChangeArrowheads="1"/>
          </p:cNvSpPr>
          <p:nvPr/>
        </p:nvSpPr>
        <p:spPr bwMode="auto">
          <a:xfrm>
            <a:off x="152400" y="1066800"/>
            <a:ext cx="11658600" cy="5410200"/>
          </a:xfrm>
          <a:prstGeom prst="rect">
            <a:avLst/>
          </a:prstGeom>
          <a:noFill/>
          <a:ln w="9525">
            <a:noFill/>
            <a:miter lim="800000"/>
            <a:headEnd/>
            <a:tailEnd/>
          </a:ln>
        </p:spPr>
        <p:txBody>
          <a:bodyPr/>
          <a:lstStyle/>
          <a:p>
            <a:pPr marL="285750" indent="-285750" algn="just">
              <a:spcBef>
                <a:spcPct val="20000"/>
              </a:spcBef>
              <a:buClr>
                <a:srgbClr val="002060"/>
              </a:buClr>
              <a:buFont typeface="Wingdings" panose="05000000000000000000" pitchFamily="2" charset="2"/>
              <a:buChar char="q"/>
            </a:pPr>
            <a:r>
              <a:rPr lang="en-US" sz="2000" dirty="0"/>
              <a:t>The running time of the Dijkstra’s Algorithm depends on how the min-priority queue is implemented.</a:t>
            </a:r>
          </a:p>
          <a:p>
            <a:pPr algn="just">
              <a:spcBef>
                <a:spcPct val="20000"/>
              </a:spcBef>
              <a:buClr>
                <a:srgbClr val="002060"/>
              </a:buClr>
            </a:pPr>
            <a:endParaRPr lang="en-US" sz="2000" dirty="0"/>
          </a:p>
          <a:p>
            <a:pPr marL="800100" lvl="1" indent="-342900" algn="just">
              <a:spcBef>
                <a:spcPct val="20000"/>
              </a:spcBef>
              <a:buClr>
                <a:srgbClr val="002060"/>
              </a:buClr>
              <a:buFont typeface="Wingdings" pitchFamily="2" charset="2"/>
              <a:buChar char="Ø"/>
            </a:pPr>
            <a:r>
              <a:rPr lang="en-US" sz="2000" dirty="0"/>
              <a:t>The </a:t>
            </a:r>
            <a:r>
              <a:rPr lang="en-US" sz="2000" b="1" dirty="0">
                <a:solidFill>
                  <a:srgbClr val="002060"/>
                </a:solidFill>
              </a:rPr>
              <a:t>for</a:t>
            </a:r>
            <a:r>
              <a:rPr lang="en-US" sz="2000" b="1" dirty="0"/>
              <a:t> </a:t>
            </a:r>
            <a:r>
              <a:rPr lang="en-US" sz="2000" dirty="0"/>
              <a:t>loop in the initialization step, takes |V| times.</a:t>
            </a:r>
          </a:p>
          <a:p>
            <a:pPr algn="just">
              <a:spcBef>
                <a:spcPct val="20000"/>
              </a:spcBef>
              <a:buClr>
                <a:srgbClr val="002060"/>
              </a:buClr>
            </a:pPr>
            <a:endParaRPr lang="en-US" sz="2000" dirty="0"/>
          </a:p>
          <a:p>
            <a:pPr marL="800100" lvl="1" indent="-342900" algn="just">
              <a:spcBef>
                <a:spcPct val="20000"/>
              </a:spcBef>
              <a:buClr>
                <a:srgbClr val="002060"/>
              </a:buClr>
              <a:buFont typeface="Wingdings" pitchFamily="2" charset="2"/>
              <a:buChar char="Ø"/>
            </a:pPr>
            <a:r>
              <a:rPr lang="en-US" sz="2000" dirty="0"/>
              <a:t>The </a:t>
            </a:r>
            <a:r>
              <a:rPr lang="en-US" sz="2000" b="1" dirty="0">
                <a:solidFill>
                  <a:srgbClr val="002060"/>
                </a:solidFill>
              </a:rPr>
              <a:t>while</a:t>
            </a:r>
            <a:r>
              <a:rPr lang="en-US" sz="2000" b="1" dirty="0"/>
              <a:t> </a:t>
            </a:r>
            <a:r>
              <a:rPr lang="en-US" sz="2000" dirty="0"/>
              <a:t>loop executed |v| times.</a:t>
            </a:r>
          </a:p>
          <a:p>
            <a:pPr algn="just">
              <a:spcBef>
                <a:spcPct val="20000"/>
              </a:spcBef>
              <a:buClr>
                <a:srgbClr val="002060"/>
              </a:buClr>
            </a:pPr>
            <a:endParaRPr lang="en-US" sz="2000" dirty="0"/>
          </a:p>
          <a:p>
            <a:pPr marL="800100" lvl="1" indent="-342900" algn="just">
              <a:spcBef>
                <a:spcPct val="20000"/>
              </a:spcBef>
              <a:buClr>
                <a:srgbClr val="002060"/>
              </a:buClr>
              <a:buFont typeface="Wingdings" pitchFamily="2" charset="2"/>
              <a:buChar char="Ø"/>
            </a:pPr>
            <a:r>
              <a:rPr lang="en-US" sz="2000" dirty="0"/>
              <a:t>Each Extract-Min() operation takes |V| time.</a:t>
            </a:r>
          </a:p>
          <a:p>
            <a:pPr algn="just">
              <a:spcBef>
                <a:spcPct val="20000"/>
              </a:spcBef>
              <a:buClr>
                <a:srgbClr val="002060"/>
              </a:buClr>
            </a:pPr>
            <a:endParaRPr lang="en-US" sz="2000" dirty="0"/>
          </a:p>
          <a:p>
            <a:pPr marL="800100" lvl="1" indent="-342900" algn="just">
              <a:spcBef>
                <a:spcPct val="20000"/>
              </a:spcBef>
              <a:buClr>
                <a:srgbClr val="002060"/>
              </a:buClr>
              <a:buFont typeface="Wingdings" pitchFamily="2" charset="2"/>
              <a:buChar char="Ø"/>
            </a:pPr>
            <a:r>
              <a:rPr lang="en-US" sz="2000" dirty="0"/>
              <a:t>Each edge in the adjacency list Adj[v] is examined in the </a:t>
            </a:r>
            <a:r>
              <a:rPr lang="en-US" sz="2000" b="1" dirty="0">
                <a:solidFill>
                  <a:srgbClr val="002060"/>
                </a:solidFill>
              </a:rPr>
              <a:t>for</a:t>
            </a:r>
            <a:r>
              <a:rPr lang="en-US" sz="2000" b="1" dirty="0"/>
              <a:t> </a:t>
            </a:r>
            <a:r>
              <a:rPr lang="en-US" sz="2000" dirty="0"/>
              <a:t>loop inside the </a:t>
            </a:r>
            <a:r>
              <a:rPr lang="en-US" sz="2000" b="1" dirty="0">
                <a:solidFill>
                  <a:srgbClr val="002060"/>
                </a:solidFill>
              </a:rPr>
              <a:t>while</a:t>
            </a:r>
            <a:r>
              <a:rPr lang="en-US" sz="2000" dirty="0"/>
              <a:t> loop exactly once during the course of the algorithm.</a:t>
            </a:r>
          </a:p>
          <a:p>
            <a:pPr marL="1257300" lvl="2" indent="-342900" algn="just">
              <a:spcBef>
                <a:spcPct val="20000"/>
              </a:spcBef>
              <a:buClr>
                <a:srgbClr val="002060"/>
              </a:buClr>
              <a:buFont typeface="Wingdings" panose="05000000000000000000" pitchFamily="2" charset="2"/>
              <a:buChar char="§"/>
            </a:pPr>
            <a:r>
              <a:rPr lang="en-US" sz="2000" dirty="0"/>
              <a:t>Since the total number of edges in adjacency list is |E|, there are a total of |E| iterations of this </a:t>
            </a:r>
            <a:r>
              <a:rPr lang="en-US" sz="2000" b="1" dirty="0">
                <a:solidFill>
                  <a:srgbClr val="002060"/>
                </a:solidFill>
              </a:rPr>
              <a:t>for </a:t>
            </a:r>
            <a:r>
              <a:rPr lang="en-US" sz="2000" dirty="0"/>
              <a:t>loops. So, the total running time is O(V</a:t>
            </a:r>
            <a:r>
              <a:rPr lang="en-US" sz="2000" baseline="30000" dirty="0"/>
              <a:t>2</a:t>
            </a:r>
            <a:r>
              <a:rPr lang="en-US" sz="2000" dirty="0"/>
              <a:t>+E)=O(V</a:t>
            </a:r>
            <a:r>
              <a:rPr lang="en-US" sz="2000" baseline="30000" dirty="0"/>
              <a:t>2</a:t>
            </a:r>
            <a:r>
              <a:rPr lang="en-US" sz="2000" dirty="0"/>
              <a:t>).</a:t>
            </a:r>
          </a:p>
          <a:p>
            <a:pPr algn="just">
              <a:spcBef>
                <a:spcPct val="20000"/>
              </a:spcBef>
              <a:buClr>
                <a:srgbClr val="002060"/>
              </a:buClr>
            </a:pPr>
            <a:endParaRPr lang="en-US" sz="2000" dirty="0"/>
          </a:p>
          <a:p>
            <a:pPr marL="800100" lvl="1" indent="-342900" algn="just">
              <a:spcBef>
                <a:spcPct val="20000"/>
              </a:spcBef>
              <a:buClr>
                <a:srgbClr val="002060"/>
              </a:buClr>
              <a:buFont typeface="Wingdings" pitchFamily="2" charset="2"/>
              <a:buChar char="Ø"/>
            </a:pPr>
            <a:r>
              <a:rPr lang="en-US" sz="2000" dirty="0"/>
              <a:t>If the graph is sufficiently sparse, it is practical to implement min-priority queue with a binary min-heap.</a:t>
            </a:r>
          </a:p>
          <a:p>
            <a:pPr marL="1200150" lvl="2" indent="-285750" algn="just">
              <a:spcBef>
                <a:spcPct val="20000"/>
              </a:spcBef>
              <a:buClr>
                <a:srgbClr val="002060"/>
              </a:buClr>
              <a:buFont typeface="Wingdings" panose="05000000000000000000" pitchFamily="2" charset="2"/>
              <a:buChar char="§"/>
            </a:pPr>
            <a:r>
              <a:rPr lang="en-US" sz="2000" dirty="0"/>
              <a:t>the total running time is O(E </a:t>
            </a:r>
            <a:r>
              <a:rPr lang="en-US" sz="2000" dirty="0" err="1"/>
              <a:t>lg</a:t>
            </a:r>
            <a:r>
              <a:rPr lang="en-US" sz="2000" dirty="0"/>
              <a:t> V).</a:t>
            </a:r>
          </a:p>
        </p:txBody>
      </p:sp>
      <p:sp>
        <p:nvSpPr>
          <p:cNvPr id="76804" name="Slide Number Placeholder 4"/>
          <p:cNvSpPr>
            <a:spLocks noGrp="1"/>
          </p:cNvSpPr>
          <p:nvPr>
            <p:ph type="sldNum" sz="quarter" idx="12"/>
          </p:nvPr>
        </p:nvSpPr>
        <p:spPr bwMode="auto">
          <a:noFill/>
          <a:ln>
            <a:miter lim="800000"/>
            <a:headEnd/>
            <a:tailEnd/>
          </a:ln>
        </p:spPr>
        <p:txBody>
          <a:bodyPr vert="horz" wrap="square" lIns="91440" tIns="45720" rIns="91440" bIns="45720" numCol="1" rtlCol="0" anchor="ctr" anchorCtr="0" compatLnSpc="1">
            <a:prstTxWarp prst="textNoShape">
              <a:avLst/>
            </a:prstTxWarp>
          </a:bodyPr>
          <a:lstStyle/>
          <a:p>
            <a:fld id="{80DD3728-9E7C-4079-9323-DF0035079130}" type="slidenum">
              <a:rPr lang="en-US" smtClean="0"/>
              <a:pPr/>
              <a:t>63</a:t>
            </a:fld>
            <a:endParaRPr lang="en-US"/>
          </a:p>
        </p:txBody>
      </p:sp>
      <p:sp>
        <p:nvSpPr>
          <p:cNvPr id="5" name="Rectangle 2"/>
          <p:cNvSpPr txBox="1">
            <a:spLocks noChangeArrowheads="1"/>
          </p:cNvSpPr>
          <p:nvPr/>
        </p:nvSpPr>
        <p:spPr>
          <a:xfrm>
            <a:off x="152400" y="435771"/>
            <a:ext cx="8229600" cy="490538"/>
          </a:xfrm>
          <a:prstGeom prst="rect">
            <a:avLst/>
          </a:prstGeom>
        </p:spPr>
        <p:txBody>
          <a:bodyPr>
            <a:normAutofit/>
          </a:bodyPr>
          <a:lstStyle>
            <a:lvl1pPr algn="l" defTabSz="685800" rtl="0" eaLnBrk="1" latinLnBrk="0" hangingPunct="1">
              <a:lnSpc>
                <a:spcPct val="90000"/>
              </a:lnSpc>
              <a:spcBef>
                <a:spcPct val="0"/>
              </a:spcBef>
              <a:buNone/>
              <a:defRPr sz="3000" kern="1200">
                <a:solidFill>
                  <a:schemeClr val="bg1"/>
                </a:solidFill>
                <a:latin typeface="Times New Roman" panose="02020603050405020304" pitchFamily="18" charset="0"/>
                <a:ea typeface="+mj-ea"/>
                <a:cs typeface="Times New Roman" panose="02020603050405020304" pitchFamily="18" charset="0"/>
              </a:defRPr>
            </a:lvl1pPr>
          </a:lstStyle>
          <a:p>
            <a:pPr>
              <a:defRPr/>
            </a:pPr>
            <a:r>
              <a:rPr lang="en-US" sz="2800" b="1" dirty="0"/>
              <a:t>The Dijkstra's </a:t>
            </a:r>
            <a:r>
              <a:rPr lang="en-US" sz="2800" b="1" dirty="0" err="1"/>
              <a:t>Algorithm_Complexity</a:t>
            </a:r>
            <a:r>
              <a:rPr lang="en-US" sz="2800" b="1" dirty="0"/>
              <a:t> analysis</a:t>
            </a:r>
          </a:p>
        </p:txBody>
      </p:sp>
    </p:spTree>
    <p:extLst>
      <p:ext uri="{BB962C8B-B14F-4D97-AF65-F5344CB8AC3E}">
        <p14:creationId xmlns:p14="http://schemas.microsoft.com/office/powerpoint/2010/main" val="21679566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5"/>
          <p:cNvSpPr>
            <a:spLocks noGrp="1" noChangeArrowheads="1"/>
          </p:cNvSpPr>
          <p:nvPr>
            <p:ph type="title"/>
          </p:nvPr>
        </p:nvSpPr>
        <p:spPr>
          <a:xfrm>
            <a:off x="252413" y="355332"/>
            <a:ext cx="8229600" cy="503237"/>
          </a:xfrm>
        </p:spPr>
        <p:txBody>
          <a:bodyPr>
            <a:normAutofit fontScale="90000"/>
          </a:bodyPr>
          <a:lstStyle/>
          <a:p>
            <a:pPr>
              <a:defRPr/>
            </a:pPr>
            <a:r>
              <a:rPr lang="en-US" sz="3200" b="1" dirty="0"/>
              <a:t>The Dijkstra's Algorithm_ Example</a:t>
            </a:r>
          </a:p>
        </p:txBody>
      </p:sp>
      <p:pic>
        <p:nvPicPr>
          <p:cNvPr id="77827" name="Picture 74" descr="a"/>
          <p:cNvPicPr>
            <a:picLocks noChangeAspect="1" noChangeArrowheads="1"/>
          </p:cNvPicPr>
          <p:nvPr/>
        </p:nvPicPr>
        <p:blipFill>
          <a:blip r:embed="rId3"/>
          <a:srcRect/>
          <a:stretch>
            <a:fillRect/>
          </a:stretch>
        </p:blipFill>
        <p:spPr bwMode="auto">
          <a:xfrm>
            <a:off x="152400" y="1549033"/>
            <a:ext cx="2181225" cy="2000250"/>
          </a:xfrm>
          <a:prstGeom prst="rect">
            <a:avLst/>
          </a:prstGeom>
          <a:noFill/>
          <a:ln w="9525">
            <a:noFill/>
            <a:miter lim="800000"/>
            <a:headEnd/>
            <a:tailEnd/>
          </a:ln>
        </p:spPr>
      </p:pic>
      <p:pic>
        <p:nvPicPr>
          <p:cNvPr id="77828" name="Picture 75" descr="djkstra"/>
          <p:cNvPicPr>
            <a:picLocks noChangeAspect="1" noChangeArrowheads="1"/>
          </p:cNvPicPr>
          <p:nvPr/>
        </p:nvPicPr>
        <p:blipFill>
          <a:blip r:embed="rId4"/>
          <a:srcRect/>
          <a:stretch>
            <a:fillRect/>
          </a:stretch>
        </p:blipFill>
        <p:spPr bwMode="auto">
          <a:xfrm>
            <a:off x="269166" y="3814764"/>
            <a:ext cx="6115050" cy="2724150"/>
          </a:xfrm>
          <a:prstGeom prst="rect">
            <a:avLst/>
          </a:prstGeom>
          <a:noFill/>
          <a:ln w="9525">
            <a:noFill/>
            <a:miter lim="800000"/>
            <a:headEnd/>
            <a:tailEnd/>
          </a:ln>
        </p:spPr>
      </p:pic>
      <p:pic>
        <p:nvPicPr>
          <p:cNvPr id="77829" name="Picture 76" descr="b2"/>
          <p:cNvPicPr>
            <a:picLocks noChangeAspect="1" noChangeArrowheads="1"/>
          </p:cNvPicPr>
          <p:nvPr/>
        </p:nvPicPr>
        <p:blipFill>
          <a:blip r:embed="rId5"/>
          <a:srcRect/>
          <a:stretch>
            <a:fillRect/>
          </a:stretch>
        </p:blipFill>
        <p:spPr bwMode="auto">
          <a:xfrm>
            <a:off x="9753600" y="1860600"/>
            <a:ext cx="2247900" cy="2000250"/>
          </a:xfrm>
          <a:prstGeom prst="rect">
            <a:avLst/>
          </a:prstGeom>
          <a:noFill/>
          <a:ln w="9525">
            <a:noFill/>
            <a:miter lim="800000"/>
            <a:headEnd/>
            <a:tailEnd/>
          </a:ln>
        </p:spPr>
      </p:pic>
      <p:sp>
        <p:nvSpPr>
          <p:cNvPr id="77830" name="Text Box 77"/>
          <p:cNvSpPr txBox="1">
            <a:spLocks noChangeArrowheads="1"/>
          </p:cNvSpPr>
          <p:nvPr/>
        </p:nvSpPr>
        <p:spPr bwMode="auto">
          <a:xfrm>
            <a:off x="249237" y="1020445"/>
            <a:ext cx="7402513" cy="366712"/>
          </a:xfrm>
          <a:prstGeom prst="rect">
            <a:avLst/>
          </a:prstGeom>
          <a:noFill/>
          <a:ln w="9525">
            <a:noFill/>
            <a:miter lim="800000"/>
            <a:headEnd/>
            <a:tailEnd/>
          </a:ln>
        </p:spPr>
        <p:txBody>
          <a:bodyPr>
            <a:spAutoFit/>
          </a:bodyPr>
          <a:lstStyle/>
          <a:p>
            <a:pPr>
              <a:spcBef>
                <a:spcPct val="50000"/>
              </a:spcBef>
            </a:pPr>
            <a:r>
              <a:rPr lang="en-US" dirty="0"/>
              <a:t>Tracing Dijkstra’s algorithm starting at vertex B:</a:t>
            </a:r>
          </a:p>
        </p:txBody>
      </p:sp>
      <p:sp>
        <p:nvSpPr>
          <p:cNvPr id="77831" name="Text Box 78"/>
          <p:cNvSpPr txBox="1">
            <a:spLocks noChangeArrowheads="1"/>
          </p:cNvSpPr>
          <p:nvPr/>
        </p:nvSpPr>
        <p:spPr bwMode="auto">
          <a:xfrm>
            <a:off x="5715000" y="2861191"/>
            <a:ext cx="7545387" cy="366713"/>
          </a:xfrm>
          <a:prstGeom prst="rect">
            <a:avLst/>
          </a:prstGeom>
          <a:noFill/>
          <a:ln w="9525">
            <a:noFill/>
            <a:miter lim="800000"/>
            <a:headEnd/>
            <a:tailEnd/>
          </a:ln>
        </p:spPr>
        <p:txBody>
          <a:bodyPr>
            <a:spAutoFit/>
          </a:bodyPr>
          <a:lstStyle/>
          <a:p>
            <a:pPr>
              <a:spcBef>
                <a:spcPct val="50000"/>
              </a:spcBef>
            </a:pPr>
            <a:r>
              <a:rPr lang="en-US" dirty="0"/>
              <a:t>The resulting vertex-weighted graph is:</a:t>
            </a:r>
          </a:p>
        </p:txBody>
      </p:sp>
      <p:sp>
        <p:nvSpPr>
          <p:cNvPr id="77832" name="Slide Number Placeholder 7"/>
          <p:cNvSpPr>
            <a:spLocks noGrp="1"/>
          </p:cNvSpPr>
          <p:nvPr>
            <p:ph type="sldNum" sz="quarter" idx="11"/>
          </p:nvPr>
        </p:nvSpPr>
        <p:spPr bwMode="auto">
          <a:noFill/>
          <a:ln>
            <a:miter lim="800000"/>
            <a:headEnd/>
            <a:tailEnd/>
          </a:ln>
        </p:spPr>
        <p:txBody>
          <a:bodyPr vert="horz" wrap="square" lIns="91440" tIns="45720" rIns="91440" bIns="45720" numCol="1" rtlCol="0" anchor="ctr" anchorCtr="0" compatLnSpc="1">
            <a:prstTxWarp prst="textNoShape">
              <a:avLst/>
            </a:prstTxWarp>
          </a:bodyPr>
          <a:lstStyle/>
          <a:p>
            <a:fld id="{CF3000BA-8748-4A75-8DA6-B905E1B6143C}" type="slidenum">
              <a:rPr lang="en-US" smtClean="0"/>
              <a:pPr/>
              <a:t>64</a:t>
            </a:fld>
            <a:endParaRPr lang="en-US"/>
          </a:p>
        </p:txBody>
      </p:sp>
    </p:spTree>
    <p:extLst>
      <p:ext uri="{BB962C8B-B14F-4D97-AF65-F5344CB8AC3E}">
        <p14:creationId xmlns:p14="http://schemas.microsoft.com/office/powerpoint/2010/main" val="2554229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8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78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78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78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78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0" grpId="0"/>
      <p:bldP spid="77831"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689" y="126031"/>
            <a:ext cx="10972800" cy="864569"/>
          </a:xfrm>
        </p:spPr>
        <p:txBody>
          <a:bodyPr>
            <a:normAutofit/>
          </a:bodyPr>
          <a:lstStyle/>
          <a:p>
            <a:pPr eaLnBrk="1" hangingPunct="1">
              <a:defRPr/>
            </a:pPr>
            <a:r>
              <a:rPr lang="en-US" sz="2800" b="1" dirty="0"/>
              <a:t>Review Question</a:t>
            </a:r>
          </a:p>
        </p:txBody>
      </p:sp>
      <p:sp>
        <p:nvSpPr>
          <p:cNvPr id="78851" name="Rectangle 3"/>
          <p:cNvSpPr>
            <a:spLocks noGrp="1" noChangeArrowheads="1"/>
          </p:cNvSpPr>
          <p:nvPr>
            <p:ph type="body" sz="half" idx="1"/>
          </p:nvPr>
        </p:nvSpPr>
        <p:spPr>
          <a:xfrm>
            <a:off x="4689" y="1308576"/>
            <a:ext cx="11506200" cy="806450"/>
          </a:xfrm>
        </p:spPr>
        <p:txBody>
          <a:bodyPr/>
          <a:lstStyle/>
          <a:p>
            <a:pPr eaLnBrk="1" hangingPunct="1">
              <a:buClr>
                <a:srgbClr val="002060"/>
              </a:buClr>
              <a:buFont typeface="Wingdings" panose="05000000000000000000" pitchFamily="2" charset="2"/>
              <a:buChar char="Ø"/>
            </a:pPr>
            <a:r>
              <a:rPr lang="en-US" sz="1600" b="1" dirty="0"/>
              <a:t> Use the graph </a:t>
            </a:r>
            <a:r>
              <a:rPr lang="en-US" sz="1600" b="1" dirty="0" err="1"/>
              <a:t>Gc</a:t>
            </a:r>
            <a:r>
              <a:rPr lang="en-US" sz="1600" b="1" dirty="0"/>
              <a:t> shown above to trace the execution of Dijkstra's algorithm as it solves the shortest path problem starting from vertex a.</a:t>
            </a:r>
          </a:p>
          <a:p>
            <a:pPr eaLnBrk="1" hangingPunct="1">
              <a:buFont typeface="Wingdings" pitchFamily="2" charset="2"/>
              <a:buNone/>
            </a:pPr>
            <a:endParaRPr lang="en-US" sz="1600" b="1" dirty="0"/>
          </a:p>
        </p:txBody>
      </p:sp>
      <p:pic>
        <p:nvPicPr>
          <p:cNvPr id="78852" name="Picture 6"/>
          <p:cNvPicPr>
            <a:picLocks noGrp="1" noChangeAspect="1" noChangeArrowheads="1"/>
          </p:cNvPicPr>
          <p:nvPr>
            <p:ph sz="half" idx="2"/>
          </p:nvPr>
        </p:nvPicPr>
        <p:blipFill>
          <a:blip r:embed="rId3"/>
          <a:srcRect/>
          <a:stretch>
            <a:fillRect/>
          </a:stretch>
        </p:blipFill>
        <p:spPr>
          <a:xfrm>
            <a:off x="3886200" y="2286000"/>
            <a:ext cx="3812241" cy="2133600"/>
          </a:xfrm>
          <a:noFill/>
        </p:spPr>
      </p:pic>
      <p:sp>
        <p:nvSpPr>
          <p:cNvPr id="78854" name="Slide Number Placeholder 5"/>
          <p:cNvSpPr>
            <a:spLocks noGrp="1"/>
          </p:cNvSpPr>
          <p:nvPr>
            <p:ph type="sldNum" sz="quarter" idx="12"/>
          </p:nvPr>
        </p:nvSpPr>
        <p:spPr bwMode="auto">
          <a:noFill/>
          <a:ln>
            <a:miter lim="800000"/>
            <a:headEnd/>
            <a:tailEnd/>
          </a:ln>
        </p:spPr>
        <p:txBody>
          <a:bodyPr vert="horz" wrap="square" lIns="91440" tIns="45720" rIns="91440" bIns="45720" numCol="1" rtlCol="0" anchor="ctr" anchorCtr="0" compatLnSpc="1">
            <a:prstTxWarp prst="textNoShape">
              <a:avLst/>
            </a:prstTxWarp>
          </a:bodyPr>
          <a:lstStyle/>
          <a:p>
            <a:fld id="{AC28E1B1-A8E6-47A1-A0D8-887D5A812E19}" type="slidenum">
              <a:rPr lang="ar-SA" smtClean="0"/>
              <a:pPr/>
              <a:t>65</a:t>
            </a:fld>
            <a:endParaRPr lang="en-US"/>
          </a:p>
        </p:txBody>
      </p:sp>
    </p:spTree>
    <p:extLst>
      <p:ext uri="{BB962C8B-B14F-4D97-AF65-F5344CB8AC3E}">
        <p14:creationId xmlns:p14="http://schemas.microsoft.com/office/powerpoint/2010/main" val="277424770"/>
      </p:ext>
    </p:extLst>
  </p:cSld>
  <p:clrMapOvr>
    <a:masterClrMapping/>
  </p:clrMapOvr>
</p:sld>
</file>

<file path=ppt/theme/theme1.xml><?xml version="1.0" encoding="utf-8"?>
<a:theme xmlns:a="http://schemas.openxmlformats.org/drawingml/2006/main" name="ZU -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ZU - Theme" id="{25897C2A-563F-4EEE-98A8-BE7B6DDDF5FB}" vid="{7102B1C6-D57E-4303-8E16-CF7DA832BBA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ZU - Theme</Template>
  <TotalTime>6995</TotalTime>
  <Words>3897</Words>
  <Application>Microsoft Office PowerPoint</Application>
  <PresentationFormat>Widescreen</PresentationFormat>
  <Paragraphs>514</Paragraphs>
  <Slides>65</Slides>
  <Notes>44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65</vt:i4>
      </vt:variant>
    </vt:vector>
  </HeadingPairs>
  <TitlesOfParts>
    <vt:vector size="74" baseType="lpstr">
      <vt:lpstr>Arial</vt:lpstr>
      <vt:lpstr>Bodoni MT</vt:lpstr>
      <vt:lpstr>Calibri</vt:lpstr>
      <vt:lpstr>Calibri Light</vt:lpstr>
      <vt:lpstr>Courier New</vt:lpstr>
      <vt:lpstr>Symbol</vt:lpstr>
      <vt:lpstr>Times New Roman</vt:lpstr>
      <vt:lpstr>Wingdings</vt:lpstr>
      <vt:lpstr>ZU -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 Selection -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Constructing Spanning Trees</vt:lpstr>
      <vt:lpstr>What is a Minimum-Cost Spanning Tree</vt:lpstr>
      <vt:lpstr>Minimum-Cost Spanning Trees</vt:lpstr>
      <vt:lpstr>Prim’s Algorithm</vt:lpstr>
      <vt:lpstr>Prim’s Algorithm - Code</vt:lpstr>
      <vt:lpstr>Prim’s Algorithm - Example</vt:lpstr>
      <vt:lpstr>Prim’s Algorithm - Example</vt:lpstr>
      <vt:lpstr>Prim’s Algorithm - Example</vt:lpstr>
      <vt:lpstr>Prim’s Algorithm - Example</vt:lpstr>
      <vt:lpstr>Prim’s Algorithm - Example</vt:lpstr>
      <vt:lpstr>Prim’s Algorithm - Example</vt:lpstr>
      <vt:lpstr>Prim’s Algorithm - Example</vt:lpstr>
      <vt:lpstr>Prim’s Algorithm - Example</vt:lpstr>
      <vt:lpstr>Prim’s Algorithm - Example</vt:lpstr>
      <vt:lpstr>Prim’s Algorithm - Example</vt:lpstr>
      <vt:lpstr>Prim’s Algorithm - Example</vt:lpstr>
      <vt:lpstr>Prim’s Algorithm - Example</vt:lpstr>
      <vt:lpstr>Prim’s Algorithm - Example</vt:lpstr>
      <vt:lpstr>Prim’s Algorithm - Example</vt:lpstr>
      <vt:lpstr>Prim’s Algorithm - Example</vt:lpstr>
      <vt:lpstr>Prim’s Algorithm - Example</vt:lpstr>
      <vt:lpstr>Prim’s Algorithm - Example</vt:lpstr>
      <vt:lpstr>Prim’s Algorithm - Example</vt:lpstr>
      <vt:lpstr>Prim’s Algorithm - Example</vt:lpstr>
      <vt:lpstr>Prim’s Algorithm - Example</vt:lpstr>
      <vt:lpstr>Prim’s Algorithm – Complexity analysis</vt:lpstr>
      <vt:lpstr>PowerPoint Presentation</vt:lpstr>
      <vt:lpstr>Kruskal's Algorithm </vt:lpstr>
      <vt:lpstr>Kruskal's Algorithm</vt:lpstr>
      <vt:lpstr>Data Structures For Kruskal’s Algorithm</vt:lpstr>
      <vt:lpstr>Kruskal's Algorithm Code</vt:lpstr>
      <vt:lpstr>PowerPoint Presentation</vt:lpstr>
      <vt:lpstr>PowerPoint Presentation</vt:lpstr>
      <vt:lpstr>Kruskal’s algorithm Example</vt:lpstr>
      <vt:lpstr>Kruskal’s Algorithm Complexity analysis</vt:lpstr>
      <vt:lpstr>Review Questions</vt:lpstr>
      <vt:lpstr>Shortest path problem</vt:lpstr>
      <vt:lpstr>The Dijkstra's Algorithm</vt:lpstr>
      <vt:lpstr>The Dijkstra's Algorithm_Code</vt:lpstr>
      <vt:lpstr>PowerPoint Presentation</vt:lpstr>
      <vt:lpstr>The Dijkstra's Algorithm_ Example</vt:lpstr>
      <vt:lpstr>Review 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dc:title>
  <dc:creator>aslam</dc:creator>
  <cp:lastModifiedBy>ملك محمد حاتم حلوح</cp:lastModifiedBy>
  <cp:revision>408</cp:revision>
  <dcterms:created xsi:type="dcterms:W3CDTF">2022-10-21T18:42:36Z</dcterms:created>
  <dcterms:modified xsi:type="dcterms:W3CDTF">2025-12-31T11:41:37Z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2022-07-19T00:00:00Z</vt:filetime>
  </property>
  <property fmtid="{D5CDD505-2E9C-101B-9397-08002B2CF9AE}" pid="3" name="Creator">
    <vt:lpwstr>Microsoft® PowerPoint® 2016</vt:lpwstr>
  </property>
  <property fmtid="{D5CDD505-2E9C-101B-9397-08002B2CF9AE}" pid="4" name="LastSaved">
    <vt:filetime>2022-10-21T00:00:00Z</vt:filetime>
  </property>
</Properties>
</file>