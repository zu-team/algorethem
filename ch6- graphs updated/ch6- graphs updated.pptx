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50"/>
  </p:notesMasterIdLst>
  <p:handoutMasterIdLst>
    <p:handoutMasterId r:id="rId51"/>
  </p:handoutMasterIdLst>
  <p:sldIdLst>
    <p:sldId id="256" r:id="rId2"/>
    <p:sldId id="295" r:id="rId3"/>
    <p:sldId id="294" r:id="rId4"/>
    <p:sldId id="296" r:id="rId5"/>
    <p:sldId id="297" r:id="rId6"/>
    <p:sldId id="298" r:id="rId7"/>
    <p:sldId id="300" r:id="rId8"/>
    <p:sldId id="301" r:id="rId9"/>
    <p:sldId id="302" r:id="rId10"/>
    <p:sldId id="304" r:id="rId11"/>
    <p:sldId id="305" r:id="rId12"/>
    <p:sldId id="307" r:id="rId13"/>
    <p:sldId id="309" r:id="rId14"/>
    <p:sldId id="320" r:id="rId15"/>
    <p:sldId id="323" r:id="rId16"/>
    <p:sldId id="325" r:id="rId17"/>
    <p:sldId id="328" r:id="rId18"/>
    <p:sldId id="329" r:id="rId19"/>
    <p:sldId id="330" r:id="rId20"/>
    <p:sldId id="331" r:id="rId21"/>
    <p:sldId id="332" r:id="rId22"/>
    <p:sldId id="333" r:id="rId23"/>
    <p:sldId id="334" r:id="rId24"/>
    <p:sldId id="335" r:id="rId25"/>
    <p:sldId id="336" r:id="rId26"/>
    <p:sldId id="337" r:id="rId27"/>
    <p:sldId id="338" r:id="rId28"/>
    <p:sldId id="339" r:id="rId29"/>
    <p:sldId id="342" r:id="rId30"/>
    <p:sldId id="347" r:id="rId31"/>
    <p:sldId id="353" r:id="rId32"/>
    <p:sldId id="354" r:id="rId33"/>
    <p:sldId id="355" r:id="rId34"/>
    <p:sldId id="356" r:id="rId35"/>
    <p:sldId id="357" r:id="rId36"/>
    <p:sldId id="358" r:id="rId37"/>
    <p:sldId id="359" r:id="rId38"/>
    <p:sldId id="360" r:id="rId39"/>
    <p:sldId id="361" r:id="rId40"/>
    <p:sldId id="362" r:id="rId41"/>
    <p:sldId id="363" r:id="rId42"/>
    <p:sldId id="364" r:id="rId43"/>
    <p:sldId id="366" r:id="rId44"/>
    <p:sldId id="367" r:id="rId45"/>
    <p:sldId id="368" r:id="rId46"/>
    <p:sldId id="369" r:id="rId47"/>
    <p:sldId id="371" r:id="rId48"/>
    <p:sldId id="373" r:id="rId49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31" autoAdjust="0"/>
  </p:normalViewPr>
  <p:slideViewPr>
    <p:cSldViewPr>
      <p:cViewPr varScale="1">
        <p:scale>
          <a:sx n="79" d="100"/>
          <a:sy n="79" d="100"/>
        </p:scale>
        <p:origin x="821" y="96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224"/>
    </p:cViewPr>
  </p:sorterViewPr>
  <p:notesViewPr>
    <p:cSldViewPr>
      <p:cViewPr varScale="1">
        <p:scale>
          <a:sx n="85" d="100"/>
          <a:sy n="85" d="100"/>
        </p:scale>
        <p:origin x="2035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CC2338-ABC5-4A25-B9CD-DA581F15729B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7EFE9-E06A-4399-9BCC-B4F2BBA3A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61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E8CB8-3CAC-4BEB-A90E-D13783BBC4F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65509-F919-4F6A-BA4E-56D6EBE4D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17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0BBC12-CE2B-4A63-A29A-E2E2EA4F7C6B}" type="slidenum">
              <a:rPr lang="ar-SA" smtClean="0"/>
              <a:pPr/>
              <a:t>4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4210071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455708-FE82-4B15-BC80-8F2249D3096B}" type="slidenum">
              <a:rPr lang="ar-SA" smtClean="0"/>
              <a:pPr/>
              <a:t>5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218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B6179C-5729-4BE1-BE8D-2ABB3D6D8CAB}" type="slidenum">
              <a:rPr lang="ar-SA" smtClean="0"/>
              <a:pPr/>
              <a:t>6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2187382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65F3EE-08AC-4054-8E86-17C82B06DE67}" type="slidenum">
              <a:rPr lang="ar-SA" smtClean="0"/>
              <a:pPr/>
              <a:t>7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265189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AA80D7-446A-499B-84DF-AE7D1E0955F9}" type="slidenum">
              <a:rPr lang="ar-SA" smtClean="0"/>
              <a:pPr/>
              <a:t>8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264932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225B4A-F6C7-4E64-93BF-C237A50EDDAD}" type="slidenum">
              <a:rPr lang="ar-SA" smtClean="0"/>
              <a:pPr/>
              <a:t>9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0745107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7AC1F2-3921-4C78-8786-8A4443C235B2}" type="slidenum">
              <a:rPr lang="ar-SA" smtClean="0"/>
              <a:pPr/>
              <a:t>10</a:t>
            </a:fld>
            <a:endParaRPr 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195739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C3293B-7303-494F-9D79-9E722B69163E}" type="slidenum">
              <a:rPr lang="ar-SA" smtClean="0"/>
              <a:pPr/>
              <a:t>11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817247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0E0399-FBC8-4095-BB37-B42C4A84101B}" type="slidenum">
              <a:rPr lang="ar-SA" smtClean="0"/>
              <a:pPr/>
              <a:t>12</a:t>
            </a:fld>
            <a:endParaRPr lang="en-US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41624603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133F48-BBF7-4D4C-B672-C9932ED94F56}" type="slidenum">
              <a:rPr lang="ar-SA" smtClean="0"/>
              <a:pPr/>
              <a:t>13</a:t>
            </a:fld>
            <a:endParaRPr 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3645097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03770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34954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832283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761897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369495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930280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157105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47837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224437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953115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112553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495367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509957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006806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36186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4538"/>
            <a:ext cx="6615112" cy="3721100"/>
          </a:xfrm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468813"/>
          </a:xfrm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793799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4538"/>
            <a:ext cx="6615112" cy="3721100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468813"/>
          </a:xfrm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51324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4538"/>
            <a:ext cx="6615112" cy="3721100"/>
          </a:xfrm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468813"/>
          </a:xfrm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932714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4538"/>
            <a:ext cx="6615112" cy="3721100"/>
          </a:xfrm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468813"/>
          </a:xfrm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852683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4538"/>
            <a:ext cx="6615112" cy="3721100"/>
          </a:xfrm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468813"/>
          </a:xfrm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852814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4538"/>
            <a:ext cx="6615112" cy="37211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468813"/>
          </a:xfrm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878497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4538"/>
            <a:ext cx="6615112" cy="3721100"/>
          </a:xfrm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468813"/>
          </a:xfrm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504251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4538"/>
            <a:ext cx="6615112" cy="3721100"/>
          </a:xfrm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468813"/>
          </a:xfrm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341023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4538"/>
            <a:ext cx="6615112" cy="3721100"/>
          </a:xfrm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468813"/>
          </a:xfrm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282176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4538"/>
            <a:ext cx="6615112" cy="3721100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468813"/>
          </a:xfrm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973777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4538"/>
            <a:ext cx="6615112" cy="3721100"/>
          </a:xfrm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468813"/>
          </a:xfrm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3105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4538"/>
            <a:ext cx="6615112" cy="3721100"/>
          </a:xfrm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468813"/>
          </a:xfrm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591026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0" y="744538"/>
            <a:ext cx="4960938" cy="3721100"/>
          </a:xfrm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468813"/>
          </a:xfrm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911181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0" y="744538"/>
            <a:ext cx="4960938" cy="3721100"/>
          </a:xfrm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468813"/>
          </a:xfrm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222908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4538"/>
            <a:ext cx="6615112" cy="3721100"/>
          </a:xfrm>
          <a:ln/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468813"/>
          </a:xfrm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8514211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4538"/>
            <a:ext cx="6615112" cy="3721100"/>
          </a:xfrm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468813"/>
          </a:xfrm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0070928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4538"/>
            <a:ext cx="6615112" cy="3721100"/>
          </a:xfrm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468813"/>
          </a:xfrm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025698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4538"/>
            <a:ext cx="6615112" cy="3721100"/>
          </a:xfrm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468813"/>
          </a:xfrm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1081387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4538"/>
            <a:ext cx="6615112" cy="3721100"/>
          </a:xfrm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468813"/>
          </a:xfrm>
          <a:noFill/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9254825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663" y="744538"/>
            <a:ext cx="6615112" cy="3721100"/>
          </a:xfrm>
          <a:ln/>
        </p:spPr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8050"/>
            <a:ext cx="4984750" cy="4468813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3428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F388CE0-1C8D-443A-A26F-17C13D2EB318}" type="datetime1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7924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567" y="182564"/>
            <a:ext cx="10515600" cy="636361"/>
          </a:xfrm>
        </p:spPr>
        <p:txBody>
          <a:bodyPr>
            <a:noAutofit/>
          </a:bodyPr>
          <a:lstStyle>
            <a:lvl1pPr>
              <a:defRPr sz="3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567" y="1184048"/>
            <a:ext cx="105156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06D6FBD-CD5A-48C9-BE5C-A53A00859792}" type="datetime1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881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097281"/>
            <a:ext cx="10515600" cy="499237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486D4-A4C2-46D7-868C-FF4109B1B30D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455" y="161678"/>
            <a:ext cx="10515600" cy="678133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0616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46357"/>
            <a:ext cx="5181600" cy="502142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46357"/>
            <a:ext cx="5181600" cy="50214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AD2C-D9FB-4B57-99B4-1DF6264E3A5D}" type="datetime1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86200" y="6356352"/>
            <a:ext cx="4572000" cy="36512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Faculty of Information Technology - Computer Science Department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200" kern="120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228" y="182564"/>
            <a:ext cx="10515600" cy="636361"/>
          </a:xfr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817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088987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912900"/>
            <a:ext cx="5157787" cy="433985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088987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912900"/>
            <a:ext cx="5183188" cy="433985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90CF-A2DC-493A-B10C-8354709A26FE}" type="datetime1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733800" y="6356352"/>
            <a:ext cx="4724400" cy="365125"/>
          </a:xfrm>
        </p:spPr>
        <p:txBody>
          <a:bodyPr/>
          <a:lstStyle>
            <a:lvl1pPr marL="0" algn="ctr" defTabSz="914400" rtl="0" eaLnBrk="1" latinLnBrk="0" hangingPunct="1">
              <a:defRPr lang="en-US" sz="1200" kern="120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Faculty of Information Technology - Computer Science Department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200" kern="120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228" y="230460"/>
            <a:ext cx="10515600" cy="540566"/>
          </a:xfr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018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EB34-727D-46FF-B5F4-7143E9FAE778}" type="datetime1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733800" y="6356352"/>
            <a:ext cx="4419600" cy="365125"/>
          </a:xfrm>
        </p:spPr>
        <p:txBody>
          <a:bodyPr/>
          <a:lstStyle>
            <a:lvl1pPr>
              <a:defRPr lang="en-US" sz="12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Faculty of Information Technology - Computer Science Department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200" kern="120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228" y="239170"/>
            <a:ext cx="10515600" cy="523149"/>
          </a:xfr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1839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A732-97CD-4123-9F1B-A455AFBFEC33}" type="datetime1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733800" y="6356352"/>
            <a:ext cx="4419600" cy="365125"/>
          </a:xfrm>
        </p:spPr>
        <p:txBody>
          <a:bodyPr/>
          <a:lstStyle>
            <a:lvl1pPr>
              <a:defRPr lang="en-US" sz="12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Faculty of Information Technology - Computer Science Department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200" kern="120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733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01486"/>
            <a:ext cx="3932237" cy="105591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3197A-9C1A-4EB6-AFF6-3BD2D060C463}" type="datetime1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733800" y="6356352"/>
            <a:ext cx="4419600" cy="365125"/>
          </a:xfrm>
        </p:spPr>
        <p:txBody>
          <a:bodyPr/>
          <a:lstStyle>
            <a:lvl1pPr>
              <a:defRPr lang="en-US" sz="12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Faculty of Information Technology - Computer Science Department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200" kern="120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0072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62446"/>
            <a:ext cx="3932237" cy="99495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062446"/>
            <a:ext cx="6172200" cy="479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12496-B09D-4D8D-AAAF-506D86600E8A}" type="datetime1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733800" y="6356352"/>
            <a:ext cx="4419600" cy="36512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Faculty of Information Technology - Computer Science Department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lang="en-US" sz="12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9306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859" y="182564"/>
            <a:ext cx="10515600" cy="636361"/>
          </a:xfr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001485"/>
            <a:ext cx="10515600" cy="517547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85F24-CC96-4527-8ECB-F4BF9C5F8CAF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33800" y="6356352"/>
            <a:ext cx="4419600" cy="365125"/>
          </a:xfrm>
        </p:spPr>
        <p:txBody>
          <a:bodyPr/>
          <a:lstStyle>
            <a:lvl1pPr>
              <a:defRPr lang="en-US" sz="12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200" kern="120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321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1001487"/>
            <a:ext cx="2628900" cy="51754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1001485"/>
            <a:ext cx="7734300" cy="517547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0D28-12A2-4555-BE48-F95AD3B2DCA5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33800" y="6356352"/>
            <a:ext cx="4419600" cy="36512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1660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229" y="1101228"/>
            <a:ext cx="10994572" cy="5075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D870266-8C8D-4A83-8FE7-755E460323A3}" type="datetime1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81400" y="6356352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Faculty of Information Technology - Computer Science Department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200" kern="120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9228" y="280331"/>
            <a:ext cx="10515600" cy="540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487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bg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758" y="1219200"/>
            <a:ext cx="4733925" cy="46093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66984" y="45847"/>
            <a:ext cx="834363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Design and Analysis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eelOff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352800" y="6356352"/>
            <a:ext cx="4572000" cy="365125"/>
          </a:xfrm>
        </p:spPr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33800" y="1214393"/>
            <a:ext cx="3714750" cy="48044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1466984" y="45847"/>
            <a:ext cx="834363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Design and Analysis</a:t>
            </a:r>
          </a:p>
        </p:txBody>
      </p:sp>
    </p:spTree>
    <p:extLst>
      <p:ext uri="{BB962C8B-B14F-4D97-AF65-F5344CB8AC3E}">
        <p14:creationId xmlns:p14="http://schemas.microsoft.com/office/powerpoint/2010/main" val="17350350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eelOff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84048"/>
            <a:ext cx="11353799" cy="5064352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60000"/>
              </a:lnSpc>
              <a:buSzPct val="120000"/>
              <a:buNone/>
            </a:pPr>
            <a:endParaRPr lang="en-US" sz="5400" b="1" dirty="0"/>
          </a:p>
          <a:p>
            <a:pPr marL="0" indent="0" algn="ctr">
              <a:lnSpc>
                <a:spcPct val="160000"/>
              </a:lnSpc>
              <a:buSzPct val="120000"/>
              <a:buNone/>
            </a:pPr>
            <a:r>
              <a:rPr lang="en-US" sz="4300" b="1" dirty="0"/>
              <a:t>Chapter 6: Elementary Graph terminologies and algorithms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</p:spTree>
    <p:extLst>
      <p:ext uri="{BB962C8B-B14F-4D97-AF65-F5344CB8AC3E}">
        <p14:creationId xmlns:p14="http://schemas.microsoft.com/office/powerpoint/2010/main" val="36224950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eelOff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128" y="1178436"/>
            <a:ext cx="11479472" cy="1995487"/>
          </a:xfrm>
        </p:spPr>
        <p:txBody>
          <a:bodyPr/>
          <a:lstStyle/>
          <a:p>
            <a:pPr marL="261938" indent="-261938" algn="just">
              <a:buClr>
                <a:schemeClr val="accent5">
                  <a:lumMod val="50000"/>
                </a:schemeClr>
              </a:buClr>
              <a:buFont typeface="Wingdings" pitchFamily="2" charset="2"/>
              <a:buChar char="Ø"/>
            </a:pPr>
            <a:r>
              <a:rPr lang="en-US" sz="2000" dirty="0"/>
              <a:t>A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Graph</a:t>
            </a:r>
            <a:r>
              <a:rPr lang="en-US" sz="2000" dirty="0"/>
              <a:t> is a data structure which consists of a set of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vertices,</a:t>
            </a:r>
            <a:r>
              <a:rPr lang="en-US" sz="2000" dirty="0"/>
              <a:t> and a set of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edges</a:t>
            </a:r>
            <a:r>
              <a:rPr lang="en-US" sz="2000" dirty="0"/>
              <a:t> that connect (some of) them.</a:t>
            </a:r>
          </a:p>
          <a:p>
            <a:pPr marL="261938" indent="-261938" algn="just">
              <a:buClr>
                <a:schemeClr val="accent5">
                  <a:lumMod val="50000"/>
                </a:schemeClr>
              </a:buClr>
              <a:buFont typeface="Wingdings" pitchFamily="2" charset="2"/>
              <a:buChar char="Ø"/>
            </a:pPr>
            <a:r>
              <a:rPr lang="en-US" sz="2000" dirty="0"/>
              <a:t>That is,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G = (V, E), </a:t>
            </a:r>
            <a:r>
              <a:rPr lang="en-US" sz="2000" dirty="0"/>
              <a:t>Where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V </a:t>
            </a:r>
            <a:r>
              <a:rPr lang="en-US" sz="2000" dirty="0"/>
              <a:t>- set of vertices,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 </a:t>
            </a:r>
            <a:r>
              <a:rPr lang="en-US" sz="2000" dirty="0"/>
              <a:t>- set of edges </a:t>
            </a:r>
          </a:p>
          <a:p>
            <a:pPr marL="261938" indent="-261938" algn="just">
              <a:buClr>
                <a:srgbClr val="FF0000"/>
              </a:buClr>
              <a:buFont typeface="Wingdings" pitchFamily="2" charset="2"/>
              <a:buChar char="Ø"/>
            </a:pPr>
            <a:endParaRPr lang="en-US" sz="2000" dirty="0"/>
          </a:p>
        </p:txBody>
      </p:sp>
      <p:sp>
        <p:nvSpPr>
          <p:cNvPr id="14339" name="Text Box 17"/>
          <p:cNvSpPr txBox="1">
            <a:spLocks noChangeArrowheads="1"/>
          </p:cNvSpPr>
          <p:nvPr/>
        </p:nvSpPr>
        <p:spPr bwMode="auto">
          <a:xfrm>
            <a:off x="8534400" y="4724400"/>
            <a:ext cx="1905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ar-JO"/>
          </a:p>
        </p:txBody>
      </p:sp>
      <p:sp>
        <p:nvSpPr>
          <p:cNvPr id="6167" name="Text Box 23"/>
          <p:cNvSpPr txBox="1">
            <a:spLocks noChangeArrowheads="1"/>
          </p:cNvSpPr>
          <p:nvPr/>
        </p:nvSpPr>
        <p:spPr bwMode="auto">
          <a:xfrm>
            <a:off x="4327236" y="5123050"/>
            <a:ext cx="7366000" cy="8604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V =</a:t>
            </a:r>
            <a:r>
              <a:rPr lang="en-US" sz="2000" dirty="0"/>
              <a:t> {1, 2, 3, 4, 5}</a:t>
            </a:r>
          </a:p>
          <a:p>
            <a:pPr>
              <a:spcBef>
                <a:spcPct val="50000"/>
              </a:spcBef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 = </a:t>
            </a:r>
            <a:r>
              <a:rPr lang="en-US" sz="2000" dirty="0"/>
              <a:t>{ (1,2), (1,3), (1,4), (2,3), (3,5), (4,5) }</a:t>
            </a:r>
          </a:p>
        </p:txBody>
      </p:sp>
      <p:sp>
        <p:nvSpPr>
          <p:cNvPr id="14342" name="Rectangle 22"/>
          <p:cNvSpPr>
            <a:spLocks noChangeArrowheads="1"/>
          </p:cNvSpPr>
          <p:nvPr/>
        </p:nvSpPr>
        <p:spPr bwMode="auto">
          <a:xfrm>
            <a:off x="167828" y="234086"/>
            <a:ext cx="336502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Graph?</a:t>
            </a:r>
          </a:p>
        </p:txBody>
      </p:sp>
      <p:sp>
        <p:nvSpPr>
          <p:cNvPr id="14343" name="Slide Number Placeholder 2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fld id="{D320E342-515B-47D3-A751-31D46901BB57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9" y="2390161"/>
            <a:ext cx="7290955" cy="253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948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15897" y="1268800"/>
            <a:ext cx="8229600" cy="5155779"/>
          </a:xfrm>
        </p:spPr>
        <p:txBody>
          <a:bodyPr>
            <a:normAutofit/>
          </a:bodyPr>
          <a:lstStyle/>
          <a:p>
            <a:pPr eaLnBrk="1" hangingPunct="1">
              <a:buClr>
                <a:srgbClr val="002060"/>
              </a:buClr>
              <a:buFont typeface="Wingdings" pitchFamily="2" charset="2"/>
              <a:buChar char="Ø"/>
            </a:pPr>
            <a:r>
              <a:rPr lang="en-US" sz="2000" dirty="0"/>
              <a:t>  Computer Networks</a:t>
            </a:r>
          </a:p>
          <a:p>
            <a:pPr eaLnBrk="1" hangingPunct="1">
              <a:buClr>
                <a:srgbClr val="002060"/>
              </a:buClr>
              <a:buFont typeface="Wingdings" pitchFamily="2" charset="2"/>
              <a:buChar char="Ø"/>
            </a:pPr>
            <a:endParaRPr lang="en-US" sz="2000" dirty="0"/>
          </a:p>
          <a:p>
            <a:pPr eaLnBrk="1" hangingPunct="1">
              <a:buClr>
                <a:srgbClr val="002060"/>
              </a:buClr>
              <a:buFont typeface="Wingdings" pitchFamily="2" charset="2"/>
              <a:buChar char="Ø"/>
            </a:pPr>
            <a:endParaRPr lang="en-US" sz="2000" dirty="0"/>
          </a:p>
          <a:p>
            <a:pPr marL="0" indent="0" eaLnBrk="1" hangingPunct="1">
              <a:buClr>
                <a:srgbClr val="002060"/>
              </a:buClr>
              <a:buNone/>
            </a:pPr>
            <a:endParaRPr lang="en-US" sz="2000" dirty="0"/>
          </a:p>
          <a:p>
            <a:pPr eaLnBrk="1" hangingPunct="1">
              <a:buClr>
                <a:srgbClr val="002060"/>
              </a:buClr>
              <a:buFont typeface="Wingdings" pitchFamily="2" charset="2"/>
              <a:buChar char="Ø"/>
            </a:pPr>
            <a:endParaRPr lang="en-US" sz="2000" dirty="0"/>
          </a:p>
          <a:p>
            <a:pPr eaLnBrk="1" hangingPunct="1">
              <a:buClr>
                <a:srgbClr val="002060"/>
              </a:buClr>
              <a:buFont typeface="Wingdings" pitchFamily="2" charset="2"/>
              <a:buChar char="Ø"/>
            </a:pPr>
            <a:r>
              <a:rPr lang="en-US" sz="2000" dirty="0"/>
              <a:t>  Electrical Circuits</a:t>
            </a:r>
          </a:p>
          <a:p>
            <a:pPr eaLnBrk="1" hangingPunct="1">
              <a:buClr>
                <a:srgbClr val="002060"/>
              </a:buClr>
              <a:buFont typeface="Wingdings" pitchFamily="2" charset="2"/>
              <a:buChar char="Ø"/>
            </a:pPr>
            <a:endParaRPr lang="en-US" sz="2000" dirty="0"/>
          </a:p>
          <a:p>
            <a:pPr eaLnBrk="1" hangingPunct="1">
              <a:buClr>
                <a:srgbClr val="002060"/>
              </a:buClr>
              <a:buFont typeface="Wingdings" pitchFamily="2" charset="2"/>
              <a:buChar char="Ø"/>
            </a:pPr>
            <a:endParaRPr lang="en-US" sz="2000" dirty="0"/>
          </a:p>
          <a:p>
            <a:pPr marL="0" indent="0" eaLnBrk="1" hangingPunct="1">
              <a:buClr>
                <a:srgbClr val="002060"/>
              </a:buClr>
              <a:buNone/>
            </a:pPr>
            <a:endParaRPr lang="en-US" sz="2000" dirty="0"/>
          </a:p>
          <a:p>
            <a:pPr eaLnBrk="1" hangingPunct="1">
              <a:buClr>
                <a:srgbClr val="002060"/>
              </a:buClr>
              <a:buFont typeface="Wingdings" pitchFamily="2" charset="2"/>
              <a:buChar char="Ø"/>
            </a:pPr>
            <a:endParaRPr lang="en-US" sz="2000" dirty="0"/>
          </a:p>
          <a:p>
            <a:pPr eaLnBrk="1" hangingPunct="1">
              <a:buClr>
                <a:srgbClr val="002060"/>
              </a:buClr>
              <a:buFont typeface="Wingdings" pitchFamily="2" charset="2"/>
              <a:buChar char="Ø"/>
            </a:pPr>
            <a:endParaRPr lang="en-US" sz="2000" dirty="0"/>
          </a:p>
          <a:p>
            <a:pPr eaLnBrk="1" hangingPunct="1">
              <a:buClr>
                <a:srgbClr val="002060"/>
              </a:buClr>
              <a:buFont typeface="Wingdings" pitchFamily="2" charset="2"/>
              <a:buChar char="Ø"/>
            </a:pPr>
            <a:r>
              <a:rPr lang="en-US" sz="2000" dirty="0"/>
              <a:t>  Road Map</a:t>
            </a:r>
          </a:p>
        </p:txBody>
      </p:sp>
      <p:sp>
        <p:nvSpPr>
          <p:cNvPr id="15366" name="Rectangle 43"/>
          <p:cNvSpPr>
            <a:spLocks noChangeArrowheads="1"/>
          </p:cNvSpPr>
          <p:nvPr/>
        </p:nvSpPr>
        <p:spPr bwMode="auto">
          <a:xfrm>
            <a:off x="152400" y="245744"/>
            <a:ext cx="383970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Applications</a:t>
            </a:r>
          </a:p>
        </p:txBody>
      </p:sp>
      <p:sp>
        <p:nvSpPr>
          <p:cNvPr id="15367" name="Slide Number Placeholder 4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fld id="{67E49F1A-75C6-48A5-872A-A484F275A172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784" y="1115103"/>
            <a:ext cx="5886450" cy="18240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066" y="2804787"/>
            <a:ext cx="4495800" cy="2133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066" y="4804571"/>
            <a:ext cx="4867275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637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0"/>
          <p:cNvSpPr>
            <a:spLocks noChangeArrowheads="1"/>
          </p:cNvSpPr>
          <p:nvPr/>
        </p:nvSpPr>
        <p:spPr bwMode="auto">
          <a:xfrm>
            <a:off x="-442962" y="318670"/>
            <a:ext cx="5638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Categorization</a:t>
            </a:r>
          </a:p>
        </p:txBody>
      </p:sp>
      <p:sp>
        <p:nvSpPr>
          <p:cNvPr id="16389" name="Slide Number Placeholder 2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fld id="{6F0EF372-0E5F-472D-89C9-BD365A0CFA6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14324" y="1151657"/>
            <a:ext cx="111918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002060"/>
              </a:buClr>
            </a:pPr>
            <a:r>
              <a:rPr lang="en-US" dirty="0"/>
              <a:t>1-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Directed graph or Digraph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is a graph where each edge has a direction</a:t>
            </a:r>
          </a:p>
          <a:p>
            <a:pPr marL="1276350" lvl="2" indent="-361950" algn="just">
              <a:buClr>
                <a:srgbClr val="002060"/>
              </a:buClr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edges in a digraph are called Arcs or Directed Edges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4324" y="2220436"/>
            <a:ext cx="110394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Clr>
                <a:srgbClr val="002060"/>
              </a:buClr>
            </a:pPr>
            <a:r>
              <a:rPr lang="en-US" dirty="0"/>
              <a:t>2-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Undirected graph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is a graph where the edges have no directions</a:t>
            </a:r>
          </a:p>
          <a:p>
            <a:pPr lvl="2" algn="just">
              <a:lnSpc>
                <a:spcPct val="90000"/>
              </a:lnSpc>
              <a:buClr>
                <a:srgbClr val="002060"/>
              </a:buClr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edges in an undirected graph are called Undirected Edges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151067"/>
            <a:ext cx="4114800" cy="355282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994859"/>
            <a:ext cx="4011266" cy="336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65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8" name="Slide Number Placeholder 3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fld id="{3E9D6FDD-DB0A-4016-9A0E-0F793FE4906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228600" y="1214439"/>
            <a:ext cx="10820400" cy="995361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000" dirty="0"/>
              <a:t>3- </a:t>
            </a:r>
            <a:r>
              <a:rPr lang="en-US" altLang="en-US" sz="2000" b="1" dirty="0">
                <a:solidFill>
                  <a:schemeClr val="accent5">
                    <a:lumMod val="75000"/>
                  </a:schemeClr>
                </a:solidFill>
              </a:rPr>
              <a:t>Weighted graph</a:t>
            </a:r>
            <a:r>
              <a:rPr lang="en-US" altLang="en-US" sz="2000" dirty="0"/>
              <a:t>: is a graph where each edge carries a value</a:t>
            </a:r>
          </a:p>
          <a:p>
            <a:pPr marL="800100" lvl="1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altLang="en-US" sz="2000" dirty="0"/>
              <a:t>A weighted graph is a graph G = (V, E, W), where each edge, e </a:t>
            </a:r>
            <a:r>
              <a:rPr lang="en-US" altLang="en-US" sz="2000" dirty="0">
                <a:sym typeface="Symbol" panose="05050102010706020507" pitchFamily="18" charset="2"/>
              </a:rPr>
              <a:t> </a:t>
            </a:r>
            <a:r>
              <a:rPr lang="en-US" altLang="en-US" sz="2000" dirty="0"/>
              <a:t>E is assigned a real valued weight, W(e).</a:t>
            </a:r>
          </a:p>
          <a:p>
            <a:pPr marL="457200" lvl="1" indent="0">
              <a:buClr>
                <a:srgbClr val="002060"/>
              </a:buClr>
              <a:buNone/>
            </a:pPr>
            <a:endParaRPr lang="en-US" alt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228600" y="264893"/>
            <a:ext cx="19672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 …..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442495"/>
            <a:ext cx="4086225" cy="2667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347245"/>
            <a:ext cx="4038600" cy="2857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8600" y="2209800"/>
            <a:ext cx="11125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</a:t>
            </a:r>
            <a:r>
              <a:rPr lang="en-US" altLang="en-US" sz="2000" b="1" dirty="0">
                <a:solidFill>
                  <a:schemeClr val="accent5">
                    <a:lumMod val="75000"/>
                  </a:schemeClr>
                </a:solidFill>
              </a:rPr>
              <a:t>  Complete graph</a:t>
            </a:r>
            <a:r>
              <a:rPr lang="en-US" altLang="en-US" sz="2000" dirty="0"/>
              <a:t>: is a graph with an edge between every pair of vertices.</a:t>
            </a:r>
          </a:p>
          <a:p>
            <a:pPr marL="800100" lvl="1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altLang="en-US" sz="2000" dirty="0"/>
              <a:t>A graph is called complete graph if every vertex is adjacent to every other vertex.</a:t>
            </a:r>
          </a:p>
          <a:p>
            <a:pPr marL="742950" lvl="1" indent="-285750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00913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30"/>
          <p:cNvSpPr>
            <a:spLocks noChangeArrowheads="1"/>
          </p:cNvSpPr>
          <p:nvPr/>
        </p:nvSpPr>
        <p:spPr bwMode="auto">
          <a:xfrm>
            <a:off x="-685800" y="304800"/>
            <a:ext cx="5791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Terminology</a:t>
            </a:r>
          </a:p>
        </p:txBody>
      </p:sp>
      <p:sp>
        <p:nvSpPr>
          <p:cNvPr id="19462" name="Slide Number Placeholder 3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fld id="{E4389124-3C95-4300-9739-CE964C8FEC8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1" name="Rectangle 57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316447" y="973700"/>
            <a:ext cx="11236325" cy="517683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  <a:defRPr/>
            </a:pPr>
            <a:r>
              <a:rPr lang="en-US" sz="1800" b="1" i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   Adjacent vertices</a:t>
            </a:r>
            <a:r>
              <a:rPr lang="en-US" sz="1800" dirty="0">
                <a:sym typeface="Symbol" pitchFamily="18" charset="2"/>
              </a:rPr>
              <a:t>: connected by an edge</a:t>
            </a:r>
          </a:p>
          <a:p>
            <a:pPr marL="742950" lvl="1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en-US" dirty="0">
                <a:sym typeface="Symbol" pitchFamily="18" charset="2"/>
              </a:rPr>
              <a:t>Vertex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v</a:t>
            </a:r>
            <a:r>
              <a:rPr lang="en-US" dirty="0">
                <a:sym typeface="Symbol" pitchFamily="18" charset="2"/>
              </a:rPr>
              <a:t> is adjacent to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u</a:t>
            </a:r>
            <a:r>
              <a:rPr lang="en-US" dirty="0">
                <a:sym typeface="Symbol" pitchFamily="18" charset="2"/>
              </a:rPr>
              <a:t> if and only if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(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u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,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v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)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 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. </a:t>
            </a:r>
          </a:p>
          <a:p>
            <a:pPr marL="742950" lvl="1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en-US" dirty="0">
                <a:sym typeface="Symbol" pitchFamily="18" charset="2"/>
              </a:rPr>
              <a:t>In an undirected graph with edge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(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u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,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v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)</a:t>
            </a:r>
            <a:r>
              <a:rPr lang="en-US" dirty="0">
                <a:sym typeface="Symbol" pitchFamily="18" charset="2"/>
              </a:rPr>
              <a:t>, and hence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(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v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,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u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)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,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v</a:t>
            </a:r>
            <a:r>
              <a:rPr lang="en-US" dirty="0">
                <a:sym typeface="Symbol" pitchFamily="18" charset="2"/>
              </a:rPr>
              <a:t> is adjacent to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u</a:t>
            </a:r>
            <a:r>
              <a:rPr lang="en-US" dirty="0">
                <a:sym typeface="Symbol" pitchFamily="18" charset="2"/>
              </a:rPr>
              <a:t> and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u</a:t>
            </a:r>
            <a:r>
              <a:rPr lang="en-US" dirty="0">
                <a:sym typeface="Symbol" pitchFamily="18" charset="2"/>
              </a:rPr>
              <a:t> is adjacent to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v</a:t>
            </a:r>
            <a:r>
              <a:rPr lang="en-US" dirty="0">
                <a:sym typeface="Symbol" pitchFamily="18" charset="2"/>
              </a:rPr>
              <a:t>.</a:t>
            </a:r>
          </a:p>
        </p:txBody>
      </p:sp>
      <p:grpSp>
        <p:nvGrpSpPr>
          <p:cNvPr id="32" name="Group 59"/>
          <p:cNvGrpSpPr>
            <a:grpSpLocks/>
          </p:cNvGrpSpPr>
          <p:nvPr/>
        </p:nvGrpSpPr>
        <p:grpSpPr bwMode="auto">
          <a:xfrm>
            <a:off x="1447800" y="1889111"/>
            <a:ext cx="7924800" cy="1714447"/>
            <a:chOff x="606" y="1717"/>
            <a:chExt cx="4078" cy="1308"/>
          </a:xfrm>
        </p:grpSpPr>
        <p:grpSp>
          <p:nvGrpSpPr>
            <p:cNvPr id="33" name="Group 60"/>
            <p:cNvGrpSpPr>
              <a:grpSpLocks/>
            </p:cNvGrpSpPr>
            <p:nvPr/>
          </p:nvGrpSpPr>
          <p:grpSpPr bwMode="auto">
            <a:xfrm>
              <a:off x="917" y="1717"/>
              <a:ext cx="3528" cy="846"/>
              <a:chOff x="917" y="1717"/>
              <a:chExt cx="3528" cy="846"/>
            </a:xfrm>
          </p:grpSpPr>
          <p:grpSp>
            <p:nvGrpSpPr>
              <p:cNvPr id="36" name="Group 61"/>
              <p:cNvGrpSpPr>
                <a:grpSpLocks/>
              </p:cNvGrpSpPr>
              <p:nvPr/>
            </p:nvGrpSpPr>
            <p:grpSpPr bwMode="auto">
              <a:xfrm>
                <a:off x="941" y="1717"/>
                <a:ext cx="178" cy="194"/>
                <a:chOff x="894" y="2564"/>
                <a:chExt cx="178" cy="194"/>
              </a:xfrm>
            </p:grpSpPr>
            <p:sp>
              <p:nvSpPr>
                <p:cNvPr id="78" name="Oval 62"/>
                <p:cNvSpPr>
                  <a:spLocks noChangeArrowheads="1"/>
                </p:cNvSpPr>
                <p:nvPr/>
              </p:nvSpPr>
              <p:spPr bwMode="auto">
                <a:xfrm>
                  <a:off x="894" y="2582"/>
                  <a:ext cx="177" cy="17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79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897" y="2564"/>
                  <a:ext cx="175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9pPr>
                </a:lstStyle>
                <a:p>
                  <a:pPr algn="l" eaLnBrk="1" hangingPunct="1"/>
                  <a:r>
                    <a:rPr lang="en-US" altLang="en-US" sz="1400" b="0">
                      <a:solidFill>
                        <a:srgbClr val="0000FF"/>
                      </a:solidFill>
                      <a:latin typeface="Tahoma" panose="020B0604030504040204" pitchFamily="34" charset="0"/>
                      <a:cs typeface="Times New Roman" panose="02020603050405020304" pitchFamily="18" charset="0"/>
                    </a:rPr>
                    <a:t>a</a:t>
                  </a:r>
                </a:p>
              </p:txBody>
            </p:sp>
          </p:grpSp>
          <p:grpSp>
            <p:nvGrpSpPr>
              <p:cNvPr id="37" name="Group 64"/>
              <p:cNvGrpSpPr>
                <a:grpSpLocks/>
              </p:cNvGrpSpPr>
              <p:nvPr/>
            </p:nvGrpSpPr>
            <p:grpSpPr bwMode="auto">
              <a:xfrm>
                <a:off x="1722" y="1724"/>
                <a:ext cx="181" cy="194"/>
                <a:chOff x="894" y="2564"/>
                <a:chExt cx="181" cy="194"/>
              </a:xfrm>
            </p:grpSpPr>
            <p:sp>
              <p:nvSpPr>
                <p:cNvPr id="76" name="Oval 65"/>
                <p:cNvSpPr>
                  <a:spLocks noChangeArrowheads="1"/>
                </p:cNvSpPr>
                <p:nvPr/>
              </p:nvSpPr>
              <p:spPr bwMode="auto">
                <a:xfrm>
                  <a:off x="894" y="2582"/>
                  <a:ext cx="177" cy="17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77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897" y="2564"/>
                  <a:ext cx="17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9pPr>
                </a:lstStyle>
                <a:p>
                  <a:pPr algn="l" eaLnBrk="1" hangingPunct="1"/>
                  <a:r>
                    <a:rPr lang="en-US" altLang="en-US" sz="1400" b="0">
                      <a:solidFill>
                        <a:srgbClr val="0000FF"/>
                      </a:solidFill>
                      <a:latin typeface="Tahoma" panose="020B0604030504040204" pitchFamily="34" charset="0"/>
                      <a:cs typeface="Times New Roman" panose="02020603050405020304" pitchFamily="18" charset="0"/>
                    </a:rPr>
                    <a:t>b</a:t>
                  </a:r>
                </a:p>
              </p:txBody>
            </p:sp>
          </p:grpSp>
          <p:grpSp>
            <p:nvGrpSpPr>
              <p:cNvPr id="38" name="Group 67"/>
              <p:cNvGrpSpPr>
                <a:grpSpLocks/>
              </p:cNvGrpSpPr>
              <p:nvPr/>
            </p:nvGrpSpPr>
            <p:grpSpPr bwMode="auto">
              <a:xfrm>
                <a:off x="917" y="2362"/>
                <a:ext cx="181" cy="194"/>
                <a:chOff x="894" y="2564"/>
                <a:chExt cx="181" cy="194"/>
              </a:xfrm>
            </p:grpSpPr>
            <p:sp>
              <p:nvSpPr>
                <p:cNvPr id="74" name="Oval 68"/>
                <p:cNvSpPr>
                  <a:spLocks noChangeArrowheads="1"/>
                </p:cNvSpPr>
                <p:nvPr/>
              </p:nvSpPr>
              <p:spPr bwMode="auto">
                <a:xfrm>
                  <a:off x="894" y="2582"/>
                  <a:ext cx="177" cy="17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75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897" y="2564"/>
                  <a:ext cx="17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9pPr>
                </a:lstStyle>
                <a:p>
                  <a:pPr algn="l" eaLnBrk="1" hangingPunct="1"/>
                  <a:r>
                    <a:rPr lang="en-US" altLang="en-US" sz="1400" b="0">
                      <a:solidFill>
                        <a:srgbClr val="0000FF"/>
                      </a:solidFill>
                      <a:latin typeface="Tahoma" panose="020B0604030504040204" pitchFamily="34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</p:grpSp>
          <p:grpSp>
            <p:nvGrpSpPr>
              <p:cNvPr id="39" name="Group 70"/>
              <p:cNvGrpSpPr>
                <a:grpSpLocks/>
              </p:cNvGrpSpPr>
              <p:nvPr/>
            </p:nvGrpSpPr>
            <p:grpSpPr bwMode="auto">
              <a:xfrm>
                <a:off x="1725" y="2350"/>
                <a:ext cx="178" cy="194"/>
                <a:chOff x="894" y="2564"/>
                <a:chExt cx="178" cy="194"/>
              </a:xfrm>
            </p:grpSpPr>
            <p:sp>
              <p:nvSpPr>
                <p:cNvPr id="72" name="Oval 71"/>
                <p:cNvSpPr>
                  <a:spLocks noChangeArrowheads="1"/>
                </p:cNvSpPr>
                <p:nvPr/>
              </p:nvSpPr>
              <p:spPr bwMode="auto">
                <a:xfrm>
                  <a:off x="894" y="2582"/>
                  <a:ext cx="177" cy="17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73" name="Text Box 72"/>
                <p:cNvSpPr txBox="1">
                  <a:spLocks noChangeArrowheads="1"/>
                </p:cNvSpPr>
                <p:nvPr/>
              </p:nvSpPr>
              <p:spPr bwMode="auto">
                <a:xfrm>
                  <a:off x="897" y="2564"/>
                  <a:ext cx="175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9pPr>
                </a:lstStyle>
                <a:p>
                  <a:pPr algn="l" eaLnBrk="1" hangingPunct="1"/>
                  <a:r>
                    <a:rPr lang="en-US" altLang="en-US" sz="1400" b="0">
                      <a:solidFill>
                        <a:srgbClr val="0000FF"/>
                      </a:solidFill>
                      <a:latin typeface="Tahoma" panose="020B0604030504040204" pitchFamily="34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</p:grpSp>
          <p:grpSp>
            <p:nvGrpSpPr>
              <p:cNvPr id="40" name="Group 73"/>
              <p:cNvGrpSpPr>
                <a:grpSpLocks/>
              </p:cNvGrpSpPr>
              <p:nvPr/>
            </p:nvGrpSpPr>
            <p:grpSpPr bwMode="auto">
              <a:xfrm>
                <a:off x="1319" y="2094"/>
                <a:ext cx="177" cy="194"/>
                <a:chOff x="894" y="2564"/>
                <a:chExt cx="177" cy="194"/>
              </a:xfrm>
            </p:grpSpPr>
            <p:sp>
              <p:nvSpPr>
                <p:cNvPr id="70" name="Oval 74"/>
                <p:cNvSpPr>
                  <a:spLocks noChangeArrowheads="1"/>
                </p:cNvSpPr>
                <p:nvPr/>
              </p:nvSpPr>
              <p:spPr bwMode="auto">
                <a:xfrm>
                  <a:off x="894" y="2582"/>
                  <a:ext cx="177" cy="17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71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897" y="2564"/>
                  <a:ext cx="16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9pPr>
                </a:lstStyle>
                <a:p>
                  <a:pPr algn="l" eaLnBrk="1" hangingPunct="1"/>
                  <a:r>
                    <a:rPr lang="en-US" altLang="en-US" sz="1400" b="0">
                      <a:solidFill>
                        <a:srgbClr val="0000FF"/>
                      </a:solidFill>
                      <a:latin typeface="Tahoma" panose="020B0604030504040204" pitchFamily="34" charset="0"/>
                      <a:cs typeface="Times New Roman" panose="02020603050405020304" pitchFamily="18" charset="0"/>
                    </a:rPr>
                    <a:t>c</a:t>
                  </a:r>
                </a:p>
              </p:txBody>
            </p:sp>
          </p:grpSp>
          <p:sp>
            <p:nvSpPr>
              <p:cNvPr id="41" name="Line 76"/>
              <p:cNvSpPr>
                <a:spLocks noChangeShapeType="1"/>
              </p:cNvSpPr>
              <p:nvPr/>
            </p:nvSpPr>
            <p:spPr bwMode="auto">
              <a:xfrm>
                <a:off x="1111" y="1823"/>
                <a:ext cx="61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2" name="Line 77"/>
              <p:cNvSpPr>
                <a:spLocks noChangeShapeType="1"/>
              </p:cNvSpPr>
              <p:nvPr/>
            </p:nvSpPr>
            <p:spPr bwMode="auto">
              <a:xfrm>
                <a:off x="1009" y="1911"/>
                <a:ext cx="0" cy="4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3" name="Line 78"/>
              <p:cNvSpPr>
                <a:spLocks noChangeShapeType="1"/>
              </p:cNvSpPr>
              <p:nvPr/>
            </p:nvSpPr>
            <p:spPr bwMode="auto">
              <a:xfrm>
                <a:off x="1097" y="2460"/>
                <a:ext cx="63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4" name="Line 79"/>
              <p:cNvSpPr>
                <a:spLocks noChangeShapeType="1"/>
              </p:cNvSpPr>
              <p:nvPr/>
            </p:nvSpPr>
            <p:spPr bwMode="auto">
              <a:xfrm>
                <a:off x="1809" y="1918"/>
                <a:ext cx="0" cy="44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5" name="Line 80"/>
              <p:cNvSpPr>
                <a:spLocks noChangeShapeType="1"/>
              </p:cNvSpPr>
              <p:nvPr/>
            </p:nvSpPr>
            <p:spPr bwMode="auto">
              <a:xfrm>
                <a:off x="1091" y="1884"/>
                <a:ext cx="257" cy="25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6" name="Line 81"/>
              <p:cNvSpPr>
                <a:spLocks noChangeShapeType="1"/>
              </p:cNvSpPr>
              <p:nvPr/>
            </p:nvSpPr>
            <p:spPr bwMode="auto">
              <a:xfrm>
                <a:off x="1490" y="2243"/>
                <a:ext cx="258" cy="1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7" name="Line 82"/>
              <p:cNvSpPr>
                <a:spLocks noChangeShapeType="1"/>
              </p:cNvSpPr>
              <p:nvPr/>
            </p:nvSpPr>
            <p:spPr bwMode="auto">
              <a:xfrm flipV="1">
                <a:off x="1063" y="2250"/>
                <a:ext cx="272" cy="1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48" name="Group 83"/>
              <p:cNvGrpSpPr>
                <a:grpSpLocks/>
              </p:cNvGrpSpPr>
              <p:nvPr/>
            </p:nvGrpSpPr>
            <p:grpSpPr bwMode="auto">
              <a:xfrm>
                <a:off x="3483" y="1724"/>
                <a:ext cx="178" cy="194"/>
                <a:chOff x="894" y="2564"/>
                <a:chExt cx="178" cy="194"/>
              </a:xfrm>
            </p:grpSpPr>
            <p:sp>
              <p:nvSpPr>
                <p:cNvPr id="68" name="Oval 84"/>
                <p:cNvSpPr>
                  <a:spLocks noChangeArrowheads="1"/>
                </p:cNvSpPr>
                <p:nvPr/>
              </p:nvSpPr>
              <p:spPr bwMode="auto">
                <a:xfrm>
                  <a:off x="894" y="2582"/>
                  <a:ext cx="177" cy="17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69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897" y="2564"/>
                  <a:ext cx="175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9pPr>
                </a:lstStyle>
                <a:p>
                  <a:pPr algn="l" eaLnBrk="1" hangingPunct="1"/>
                  <a:r>
                    <a:rPr lang="en-US" altLang="en-US" sz="1400" b="0">
                      <a:solidFill>
                        <a:srgbClr val="0000FF"/>
                      </a:solidFill>
                      <a:latin typeface="Tahoma" panose="020B0604030504040204" pitchFamily="34" charset="0"/>
                      <a:cs typeface="Times New Roman" panose="02020603050405020304" pitchFamily="18" charset="0"/>
                    </a:rPr>
                    <a:t>a</a:t>
                  </a:r>
                </a:p>
              </p:txBody>
            </p:sp>
          </p:grpSp>
          <p:grpSp>
            <p:nvGrpSpPr>
              <p:cNvPr id="49" name="Group 86"/>
              <p:cNvGrpSpPr>
                <a:grpSpLocks/>
              </p:cNvGrpSpPr>
              <p:nvPr/>
            </p:nvGrpSpPr>
            <p:grpSpPr bwMode="auto">
              <a:xfrm>
                <a:off x="4264" y="1731"/>
                <a:ext cx="181" cy="194"/>
                <a:chOff x="894" y="2564"/>
                <a:chExt cx="181" cy="194"/>
              </a:xfrm>
            </p:grpSpPr>
            <p:sp>
              <p:nvSpPr>
                <p:cNvPr id="66" name="Oval 87"/>
                <p:cNvSpPr>
                  <a:spLocks noChangeArrowheads="1"/>
                </p:cNvSpPr>
                <p:nvPr/>
              </p:nvSpPr>
              <p:spPr bwMode="auto">
                <a:xfrm>
                  <a:off x="894" y="2582"/>
                  <a:ext cx="177" cy="17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67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897" y="2564"/>
                  <a:ext cx="17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9pPr>
                </a:lstStyle>
                <a:p>
                  <a:pPr algn="l" eaLnBrk="1" hangingPunct="1"/>
                  <a:r>
                    <a:rPr lang="en-US" altLang="en-US" sz="1400" b="0" dirty="0">
                      <a:solidFill>
                        <a:srgbClr val="0000FF"/>
                      </a:solidFill>
                      <a:latin typeface="Tahoma" panose="020B0604030504040204" pitchFamily="34" charset="0"/>
                      <a:cs typeface="Times New Roman" panose="02020603050405020304" pitchFamily="18" charset="0"/>
                    </a:rPr>
                    <a:t>b</a:t>
                  </a:r>
                </a:p>
              </p:txBody>
            </p:sp>
          </p:grpSp>
          <p:grpSp>
            <p:nvGrpSpPr>
              <p:cNvPr id="50" name="Group 89"/>
              <p:cNvGrpSpPr>
                <a:grpSpLocks/>
              </p:cNvGrpSpPr>
              <p:nvPr/>
            </p:nvGrpSpPr>
            <p:grpSpPr bwMode="auto">
              <a:xfrm>
                <a:off x="3459" y="2369"/>
                <a:ext cx="181" cy="194"/>
                <a:chOff x="894" y="2564"/>
                <a:chExt cx="181" cy="194"/>
              </a:xfrm>
            </p:grpSpPr>
            <p:sp>
              <p:nvSpPr>
                <p:cNvPr id="64" name="Oval 90"/>
                <p:cNvSpPr>
                  <a:spLocks noChangeArrowheads="1"/>
                </p:cNvSpPr>
                <p:nvPr/>
              </p:nvSpPr>
              <p:spPr bwMode="auto">
                <a:xfrm>
                  <a:off x="894" y="2582"/>
                  <a:ext cx="177" cy="17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65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897" y="2564"/>
                  <a:ext cx="17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9pPr>
                </a:lstStyle>
                <a:p>
                  <a:pPr algn="l" eaLnBrk="1" hangingPunct="1"/>
                  <a:r>
                    <a:rPr lang="en-US" altLang="en-US" sz="1400" b="0">
                      <a:solidFill>
                        <a:srgbClr val="0000FF"/>
                      </a:solidFill>
                      <a:latin typeface="Tahoma" panose="020B0604030504040204" pitchFamily="34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</p:grpSp>
          <p:grpSp>
            <p:nvGrpSpPr>
              <p:cNvPr id="51" name="Group 92"/>
              <p:cNvGrpSpPr>
                <a:grpSpLocks/>
              </p:cNvGrpSpPr>
              <p:nvPr/>
            </p:nvGrpSpPr>
            <p:grpSpPr bwMode="auto">
              <a:xfrm>
                <a:off x="4267" y="2357"/>
                <a:ext cx="178" cy="194"/>
                <a:chOff x="894" y="2564"/>
                <a:chExt cx="178" cy="194"/>
              </a:xfrm>
            </p:grpSpPr>
            <p:sp>
              <p:nvSpPr>
                <p:cNvPr id="62" name="Oval 93"/>
                <p:cNvSpPr>
                  <a:spLocks noChangeArrowheads="1"/>
                </p:cNvSpPr>
                <p:nvPr/>
              </p:nvSpPr>
              <p:spPr bwMode="auto">
                <a:xfrm>
                  <a:off x="894" y="2582"/>
                  <a:ext cx="177" cy="17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63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897" y="2564"/>
                  <a:ext cx="175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9pPr>
                </a:lstStyle>
                <a:p>
                  <a:pPr algn="l" eaLnBrk="1" hangingPunct="1"/>
                  <a:r>
                    <a:rPr lang="en-US" altLang="en-US" sz="1400" b="0">
                      <a:solidFill>
                        <a:srgbClr val="0000FF"/>
                      </a:solidFill>
                      <a:latin typeface="Tahoma" panose="020B0604030504040204" pitchFamily="34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</p:grpSp>
          <p:grpSp>
            <p:nvGrpSpPr>
              <p:cNvPr id="52" name="Group 95"/>
              <p:cNvGrpSpPr>
                <a:grpSpLocks/>
              </p:cNvGrpSpPr>
              <p:nvPr/>
            </p:nvGrpSpPr>
            <p:grpSpPr bwMode="auto">
              <a:xfrm>
                <a:off x="3861" y="2101"/>
                <a:ext cx="177" cy="194"/>
                <a:chOff x="894" y="2564"/>
                <a:chExt cx="177" cy="194"/>
              </a:xfrm>
            </p:grpSpPr>
            <p:sp>
              <p:nvSpPr>
                <p:cNvPr id="60" name="Oval 96"/>
                <p:cNvSpPr>
                  <a:spLocks noChangeArrowheads="1"/>
                </p:cNvSpPr>
                <p:nvPr/>
              </p:nvSpPr>
              <p:spPr bwMode="auto">
                <a:xfrm>
                  <a:off x="894" y="2582"/>
                  <a:ext cx="177" cy="17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61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897" y="2564"/>
                  <a:ext cx="168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Monospac821 BT" pitchFamily="49" charset="0"/>
                    </a:defRPr>
                  </a:lvl9pPr>
                </a:lstStyle>
                <a:p>
                  <a:pPr algn="l" eaLnBrk="1" hangingPunct="1"/>
                  <a:r>
                    <a:rPr lang="en-US" altLang="en-US" sz="1400" b="0">
                      <a:solidFill>
                        <a:srgbClr val="0000FF"/>
                      </a:solidFill>
                      <a:latin typeface="Tahoma" panose="020B0604030504040204" pitchFamily="34" charset="0"/>
                      <a:cs typeface="Times New Roman" panose="02020603050405020304" pitchFamily="18" charset="0"/>
                    </a:rPr>
                    <a:t>c</a:t>
                  </a:r>
                </a:p>
              </p:txBody>
            </p:sp>
          </p:grpSp>
          <p:sp>
            <p:nvSpPr>
              <p:cNvPr id="53" name="Line 98"/>
              <p:cNvSpPr>
                <a:spLocks noChangeShapeType="1"/>
              </p:cNvSpPr>
              <p:nvPr/>
            </p:nvSpPr>
            <p:spPr bwMode="auto">
              <a:xfrm>
                <a:off x="3653" y="1830"/>
                <a:ext cx="61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4" name="Line 99"/>
              <p:cNvSpPr>
                <a:spLocks noChangeShapeType="1"/>
              </p:cNvSpPr>
              <p:nvPr/>
            </p:nvSpPr>
            <p:spPr bwMode="auto">
              <a:xfrm>
                <a:off x="3551" y="1918"/>
                <a:ext cx="0" cy="4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5" name="Line 100"/>
              <p:cNvSpPr>
                <a:spLocks noChangeShapeType="1"/>
              </p:cNvSpPr>
              <p:nvPr/>
            </p:nvSpPr>
            <p:spPr bwMode="auto">
              <a:xfrm>
                <a:off x="3639" y="2467"/>
                <a:ext cx="63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" name="Line 101"/>
              <p:cNvSpPr>
                <a:spLocks noChangeShapeType="1"/>
              </p:cNvSpPr>
              <p:nvPr/>
            </p:nvSpPr>
            <p:spPr bwMode="auto">
              <a:xfrm>
                <a:off x="4351" y="1925"/>
                <a:ext cx="0" cy="44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7" name="Line 102"/>
              <p:cNvSpPr>
                <a:spLocks noChangeShapeType="1"/>
              </p:cNvSpPr>
              <p:nvPr/>
            </p:nvSpPr>
            <p:spPr bwMode="auto">
              <a:xfrm>
                <a:off x="3633" y="1891"/>
                <a:ext cx="257" cy="25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8" name="Line 103"/>
              <p:cNvSpPr>
                <a:spLocks noChangeShapeType="1"/>
              </p:cNvSpPr>
              <p:nvPr/>
            </p:nvSpPr>
            <p:spPr bwMode="auto">
              <a:xfrm>
                <a:off x="4032" y="2250"/>
                <a:ext cx="258" cy="1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9" name="Line 104"/>
              <p:cNvSpPr>
                <a:spLocks noChangeShapeType="1"/>
              </p:cNvSpPr>
              <p:nvPr/>
            </p:nvSpPr>
            <p:spPr bwMode="auto">
              <a:xfrm flipV="1">
                <a:off x="3605" y="2257"/>
                <a:ext cx="272" cy="1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34" name="Text Box 105"/>
            <p:cNvSpPr txBox="1">
              <a:spLocks noChangeArrowheads="1"/>
            </p:cNvSpPr>
            <p:nvPr/>
          </p:nvSpPr>
          <p:spPr bwMode="auto">
            <a:xfrm>
              <a:off x="606" y="2603"/>
              <a:ext cx="1450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 algn="l" eaLnBrk="1" hangingPunct="1"/>
              <a:r>
                <a:rPr lang="en-US" altLang="en-US" sz="1800" b="0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Vertex </a:t>
              </a:r>
              <a:r>
                <a:rPr lang="en-US" altLang="en-US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1800" b="0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is adjacent to </a:t>
              </a:r>
              <a:r>
                <a:rPr lang="en-US" altLang="en-US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1800" b="0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and</a:t>
              </a:r>
            </a:p>
            <a:p>
              <a:pPr algn="l" eaLnBrk="1" hangingPunct="1"/>
              <a:r>
                <a:rPr lang="en-US" altLang="en-US" sz="1800" b="0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Vertex</a:t>
              </a:r>
              <a:r>
                <a:rPr lang="en-US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1800" b="0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is adjacent to </a:t>
              </a:r>
              <a:r>
                <a:rPr lang="en-US" altLang="en-US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5" name="Text Box 106"/>
            <p:cNvSpPr txBox="1">
              <a:spLocks noChangeArrowheads="1"/>
            </p:cNvSpPr>
            <p:nvPr/>
          </p:nvSpPr>
          <p:spPr bwMode="auto">
            <a:xfrm>
              <a:off x="3176" y="2618"/>
              <a:ext cx="150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 algn="l" eaLnBrk="1" hangingPunct="1"/>
              <a:r>
                <a:rPr lang="en-US" altLang="en-US" sz="1800" b="0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Vertex</a:t>
              </a:r>
              <a:r>
                <a:rPr lang="en-US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1800" b="0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is adjacent to </a:t>
              </a:r>
              <a:r>
                <a:rPr lang="en-US" altLang="en-US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en-US" sz="1800" b="0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but</a:t>
              </a:r>
            </a:p>
            <a:p>
              <a:pPr algn="l" eaLnBrk="1" hangingPunct="1"/>
              <a:r>
                <a:rPr lang="en-US" altLang="en-US" sz="1800" b="0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Vertex</a:t>
              </a:r>
              <a:r>
                <a:rPr lang="en-US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1800" b="0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is NOT adjacent to </a:t>
              </a:r>
              <a:r>
                <a:rPr lang="en-US" altLang="en-US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488728" y="3701863"/>
            <a:ext cx="1084904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A Path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is 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of edges in the graph</a:t>
            </a:r>
          </a:p>
          <a:p>
            <a:pPr lvl="1">
              <a:buClr>
                <a:schemeClr val="accent1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can be more than one path between two vertices. Paths from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</a:p>
          <a:p>
            <a:pPr lvl="1">
              <a:buClr>
                <a:schemeClr val="accent1">
                  <a:lumMod val="75000"/>
                </a:schemeClr>
              </a:buCl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One path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 b, e </a:t>
            </a:r>
          </a:p>
          <a:p>
            <a:pPr lvl="1">
              <a:buClr>
                <a:schemeClr val="accent1">
                  <a:lumMod val="75000"/>
                </a:schemeClr>
              </a:buCl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Another path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 c, d, e</a:t>
            </a:r>
          </a:p>
          <a:p>
            <a:pPr marL="742950" lvl="1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Vertex u is reachable from v if there is a path from v to u.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1003" y="4293062"/>
            <a:ext cx="2792492" cy="15621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88727" y="5444607"/>
            <a:ext cx="76168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path is the sum of the lengths of the edges on the path.</a:t>
            </a:r>
          </a:p>
          <a:p>
            <a:pPr lvl="1" algn="just">
              <a:buClr>
                <a:schemeClr val="accent1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Length of the path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a,c,d,e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is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8625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8761269" y="1541457"/>
            <a:ext cx="2953555" cy="1594262"/>
            <a:chOff x="861" y="2190"/>
            <a:chExt cx="2085" cy="1593"/>
          </a:xfrm>
        </p:grpSpPr>
        <p:sp>
          <p:nvSpPr>
            <p:cNvPr id="20487" name="Oval 34"/>
            <p:cNvSpPr>
              <a:spLocks noChangeArrowheads="1"/>
            </p:cNvSpPr>
            <p:nvPr/>
          </p:nvSpPr>
          <p:spPr bwMode="auto">
            <a:xfrm>
              <a:off x="1200" y="2277"/>
              <a:ext cx="384" cy="3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20488" name="Oval 35"/>
            <p:cNvSpPr>
              <a:spLocks noChangeArrowheads="1"/>
            </p:cNvSpPr>
            <p:nvPr/>
          </p:nvSpPr>
          <p:spPr bwMode="auto">
            <a:xfrm>
              <a:off x="1910" y="2723"/>
              <a:ext cx="384" cy="3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2</a:t>
              </a:r>
            </a:p>
          </p:txBody>
        </p:sp>
        <p:sp>
          <p:nvSpPr>
            <p:cNvPr id="20489" name="Oval 36"/>
            <p:cNvSpPr>
              <a:spLocks noChangeArrowheads="1"/>
            </p:cNvSpPr>
            <p:nvPr/>
          </p:nvSpPr>
          <p:spPr bwMode="auto">
            <a:xfrm>
              <a:off x="2562" y="2190"/>
              <a:ext cx="384" cy="3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3</a:t>
              </a:r>
            </a:p>
          </p:txBody>
        </p:sp>
        <p:sp>
          <p:nvSpPr>
            <p:cNvPr id="20490" name="Oval 37"/>
            <p:cNvSpPr>
              <a:spLocks noChangeArrowheads="1"/>
            </p:cNvSpPr>
            <p:nvPr/>
          </p:nvSpPr>
          <p:spPr bwMode="auto">
            <a:xfrm>
              <a:off x="861" y="3063"/>
              <a:ext cx="384" cy="3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4</a:t>
              </a:r>
            </a:p>
          </p:txBody>
        </p:sp>
        <p:sp>
          <p:nvSpPr>
            <p:cNvPr id="20491" name="Oval 38"/>
            <p:cNvSpPr>
              <a:spLocks noChangeArrowheads="1"/>
            </p:cNvSpPr>
            <p:nvPr/>
          </p:nvSpPr>
          <p:spPr bwMode="auto">
            <a:xfrm>
              <a:off x="2352" y="3399"/>
              <a:ext cx="384" cy="3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5</a:t>
              </a:r>
            </a:p>
          </p:txBody>
        </p:sp>
        <p:sp>
          <p:nvSpPr>
            <p:cNvPr id="20492" name="Line 39"/>
            <p:cNvSpPr>
              <a:spLocks noChangeShapeType="1"/>
            </p:cNvSpPr>
            <p:nvPr/>
          </p:nvSpPr>
          <p:spPr bwMode="auto">
            <a:xfrm>
              <a:off x="1584" y="2418"/>
              <a:ext cx="9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 type="triangle" w="med" len="med"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0493" name="Line 40"/>
            <p:cNvSpPr>
              <a:spLocks noChangeShapeType="1"/>
            </p:cNvSpPr>
            <p:nvPr/>
          </p:nvSpPr>
          <p:spPr bwMode="auto">
            <a:xfrm>
              <a:off x="1488" y="2640"/>
              <a:ext cx="432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 type="triangle" w="med" len="med"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0494" name="Line 41"/>
            <p:cNvSpPr>
              <a:spLocks noChangeShapeType="1"/>
            </p:cNvSpPr>
            <p:nvPr/>
          </p:nvSpPr>
          <p:spPr bwMode="auto">
            <a:xfrm>
              <a:off x="1248" y="3264"/>
              <a:ext cx="1104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0495" name="Line 42"/>
            <p:cNvSpPr>
              <a:spLocks noChangeShapeType="1"/>
            </p:cNvSpPr>
            <p:nvPr/>
          </p:nvSpPr>
          <p:spPr bwMode="auto">
            <a:xfrm flipH="1">
              <a:off x="1104" y="2640"/>
              <a:ext cx="192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0496" name="Line 43"/>
            <p:cNvSpPr>
              <a:spLocks noChangeShapeType="1"/>
            </p:cNvSpPr>
            <p:nvPr/>
          </p:nvSpPr>
          <p:spPr bwMode="auto">
            <a:xfrm flipH="1">
              <a:off x="2256" y="2535"/>
              <a:ext cx="384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0497" name="Line 44"/>
            <p:cNvSpPr>
              <a:spLocks noChangeShapeType="1"/>
            </p:cNvSpPr>
            <p:nvPr/>
          </p:nvSpPr>
          <p:spPr bwMode="auto">
            <a:xfrm flipH="1">
              <a:off x="2595" y="2583"/>
              <a:ext cx="144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ar-JO"/>
            </a:p>
          </p:txBody>
        </p:sp>
      </p:grpSp>
      <p:sp>
        <p:nvSpPr>
          <p:cNvPr id="20486" name="Slide Number Placeholder 36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fld id="{ED3A51AB-3E37-4B5C-B208-1D4A51660A4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168559" y="1181266"/>
            <a:ext cx="11288502" cy="311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79000"/>
              </a:lnSpc>
              <a:buClr>
                <a:srgbClr val="002060"/>
              </a:buClr>
              <a:buFont typeface="Wingdings" panose="05000000000000000000" pitchFamily="2" charset="2"/>
              <a:buChar char="q"/>
              <a:defRPr/>
            </a:pP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 simple path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is a path such that all vertices are distinct</a:t>
            </a:r>
            <a:r>
              <a:rPr lang="ar-JO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799" y="1485677"/>
            <a:ext cx="6096000" cy="7848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spcBef>
                <a:spcPct val="5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1,4,5,3</a:t>
            </a:r>
            <a:r>
              <a:rPr lang="en-US" dirty="0"/>
              <a:t> is </a:t>
            </a:r>
            <a:r>
              <a:rPr lang="en-US" dirty="0">
                <a:solidFill>
                  <a:srgbClr val="002060"/>
                </a:solidFill>
              </a:rPr>
              <a:t>a simple path. </a:t>
            </a:r>
          </a:p>
          <a:p>
            <a:pPr marL="285750" indent="-285750">
              <a:spcBef>
                <a:spcPct val="50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/>
              <a:t>But </a:t>
            </a:r>
            <a:r>
              <a:rPr lang="en-US" dirty="0">
                <a:solidFill>
                  <a:srgbClr val="002060"/>
                </a:solidFill>
              </a:rPr>
              <a:t>1,4,5,4</a:t>
            </a:r>
            <a:r>
              <a:rPr lang="en-US" dirty="0"/>
              <a:t> is </a:t>
            </a:r>
            <a:r>
              <a:rPr lang="en-US" dirty="0">
                <a:solidFill>
                  <a:srgbClr val="002060"/>
                </a:solidFill>
              </a:rPr>
              <a:t>not a simple path</a:t>
            </a:r>
            <a:r>
              <a:rPr lang="en-US" dirty="0"/>
              <a:t>.</a:t>
            </a:r>
          </a:p>
        </p:txBody>
      </p:sp>
      <p:sp>
        <p:nvSpPr>
          <p:cNvPr id="38" name="Rectangle 30"/>
          <p:cNvSpPr>
            <a:spLocks noChangeArrowheads="1"/>
          </p:cNvSpPr>
          <p:nvPr/>
        </p:nvSpPr>
        <p:spPr bwMode="auto">
          <a:xfrm>
            <a:off x="176203" y="291606"/>
            <a:ext cx="5791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Cont…..</a:t>
            </a:r>
          </a:p>
        </p:txBody>
      </p:sp>
      <p:sp>
        <p:nvSpPr>
          <p:cNvPr id="39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195879" y="4604621"/>
            <a:ext cx="11353800" cy="558958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  <a:defRPr/>
            </a:pPr>
            <a:r>
              <a:rPr lang="en-US" sz="1800" dirty="0">
                <a:sym typeface="Symbol" pitchFamily="18" charset="2"/>
              </a:rPr>
              <a:t>   </a:t>
            </a:r>
            <a:r>
              <a:rPr lang="en-US" sz="1800" b="1" i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Loops </a:t>
            </a:r>
            <a:r>
              <a:rPr lang="en-US" sz="1800" i="1" dirty="0"/>
              <a:t>or</a:t>
            </a:r>
            <a:r>
              <a:rPr lang="en-US" sz="1800" b="1" i="1" dirty="0">
                <a:solidFill>
                  <a:schemeClr val="accent5">
                    <a:lumMod val="75000"/>
                  </a:schemeClr>
                </a:solidFill>
              </a:rPr>
              <a:t> self edges: </a:t>
            </a:r>
            <a:r>
              <a:rPr lang="en-US" sz="1800" dirty="0"/>
              <a:t>an edge (v , v) is called a self edge or a loop.</a:t>
            </a:r>
          </a:p>
          <a:p>
            <a:pPr lvl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en-US" sz="1500" dirty="0"/>
              <a:t> </a:t>
            </a:r>
            <a:r>
              <a:rPr lang="en-US" dirty="0"/>
              <a:t>( </a:t>
            </a:r>
            <a:r>
              <a:rPr lang="en-US" dirty="0">
                <a:solidFill>
                  <a:srgbClr val="002060"/>
                </a:solidFill>
              </a:rPr>
              <a:t>1,1</a:t>
            </a:r>
            <a:r>
              <a:rPr lang="en-US" dirty="0"/>
              <a:t> ) and ( </a:t>
            </a:r>
            <a:r>
              <a:rPr lang="en-US" dirty="0">
                <a:solidFill>
                  <a:srgbClr val="002060"/>
                </a:solidFill>
              </a:rPr>
              <a:t>4,4</a:t>
            </a:r>
            <a:r>
              <a:rPr lang="en-US" dirty="0"/>
              <a:t> ) are self edges</a:t>
            </a:r>
            <a:endParaRPr lang="en-US" dirty="0">
              <a:sym typeface="Symbol" pitchFamily="18" charset="2"/>
            </a:endParaRPr>
          </a:p>
          <a:p>
            <a:pPr marL="0" indent="0">
              <a:buClr>
                <a:srgbClr val="002060"/>
              </a:buClr>
              <a:buNone/>
              <a:defRPr/>
            </a:pPr>
            <a:endParaRPr lang="en-US" dirty="0">
              <a:sym typeface="Symbol" pitchFamily="18" charset="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5879" y="2302422"/>
            <a:ext cx="1196421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Circuit:</a:t>
            </a:r>
            <a:r>
              <a:rPr lang="en-US" dirty="0"/>
              <a:t> A path whose first and last vertices are the same.</a:t>
            </a:r>
          </a:p>
          <a:p>
            <a:pPr lvl="1" algn="just">
              <a:buClr>
                <a:schemeClr val="accent1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dirty="0"/>
              <a:t>  The path 3,2,1,4,5,3 is </a:t>
            </a:r>
            <a:r>
              <a:rPr lang="en-US" dirty="0">
                <a:solidFill>
                  <a:srgbClr val="002060"/>
                </a:solidFill>
              </a:rPr>
              <a:t>a circuit.</a:t>
            </a:r>
          </a:p>
          <a:p>
            <a:pPr lvl="1" algn="just">
              <a:buClr>
                <a:schemeClr val="accent1">
                  <a:lumMod val="75000"/>
                </a:schemeClr>
              </a:buClr>
            </a:pPr>
            <a:endParaRPr lang="en-US" dirty="0">
              <a:solidFill>
                <a:srgbClr val="002060"/>
              </a:solidFill>
            </a:endParaRPr>
          </a:p>
          <a:p>
            <a:pPr marL="285750" indent="-285750" algn="just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Cycle: </a:t>
            </a:r>
            <a:r>
              <a:rPr lang="en-US" dirty="0"/>
              <a:t>A circuit where all the vertices are distinct except for the first (and the last) vertex.</a:t>
            </a:r>
          </a:p>
          <a:p>
            <a:pPr marL="742950" lvl="1" indent="-28575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1,4,5,3,1</a:t>
            </a:r>
            <a:r>
              <a:rPr lang="en-US" dirty="0"/>
              <a:t> is </a:t>
            </a:r>
            <a:r>
              <a:rPr lang="en-US" dirty="0">
                <a:solidFill>
                  <a:srgbClr val="002060"/>
                </a:solidFill>
              </a:rPr>
              <a:t>a cycle</a:t>
            </a:r>
            <a:r>
              <a:rPr lang="en-US" dirty="0"/>
              <a:t>, but </a:t>
            </a:r>
            <a:r>
              <a:rPr lang="en-US" dirty="0">
                <a:solidFill>
                  <a:srgbClr val="002060"/>
                </a:solidFill>
              </a:rPr>
              <a:t>1,4,5,4,1</a:t>
            </a:r>
            <a:r>
              <a:rPr lang="en-US" dirty="0"/>
              <a:t> is </a:t>
            </a:r>
            <a:r>
              <a:rPr lang="en-US" dirty="0">
                <a:solidFill>
                  <a:srgbClr val="002060"/>
                </a:solidFill>
              </a:rPr>
              <a:t>not a cycle.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913" y="3881007"/>
            <a:ext cx="99896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Hamiltonian Cycle: </a:t>
            </a:r>
            <a:r>
              <a:rPr lang="en-US" dirty="0"/>
              <a:t>A Cycle that contains all the vertices of the graph.</a:t>
            </a:r>
          </a:p>
          <a:p>
            <a:pPr lvl="1" algn="just">
              <a:buClr>
                <a:schemeClr val="accent1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dirty="0"/>
              <a:t>  </a:t>
            </a:r>
            <a:r>
              <a:rPr lang="en-US" dirty="0">
                <a:solidFill>
                  <a:srgbClr val="002060"/>
                </a:solidFill>
              </a:rPr>
              <a:t>1,4,5,3,2,1</a:t>
            </a:r>
            <a:r>
              <a:rPr lang="en-US" dirty="0"/>
              <a:t> is </a:t>
            </a:r>
            <a:r>
              <a:rPr lang="en-US" dirty="0">
                <a:solidFill>
                  <a:srgbClr val="002060"/>
                </a:solidFill>
              </a:rPr>
              <a:t>a Hamiltonian Cycle</a:t>
            </a:r>
            <a:r>
              <a:rPr lang="en-US" dirty="0"/>
              <a:t>.</a:t>
            </a:r>
          </a:p>
        </p:txBody>
      </p:sp>
      <p:grpSp>
        <p:nvGrpSpPr>
          <p:cNvPr id="43" name="Group 20"/>
          <p:cNvGrpSpPr>
            <a:grpSpLocks/>
          </p:cNvGrpSpPr>
          <p:nvPr/>
        </p:nvGrpSpPr>
        <p:grpSpPr bwMode="auto">
          <a:xfrm>
            <a:off x="8247760" y="3261760"/>
            <a:ext cx="3810000" cy="1544638"/>
            <a:chOff x="1008" y="2320"/>
            <a:chExt cx="2560" cy="1776"/>
          </a:xfrm>
        </p:grpSpPr>
        <p:sp>
          <p:nvSpPr>
            <p:cNvPr id="44" name="Oval 21"/>
            <p:cNvSpPr>
              <a:spLocks noChangeArrowheads="1"/>
            </p:cNvSpPr>
            <p:nvPr/>
          </p:nvSpPr>
          <p:spPr bwMode="auto">
            <a:xfrm>
              <a:off x="1824" y="2576"/>
              <a:ext cx="384" cy="3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45" name="Oval 22"/>
            <p:cNvSpPr>
              <a:spLocks noChangeArrowheads="1"/>
            </p:cNvSpPr>
            <p:nvPr/>
          </p:nvSpPr>
          <p:spPr bwMode="auto">
            <a:xfrm>
              <a:off x="2532" y="3016"/>
              <a:ext cx="384" cy="3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2</a:t>
              </a:r>
            </a:p>
          </p:txBody>
        </p:sp>
        <p:sp>
          <p:nvSpPr>
            <p:cNvPr id="46" name="Oval 23"/>
            <p:cNvSpPr>
              <a:spLocks noChangeArrowheads="1"/>
            </p:cNvSpPr>
            <p:nvPr/>
          </p:nvSpPr>
          <p:spPr bwMode="auto">
            <a:xfrm>
              <a:off x="3184" y="2488"/>
              <a:ext cx="384" cy="3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3</a:t>
              </a:r>
            </a:p>
          </p:txBody>
        </p:sp>
        <p:sp>
          <p:nvSpPr>
            <p:cNvPr id="47" name="Oval 24"/>
            <p:cNvSpPr>
              <a:spLocks noChangeArrowheads="1"/>
            </p:cNvSpPr>
            <p:nvPr/>
          </p:nvSpPr>
          <p:spPr bwMode="auto">
            <a:xfrm>
              <a:off x="1464" y="3360"/>
              <a:ext cx="384" cy="3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4</a:t>
              </a:r>
            </a:p>
          </p:txBody>
        </p:sp>
        <p:sp>
          <p:nvSpPr>
            <p:cNvPr id="48" name="Oval 25"/>
            <p:cNvSpPr>
              <a:spLocks noChangeArrowheads="1"/>
            </p:cNvSpPr>
            <p:nvPr/>
          </p:nvSpPr>
          <p:spPr bwMode="auto">
            <a:xfrm>
              <a:off x="2968" y="3672"/>
              <a:ext cx="384" cy="3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5</a:t>
              </a:r>
            </a:p>
          </p:txBody>
        </p:sp>
        <p:sp>
          <p:nvSpPr>
            <p:cNvPr id="49" name="Line 26"/>
            <p:cNvSpPr>
              <a:spLocks noChangeShapeType="1"/>
            </p:cNvSpPr>
            <p:nvPr/>
          </p:nvSpPr>
          <p:spPr bwMode="auto">
            <a:xfrm>
              <a:off x="2208" y="2704"/>
              <a:ext cx="9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50" name="Line 27"/>
            <p:cNvSpPr>
              <a:spLocks noChangeShapeType="1"/>
            </p:cNvSpPr>
            <p:nvPr/>
          </p:nvSpPr>
          <p:spPr bwMode="auto">
            <a:xfrm>
              <a:off x="2112" y="2928"/>
              <a:ext cx="432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51" name="Line 28"/>
            <p:cNvSpPr>
              <a:spLocks noChangeShapeType="1"/>
            </p:cNvSpPr>
            <p:nvPr/>
          </p:nvSpPr>
          <p:spPr bwMode="auto">
            <a:xfrm>
              <a:off x="1856" y="3600"/>
              <a:ext cx="1104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52" name="Line 29"/>
            <p:cNvSpPr>
              <a:spLocks noChangeShapeType="1"/>
            </p:cNvSpPr>
            <p:nvPr/>
          </p:nvSpPr>
          <p:spPr bwMode="auto">
            <a:xfrm flipH="1">
              <a:off x="1776" y="2928"/>
              <a:ext cx="144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53" name="Line 30"/>
            <p:cNvSpPr>
              <a:spLocks noChangeShapeType="1"/>
            </p:cNvSpPr>
            <p:nvPr/>
          </p:nvSpPr>
          <p:spPr bwMode="auto">
            <a:xfrm flipH="1">
              <a:off x="2880" y="2832"/>
              <a:ext cx="384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54" name="Line 31"/>
            <p:cNvSpPr>
              <a:spLocks noChangeShapeType="1"/>
            </p:cNvSpPr>
            <p:nvPr/>
          </p:nvSpPr>
          <p:spPr bwMode="auto">
            <a:xfrm flipH="1">
              <a:off x="3264" y="2880"/>
              <a:ext cx="144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55" name="Freeform 32"/>
            <p:cNvSpPr>
              <a:spLocks/>
            </p:cNvSpPr>
            <p:nvPr/>
          </p:nvSpPr>
          <p:spPr bwMode="auto">
            <a:xfrm>
              <a:off x="1008" y="3504"/>
              <a:ext cx="760" cy="592"/>
            </a:xfrm>
            <a:custGeom>
              <a:avLst/>
              <a:gdLst>
                <a:gd name="T0" fmla="*/ 656 w 760"/>
                <a:gd name="T1" fmla="*/ 240 h 592"/>
                <a:gd name="T2" fmla="*/ 656 w 760"/>
                <a:gd name="T3" fmla="*/ 576 h 592"/>
                <a:gd name="T4" fmla="*/ 32 w 760"/>
                <a:gd name="T5" fmla="*/ 336 h 592"/>
                <a:gd name="T6" fmla="*/ 464 w 760"/>
                <a:gd name="T7" fmla="*/ 0 h 5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0"/>
                <a:gd name="T13" fmla="*/ 0 h 592"/>
                <a:gd name="T14" fmla="*/ 760 w 760"/>
                <a:gd name="T15" fmla="*/ 592 h 5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0" h="592">
                  <a:moveTo>
                    <a:pt x="656" y="240"/>
                  </a:moveTo>
                  <a:cubicBezTo>
                    <a:pt x="708" y="400"/>
                    <a:pt x="760" y="560"/>
                    <a:pt x="656" y="576"/>
                  </a:cubicBezTo>
                  <a:cubicBezTo>
                    <a:pt x="552" y="592"/>
                    <a:pt x="64" y="432"/>
                    <a:pt x="32" y="336"/>
                  </a:cubicBezTo>
                  <a:cubicBezTo>
                    <a:pt x="0" y="240"/>
                    <a:pt x="376" y="56"/>
                    <a:pt x="464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56" name="Freeform 33"/>
            <p:cNvSpPr>
              <a:spLocks/>
            </p:cNvSpPr>
            <p:nvPr/>
          </p:nvSpPr>
          <p:spPr bwMode="auto">
            <a:xfrm>
              <a:off x="1464" y="2320"/>
              <a:ext cx="592" cy="520"/>
            </a:xfrm>
            <a:custGeom>
              <a:avLst/>
              <a:gdLst>
                <a:gd name="T0" fmla="*/ 568 w 592"/>
                <a:gd name="T1" fmla="*/ 256 h 520"/>
                <a:gd name="T2" fmla="*/ 520 w 592"/>
                <a:gd name="T3" fmla="*/ 64 h 520"/>
                <a:gd name="T4" fmla="*/ 136 w 592"/>
                <a:gd name="T5" fmla="*/ 64 h 520"/>
                <a:gd name="T6" fmla="*/ 40 w 592"/>
                <a:gd name="T7" fmla="*/ 448 h 520"/>
                <a:gd name="T8" fmla="*/ 376 w 592"/>
                <a:gd name="T9" fmla="*/ 496 h 5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92"/>
                <a:gd name="T16" fmla="*/ 0 h 520"/>
                <a:gd name="T17" fmla="*/ 592 w 592"/>
                <a:gd name="T18" fmla="*/ 520 h 5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92" h="520">
                  <a:moveTo>
                    <a:pt x="568" y="256"/>
                  </a:moveTo>
                  <a:cubicBezTo>
                    <a:pt x="580" y="176"/>
                    <a:pt x="592" y="96"/>
                    <a:pt x="520" y="64"/>
                  </a:cubicBezTo>
                  <a:cubicBezTo>
                    <a:pt x="448" y="32"/>
                    <a:pt x="216" y="0"/>
                    <a:pt x="136" y="64"/>
                  </a:cubicBezTo>
                  <a:cubicBezTo>
                    <a:pt x="56" y="128"/>
                    <a:pt x="0" y="376"/>
                    <a:pt x="40" y="448"/>
                  </a:cubicBezTo>
                  <a:cubicBezTo>
                    <a:pt x="80" y="520"/>
                    <a:pt x="328" y="488"/>
                    <a:pt x="376" y="496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/>
            <a:lstStyle/>
            <a:p>
              <a:endParaRPr lang="ar-JO"/>
            </a:p>
          </p:txBody>
        </p:sp>
      </p:grpSp>
      <p:grpSp>
        <p:nvGrpSpPr>
          <p:cNvPr id="57" name="Group 28"/>
          <p:cNvGrpSpPr>
            <a:grpSpLocks/>
          </p:cNvGrpSpPr>
          <p:nvPr/>
        </p:nvGrpSpPr>
        <p:grpSpPr bwMode="auto">
          <a:xfrm>
            <a:off x="8468026" y="4983971"/>
            <a:ext cx="3488531" cy="1409371"/>
            <a:chOff x="1816" y="2544"/>
            <a:chExt cx="2120" cy="1296"/>
          </a:xfrm>
        </p:grpSpPr>
        <p:sp>
          <p:nvSpPr>
            <p:cNvPr id="58" name="Oval 29"/>
            <p:cNvSpPr>
              <a:spLocks noChangeArrowheads="1"/>
            </p:cNvSpPr>
            <p:nvPr/>
          </p:nvSpPr>
          <p:spPr bwMode="auto">
            <a:xfrm>
              <a:off x="2712" y="2544"/>
              <a:ext cx="384" cy="3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59" name="Oval 30"/>
            <p:cNvSpPr>
              <a:spLocks noChangeArrowheads="1"/>
            </p:cNvSpPr>
            <p:nvPr/>
          </p:nvSpPr>
          <p:spPr bwMode="auto">
            <a:xfrm>
              <a:off x="1816" y="3384"/>
              <a:ext cx="384" cy="3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2</a:t>
              </a:r>
            </a:p>
          </p:txBody>
        </p:sp>
        <p:sp>
          <p:nvSpPr>
            <p:cNvPr id="60" name="Oval 31"/>
            <p:cNvSpPr>
              <a:spLocks noChangeArrowheads="1"/>
            </p:cNvSpPr>
            <p:nvPr/>
          </p:nvSpPr>
          <p:spPr bwMode="auto">
            <a:xfrm>
              <a:off x="3552" y="3456"/>
              <a:ext cx="384" cy="3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3</a:t>
              </a:r>
            </a:p>
          </p:txBody>
        </p:sp>
        <p:sp>
          <p:nvSpPr>
            <p:cNvPr id="61" name="Line 32"/>
            <p:cNvSpPr>
              <a:spLocks noChangeShapeType="1"/>
            </p:cNvSpPr>
            <p:nvPr/>
          </p:nvSpPr>
          <p:spPr bwMode="auto">
            <a:xfrm>
              <a:off x="2208" y="3552"/>
              <a:ext cx="13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62" name="Line 33"/>
            <p:cNvSpPr>
              <a:spLocks noChangeShapeType="1"/>
            </p:cNvSpPr>
            <p:nvPr/>
          </p:nvSpPr>
          <p:spPr bwMode="auto">
            <a:xfrm flipH="1">
              <a:off x="2064" y="2832"/>
              <a:ext cx="67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63" name="Freeform 34"/>
            <p:cNvSpPr>
              <a:spLocks/>
            </p:cNvSpPr>
            <p:nvPr/>
          </p:nvSpPr>
          <p:spPr bwMode="auto">
            <a:xfrm>
              <a:off x="1832" y="2640"/>
              <a:ext cx="904" cy="768"/>
            </a:xfrm>
            <a:custGeom>
              <a:avLst/>
              <a:gdLst>
                <a:gd name="T0" fmla="*/ 88 w 904"/>
                <a:gd name="T1" fmla="*/ 768 h 768"/>
                <a:gd name="T2" fmla="*/ 136 w 904"/>
                <a:gd name="T3" fmla="*/ 192 h 768"/>
                <a:gd name="T4" fmla="*/ 904 w 904"/>
                <a:gd name="T5" fmla="*/ 0 h 768"/>
                <a:gd name="T6" fmla="*/ 0 60000 65536"/>
                <a:gd name="T7" fmla="*/ 0 60000 65536"/>
                <a:gd name="T8" fmla="*/ 0 60000 65536"/>
                <a:gd name="T9" fmla="*/ 0 w 904"/>
                <a:gd name="T10" fmla="*/ 0 h 768"/>
                <a:gd name="T11" fmla="*/ 904 w 904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4" h="768">
                  <a:moveTo>
                    <a:pt x="88" y="768"/>
                  </a:moveTo>
                  <a:cubicBezTo>
                    <a:pt x="44" y="544"/>
                    <a:pt x="0" y="320"/>
                    <a:pt x="136" y="192"/>
                  </a:cubicBezTo>
                  <a:cubicBezTo>
                    <a:pt x="272" y="64"/>
                    <a:pt x="588" y="32"/>
                    <a:pt x="904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64" name="Freeform 35"/>
            <p:cNvSpPr>
              <a:spLocks/>
            </p:cNvSpPr>
            <p:nvPr/>
          </p:nvSpPr>
          <p:spPr bwMode="auto">
            <a:xfrm>
              <a:off x="2160" y="2928"/>
              <a:ext cx="768" cy="528"/>
            </a:xfrm>
            <a:custGeom>
              <a:avLst/>
              <a:gdLst>
                <a:gd name="T0" fmla="*/ 0 w 768"/>
                <a:gd name="T1" fmla="*/ 528 h 528"/>
                <a:gd name="T2" fmla="*/ 576 w 768"/>
                <a:gd name="T3" fmla="*/ 432 h 528"/>
                <a:gd name="T4" fmla="*/ 768 w 768"/>
                <a:gd name="T5" fmla="*/ 0 h 528"/>
                <a:gd name="T6" fmla="*/ 0 60000 65536"/>
                <a:gd name="T7" fmla="*/ 0 60000 65536"/>
                <a:gd name="T8" fmla="*/ 0 60000 65536"/>
                <a:gd name="T9" fmla="*/ 0 w 768"/>
                <a:gd name="T10" fmla="*/ 0 h 528"/>
                <a:gd name="T11" fmla="*/ 768 w 768"/>
                <a:gd name="T12" fmla="*/ 528 h 5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8" h="528">
                  <a:moveTo>
                    <a:pt x="0" y="528"/>
                  </a:moveTo>
                  <a:cubicBezTo>
                    <a:pt x="224" y="524"/>
                    <a:pt x="448" y="520"/>
                    <a:pt x="576" y="432"/>
                  </a:cubicBezTo>
                  <a:cubicBezTo>
                    <a:pt x="704" y="344"/>
                    <a:pt x="736" y="172"/>
                    <a:pt x="768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65" name="Line 36"/>
            <p:cNvSpPr>
              <a:spLocks noChangeShapeType="1"/>
            </p:cNvSpPr>
            <p:nvPr/>
          </p:nvSpPr>
          <p:spPr bwMode="auto">
            <a:xfrm>
              <a:off x="3072" y="2832"/>
              <a:ext cx="672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</p:grpSp>
      <p:sp>
        <p:nvSpPr>
          <p:cNvPr id="7" name="Rectangle 6"/>
          <p:cNvSpPr/>
          <p:nvPr/>
        </p:nvSpPr>
        <p:spPr>
          <a:xfrm>
            <a:off x="210086" y="5319749"/>
            <a:ext cx="824477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  <a:defRPr/>
            </a:pPr>
            <a:r>
              <a:rPr lang="en-US" b="1" i="1" dirty="0">
                <a:solidFill>
                  <a:schemeClr val="accent5">
                    <a:lumMod val="75000"/>
                  </a:schemeClr>
                </a:solidFill>
              </a:rPr>
              <a:t>   Parallel edges</a:t>
            </a:r>
          </a:p>
          <a:p>
            <a:pPr marL="742950" lvl="1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en-US" dirty="0"/>
              <a:t>Edges connecting same vertices . Graph that contains  parallel edges said a </a:t>
            </a:r>
            <a:r>
              <a:rPr lang="en-US" dirty="0">
                <a:solidFill>
                  <a:srgbClr val="002060"/>
                </a:solidFill>
              </a:rPr>
              <a:t>Multigraph.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  <a:defRPr/>
            </a:pP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sym typeface="Symbol" pitchFamily="18" charset="2"/>
              </a:rPr>
              <a:t>   Simple graph</a:t>
            </a:r>
          </a:p>
          <a:p>
            <a:pPr marL="742950" lvl="1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en-US" dirty="0">
                <a:sym typeface="Symbol" pitchFamily="18" charset="2"/>
              </a:rPr>
              <a:t>Graph without loops or parallel edges</a:t>
            </a:r>
          </a:p>
        </p:txBody>
      </p:sp>
    </p:spTree>
    <p:extLst>
      <p:ext uri="{BB962C8B-B14F-4D97-AF65-F5344CB8AC3E}">
        <p14:creationId xmlns:p14="http://schemas.microsoft.com/office/powerpoint/2010/main" val="293849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" grpId="0"/>
      <p:bldP spid="39" grpId="0"/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7678" y="1189038"/>
            <a:ext cx="11460922" cy="711532"/>
          </a:xfrm>
        </p:spPr>
        <p:txBody>
          <a:bodyPr/>
          <a:lstStyle/>
          <a:p>
            <a:pPr algn="just" eaLnBrk="1" hangingPunct="1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1800" b="1" i="1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</a:rPr>
              <a:t>Degree of a Vertex:</a:t>
            </a:r>
            <a:r>
              <a:rPr lang="en-US" sz="2000" dirty="0"/>
              <a:t> In an undirected graph, the number of edges incident to the vertex</a:t>
            </a:r>
          </a:p>
          <a:p>
            <a:pPr lvl="1" algn="just">
              <a:buClr>
                <a:schemeClr val="accent1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</a:rPr>
              <a:t>  degree(1) = 3, degree(5) = 2</a:t>
            </a:r>
          </a:p>
          <a:p>
            <a:pPr marL="0" indent="0" algn="just">
              <a:buClr>
                <a:srgbClr val="002060"/>
              </a:buClr>
              <a:buNone/>
            </a:pPr>
            <a:endParaRPr lang="en-US" sz="2000" dirty="0"/>
          </a:p>
          <a:p>
            <a:pPr algn="just" eaLnBrk="1" hangingPunct="1">
              <a:buClr>
                <a:srgbClr val="FF0000"/>
              </a:buClr>
              <a:buFont typeface="Wingdings" pitchFamily="2" charset="2"/>
              <a:buChar char="Ø"/>
            </a:pPr>
            <a:endParaRPr lang="en-US" sz="2000" dirty="0"/>
          </a:p>
          <a:p>
            <a:pPr algn="just" eaLnBrk="1" hangingPunct="1">
              <a:buClr>
                <a:srgbClr val="FF0000"/>
              </a:buClr>
              <a:buFont typeface="Wingdings" pitchFamily="2" charset="2"/>
              <a:buChar char="Ø"/>
            </a:pPr>
            <a:endParaRPr lang="en-US" sz="2000" dirty="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8555547" y="3322979"/>
            <a:ext cx="3083169" cy="1409594"/>
            <a:chOff x="624" y="2238"/>
            <a:chExt cx="2070" cy="1554"/>
          </a:xfrm>
        </p:grpSpPr>
        <p:sp>
          <p:nvSpPr>
            <p:cNvPr id="22557" name="Oval 6"/>
            <p:cNvSpPr>
              <a:spLocks noChangeArrowheads="1"/>
            </p:cNvSpPr>
            <p:nvPr/>
          </p:nvSpPr>
          <p:spPr bwMode="auto">
            <a:xfrm>
              <a:off x="900" y="2334"/>
              <a:ext cx="384" cy="3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22558" name="Oval 7"/>
            <p:cNvSpPr>
              <a:spLocks noChangeArrowheads="1"/>
            </p:cNvSpPr>
            <p:nvPr/>
          </p:nvSpPr>
          <p:spPr bwMode="auto">
            <a:xfrm>
              <a:off x="1628" y="2753"/>
              <a:ext cx="384" cy="3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2</a:t>
              </a:r>
            </a:p>
          </p:txBody>
        </p:sp>
        <p:sp>
          <p:nvSpPr>
            <p:cNvPr id="22559" name="Oval 8"/>
            <p:cNvSpPr>
              <a:spLocks noChangeArrowheads="1"/>
            </p:cNvSpPr>
            <p:nvPr/>
          </p:nvSpPr>
          <p:spPr bwMode="auto">
            <a:xfrm>
              <a:off x="2310" y="2238"/>
              <a:ext cx="384" cy="3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3</a:t>
              </a:r>
            </a:p>
          </p:txBody>
        </p:sp>
        <p:sp>
          <p:nvSpPr>
            <p:cNvPr id="22560" name="Oval 9"/>
            <p:cNvSpPr>
              <a:spLocks noChangeArrowheads="1"/>
            </p:cNvSpPr>
            <p:nvPr/>
          </p:nvSpPr>
          <p:spPr bwMode="auto">
            <a:xfrm>
              <a:off x="624" y="3147"/>
              <a:ext cx="384" cy="3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4</a:t>
              </a:r>
            </a:p>
          </p:txBody>
        </p:sp>
        <p:sp>
          <p:nvSpPr>
            <p:cNvPr id="22561" name="Oval 10"/>
            <p:cNvSpPr>
              <a:spLocks noChangeArrowheads="1"/>
            </p:cNvSpPr>
            <p:nvPr/>
          </p:nvSpPr>
          <p:spPr bwMode="auto">
            <a:xfrm>
              <a:off x="2052" y="3408"/>
              <a:ext cx="384" cy="38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5</a:t>
              </a:r>
            </a:p>
          </p:txBody>
        </p:sp>
        <p:sp>
          <p:nvSpPr>
            <p:cNvPr id="22562" name="Line 11"/>
            <p:cNvSpPr>
              <a:spLocks noChangeShapeType="1"/>
            </p:cNvSpPr>
            <p:nvPr/>
          </p:nvSpPr>
          <p:spPr bwMode="auto">
            <a:xfrm>
              <a:off x="1272" y="2438"/>
              <a:ext cx="1026" cy="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 type="triangle" w="med" len="med"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2563" name="Line 12"/>
            <p:cNvSpPr>
              <a:spLocks noChangeShapeType="1"/>
            </p:cNvSpPr>
            <p:nvPr/>
          </p:nvSpPr>
          <p:spPr bwMode="auto">
            <a:xfrm>
              <a:off x="1215" y="2643"/>
              <a:ext cx="432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 type="triangle" w="med" len="med"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2564" name="Line 13"/>
            <p:cNvSpPr>
              <a:spLocks noChangeShapeType="1"/>
            </p:cNvSpPr>
            <p:nvPr/>
          </p:nvSpPr>
          <p:spPr bwMode="auto">
            <a:xfrm>
              <a:off x="996" y="3390"/>
              <a:ext cx="1056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2565" name="Line 14"/>
            <p:cNvSpPr>
              <a:spLocks noChangeShapeType="1"/>
            </p:cNvSpPr>
            <p:nvPr/>
          </p:nvSpPr>
          <p:spPr bwMode="auto">
            <a:xfrm flipH="1">
              <a:off x="852" y="2670"/>
              <a:ext cx="144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2566" name="Line 15"/>
            <p:cNvSpPr>
              <a:spLocks noChangeShapeType="1"/>
            </p:cNvSpPr>
            <p:nvPr/>
          </p:nvSpPr>
          <p:spPr bwMode="auto">
            <a:xfrm flipH="1">
              <a:off x="1974" y="2556"/>
              <a:ext cx="384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2567" name="Line 16"/>
            <p:cNvSpPr>
              <a:spLocks noChangeShapeType="1"/>
            </p:cNvSpPr>
            <p:nvPr/>
          </p:nvSpPr>
          <p:spPr bwMode="auto">
            <a:xfrm flipH="1">
              <a:off x="2340" y="2622"/>
              <a:ext cx="144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ar-JO"/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535603" y="4633123"/>
            <a:ext cx="4147579" cy="1744663"/>
            <a:chOff x="523" y="2064"/>
            <a:chExt cx="1973" cy="2131"/>
          </a:xfrm>
        </p:grpSpPr>
        <p:sp>
          <p:nvSpPr>
            <p:cNvPr id="22544" name="Oval 20"/>
            <p:cNvSpPr>
              <a:spLocks noChangeArrowheads="1"/>
            </p:cNvSpPr>
            <p:nvPr/>
          </p:nvSpPr>
          <p:spPr bwMode="auto">
            <a:xfrm>
              <a:off x="864" y="2112"/>
              <a:ext cx="366" cy="31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22545" name="Oval 21"/>
            <p:cNvSpPr>
              <a:spLocks noChangeArrowheads="1"/>
            </p:cNvSpPr>
            <p:nvPr/>
          </p:nvSpPr>
          <p:spPr bwMode="auto">
            <a:xfrm>
              <a:off x="1507" y="2463"/>
              <a:ext cx="367" cy="31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2</a:t>
              </a:r>
            </a:p>
          </p:txBody>
        </p:sp>
        <p:sp>
          <p:nvSpPr>
            <p:cNvPr id="22546" name="Oval 22"/>
            <p:cNvSpPr>
              <a:spLocks noChangeArrowheads="1"/>
            </p:cNvSpPr>
            <p:nvPr/>
          </p:nvSpPr>
          <p:spPr bwMode="auto">
            <a:xfrm>
              <a:off x="2129" y="2064"/>
              <a:ext cx="367" cy="31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3</a:t>
              </a:r>
            </a:p>
          </p:txBody>
        </p:sp>
        <p:sp>
          <p:nvSpPr>
            <p:cNvPr id="22547" name="Oval 23"/>
            <p:cNvSpPr>
              <a:spLocks noChangeArrowheads="1"/>
            </p:cNvSpPr>
            <p:nvPr/>
          </p:nvSpPr>
          <p:spPr bwMode="auto">
            <a:xfrm>
              <a:off x="525" y="2798"/>
              <a:ext cx="367" cy="31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4</a:t>
              </a:r>
            </a:p>
          </p:txBody>
        </p:sp>
        <p:sp>
          <p:nvSpPr>
            <p:cNvPr id="22548" name="Oval 24"/>
            <p:cNvSpPr>
              <a:spLocks noChangeArrowheads="1"/>
            </p:cNvSpPr>
            <p:nvPr/>
          </p:nvSpPr>
          <p:spPr bwMode="auto">
            <a:xfrm>
              <a:off x="1946" y="3037"/>
              <a:ext cx="367" cy="31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5</a:t>
              </a:r>
            </a:p>
          </p:txBody>
        </p:sp>
        <p:sp>
          <p:nvSpPr>
            <p:cNvPr id="22549" name="Line 25"/>
            <p:cNvSpPr>
              <a:spLocks noChangeShapeType="1"/>
            </p:cNvSpPr>
            <p:nvPr/>
          </p:nvSpPr>
          <p:spPr bwMode="auto">
            <a:xfrm>
              <a:off x="1213" y="2221"/>
              <a:ext cx="9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2550" name="Line 26"/>
            <p:cNvSpPr>
              <a:spLocks noChangeShapeType="1"/>
            </p:cNvSpPr>
            <p:nvPr/>
          </p:nvSpPr>
          <p:spPr bwMode="auto">
            <a:xfrm>
              <a:off x="1121" y="2417"/>
              <a:ext cx="413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2551" name="Line 27"/>
            <p:cNvSpPr>
              <a:spLocks noChangeShapeType="1"/>
            </p:cNvSpPr>
            <p:nvPr/>
          </p:nvSpPr>
          <p:spPr bwMode="auto">
            <a:xfrm>
              <a:off x="892" y="2928"/>
              <a:ext cx="1054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2552" name="Line 28"/>
            <p:cNvSpPr>
              <a:spLocks noChangeShapeType="1"/>
            </p:cNvSpPr>
            <p:nvPr/>
          </p:nvSpPr>
          <p:spPr bwMode="auto">
            <a:xfrm flipH="1">
              <a:off x="801" y="2417"/>
              <a:ext cx="137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2553" name="Line 29"/>
            <p:cNvSpPr>
              <a:spLocks noChangeShapeType="1"/>
            </p:cNvSpPr>
            <p:nvPr/>
          </p:nvSpPr>
          <p:spPr bwMode="auto">
            <a:xfrm flipH="1">
              <a:off x="1855" y="2339"/>
              <a:ext cx="366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2554" name="Line 30"/>
            <p:cNvSpPr>
              <a:spLocks noChangeShapeType="1"/>
            </p:cNvSpPr>
            <p:nvPr/>
          </p:nvSpPr>
          <p:spPr bwMode="auto">
            <a:xfrm flipH="1">
              <a:off x="2221" y="2378"/>
              <a:ext cx="138" cy="6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2555" name="Line 31"/>
            <p:cNvSpPr>
              <a:spLocks noChangeShapeType="1"/>
            </p:cNvSpPr>
            <p:nvPr/>
          </p:nvSpPr>
          <p:spPr bwMode="auto">
            <a:xfrm flipV="1">
              <a:off x="1392" y="3168"/>
              <a:ext cx="0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ar-JO"/>
            </a:p>
          </p:txBody>
        </p:sp>
        <p:sp>
          <p:nvSpPr>
            <p:cNvPr id="22556" name="Text Box 32"/>
            <p:cNvSpPr txBox="1">
              <a:spLocks noChangeArrowheads="1"/>
            </p:cNvSpPr>
            <p:nvPr/>
          </p:nvSpPr>
          <p:spPr bwMode="auto">
            <a:xfrm>
              <a:off x="1055" y="3744"/>
              <a:ext cx="673" cy="45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G=(V,E)</a:t>
              </a:r>
            </a:p>
          </p:txBody>
        </p:sp>
        <p:sp>
          <p:nvSpPr>
            <p:cNvPr id="41" name="Oval 20"/>
            <p:cNvSpPr>
              <a:spLocks noChangeArrowheads="1"/>
            </p:cNvSpPr>
            <p:nvPr/>
          </p:nvSpPr>
          <p:spPr bwMode="auto">
            <a:xfrm>
              <a:off x="862" y="2113"/>
              <a:ext cx="366" cy="31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42" name="Oval 21"/>
            <p:cNvSpPr>
              <a:spLocks noChangeArrowheads="1"/>
            </p:cNvSpPr>
            <p:nvPr/>
          </p:nvSpPr>
          <p:spPr bwMode="auto">
            <a:xfrm>
              <a:off x="1505" y="2464"/>
              <a:ext cx="367" cy="31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2</a:t>
              </a:r>
            </a:p>
          </p:txBody>
        </p:sp>
        <p:sp>
          <p:nvSpPr>
            <p:cNvPr id="43" name="Oval 23"/>
            <p:cNvSpPr>
              <a:spLocks noChangeArrowheads="1"/>
            </p:cNvSpPr>
            <p:nvPr/>
          </p:nvSpPr>
          <p:spPr bwMode="auto">
            <a:xfrm>
              <a:off x="523" y="2799"/>
              <a:ext cx="367" cy="31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4</a:t>
              </a:r>
            </a:p>
          </p:txBody>
        </p:sp>
        <p:sp>
          <p:nvSpPr>
            <p:cNvPr id="44" name="Oval 22"/>
            <p:cNvSpPr>
              <a:spLocks noChangeArrowheads="1"/>
            </p:cNvSpPr>
            <p:nvPr/>
          </p:nvSpPr>
          <p:spPr bwMode="auto">
            <a:xfrm>
              <a:off x="2129" y="2073"/>
              <a:ext cx="36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3</a:t>
              </a:r>
            </a:p>
          </p:txBody>
        </p:sp>
        <p:sp>
          <p:nvSpPr>
            <p:cNvPr id="45" name="Oval 24"/>
            <p:cNvSpPr>
              <a:spLocks noChangeArrowheads="1"/>
            </p:cNvSpPr>
            <p:nvPr/>
          </p:nvSpPr>
          <p:spPr bwMode="auto">
            <a:xfrm>
              <a:off x="1946" y="3046"/>
              <a:ext cx="36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5</a:t>
              </a:r>
            </a:p>
          </p:txBody>
        </p:sp>
        <p:sp>
          <p:nvSpPr>
            <p:cNvPr id="46" name="Oval 20"/>
            <p:cNvSpPr>
              <a:spLocks noChangeArrowheads="1"/>
            </p:cNvSpPr>
            <p:nvPr/>
          </p:nvSpPr>
          <p:spPr bwMode="auto">
            <a:xfrm>
              <a:off x="862" y="2122"/>
              <a:ext cx="366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47" name="Oval 21"/>
            <p:cNvSpPr>
              <a:spLocks noChangeArrowheads="1"/>
            </p:cNvSpPr>
            <p:nvPr/>
          </p:nvSpPr>
          <p:spPr bwMode="auto">
            <a:xfrm>
              <a:off x="1505" y="2473"/>
              <a:ext cx="36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2</a:t>
              </a:r>
            </a:p>
          </p:txBody>
        </p:sp>
        <p:sp>
          <p:nvSpPr>
            <p:cNvPr id="48" name="Oval 23"/>
            <p:cNvSpPr>
              <a:spLocks noChangeArrowheads="1"/>
            </p:cNvSpPr>
            <p:nvPr/>
          </p:nvSpPr>
          <p:spPr bwMode="auto">
            <a:xfrm>
              <a:off x="523" y="2808"/>
              <a:ext cx="36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4</a:t>
              </a:r>
            </a:p>
          </p:txBody>
        </p:sp>
      </p:grp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5270819" y="4640491"/>
            <a:ext cx="2540000" cy="1377950"/>
            <a:chOff x="3592" y="2448"/>
            <a:chExt cx="1226" cy="1575"/>
          </a:xfrm>
        </p:grpSpPr>
        <p:sp>
          <p:nvSpPr>
            <p:cNvPr id="22536" name="Oval 34"/>
            <p:cNvSpPr>
              <a:spLocks noChangeArrowheads="1"/>
            </p:cNvSpPr>
            <p:nvPr/>
          </p:nvSpPr>
          <p:spPr bwMode="auto">
            <a:xfrm>
              <a:off x="3592" y="2448"/>
              <a:ext cx="296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22537" name="Oval 35"/>
            <p:cNvSpPr>
              <a:spLocks noChangeArrowheads="1"/>
            </p:cNvSpPr>
            <p:nvPr/>
          </p:nvSpPr>
          <p:spPr bwMode="auto">
            <a:xfrm>
              <a:off x="4521" y="2466"/>
              <a:ext cx="29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3</a:t>
              </a:r>
            </a:p>
          </p:txBody>
        </p:sp>
        <p:sp>
          <p:nvSpPr>
            <p:cNvPr id="22538" name="Line 36"/>
            <p:cNvSpPr>
              <a:spLocks noChangeShapeType="1"/>
            </p:cNvSpPr>
            <p:nvPr/>
          </p:nvSpPr>
          <p:spPr bwMode="auto">
            <a:xfrm>
              <a:off x="3881" y="2592"/>
              <a:ext cx="6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2539" name="Oval 37"/>
            <p:cNvSpPr>
              <a:spLocks noChangeArrowheads="1"/>
            </p:cNvSpPr>
            <p:nvPr/>
          </p:nvSpPr>
          <p:spPr bwMode="auto">
            <a:xfrm>
              <a:off x="4132" y="2901"/>
              <a:ext cx="29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2</a:t>
              </a:r>
            </a:p>
          </p:txBody>
        </p:sp>
        <p:sp>
          <p:nvSpPr>
            <p:cNvPr id="22540" name="Line 38"/>
            <p:cNvSpPr>
              <a:spLocks noChangeShapeType="1"/>
            </p:cNvSpPr>
            <p:nvPr/>
          </p:nvSpPr>
          <p:spPr bwMode="auto">
            <a:xfrm>
              <a:off x="3842" y="2736"/>
              <a:ext cx="335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2541" name="Line 39"/>
            <p:cNvSpPr>
              <a:spLocks noChangeShapeType="1"/>
            </p:cNvSpPr>
            <p:nvPr/>
          </p:nvSpPr>
          <p:spPr bwMode="auto">
            <a:xfrm flipH="1">
              <a:off x="4404" y="2763"/>
              <a:ext cx="19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2542" name="Line 40"/>
            <p:cNvSpPr>
              <a:spLocks noChangeShapeType="1"/>
            </p:cNvSpPr>
            <p:nvPr/>
          </p:nvSpPr>
          <p:spPr bwMode="auto">
            <a:xfrm flipV="1">
              <a:off x="3984" y="3024"/>
              <a:ext cx="0" cy="57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ar-JO"/>
            </a:p>
          </p:txBody>
        </p:sp>
        <p:sp>
          <p:nvSpPr>
            <p:cNvPr id="22543" name="Text Box 41"/>
            <p:cNvSpPr txBox="1">
              <a:spLocks noChangeArrowheads="1"/>
            </p:cNvSpPr>
            <p:nvPr/>
          </p:nvSpPr>
          <p:spPr bwMode="auto">
            <a:xfrm>
              <a:off x="3648" y="3601"/>
              <a:ext cx="672" cy="42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H=(U,F)</a:t>
              </a:r>
            </a:p>
          </p:txBody>
        </p:sp>
      </p:grpSp>
      <p:sp>
        <p:nvSpPr>
          <p:cNvPr id="22535" name="Slide Number Placeholder 4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fld id="{EB729C45-D929-47EE-B79B-95E1345BCB3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0" name="Rectangle 30"/>
          <p:cNvSpPr>
            <a:spLocks noChangeArrowheads="1"/>
          </p:cNvSpPr>
          <p:nvPr/>
        </p:nvSpPr>
        <p:spPr bwMode="auto">
          <a:xfrm>
            <a:off x="176203" y="291606"/>
            <a:ext cx="5791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Cont…..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547" y="1584004"/>
            <a:ext cx="3156095" cy="152887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2339" y="2016007"/>
            <a:ext cx="1066994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</a:rPr>
              <a:t>  In-degree and out-degree of a Vertex: </a:t>
            </a:r>
            <a:r>
              <a:rPr lang="en-US" sz="2000" dirty="0"/>
              <a:t>In a directed graph</a:t>
            </a:r>
          </a:p>
          <a:p>
            <a:pPr lvl="1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/>
              <a:t>  </a:t>
            </a: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</a:rPr>
              <a:t>In-degree: </a:t>
            </a:r>
            <a:r>
              <a:rPr lang="en-US" sz="2000" dirty="0"/>
              <a:t>the number of edges entering the vertex in a digraph</a:t>
            </a:r>
          </a:p>
          <a:p>
            <a:pPr lvl="2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 In-degree of </a:t>
            </a:r>
            <a:r>
              <a:rPr lang="en-US" sz="2000" dirty="0">
                <a:solidFill>
                  <a:srgbClr val="002060"/>
                </a:solidFill>
              </a:rPr>
              <a:t>1</a:t>
            </a:r>
            <a:r>
              <a:rPr lang="en-US" sz="2000" dirty="0"/>
              <a:t> is </a:t>
            </a:r>
            <a:r>
              <a:rPr lang="en-US" sz="2000" dirty="0">
                <a:solidFill>
                  <a:srgbClr val="002060"/>
                </a:solidFill>
              </a:rPr>
              <a:t>3</a:t>
            </a:r>
          </a:p>
          <a:p>
            <a:pPr lvl="2" algn="just">
              <a:buClr>
                <a:schemeClr val="accent1">
                  <a:lumMod val="75000"/>
                </a:schemeClr>
              </a:buClr>
            </a:pPr>
            <a:endParaRPr lang="en-US" sz="2000" b="1" i="1" dirty="0">
              <a:solidFill>
                <a:schemeClr val="accent5">
                  <a:lumMod val="75000"/>
                </a:schemeClr>
              </a:solidFill>
            </a:endParaRPr>
          </a:p>
          <a:p>
            <a:pPr lvl="1" algn="just">
              <a:buClr>
                <a:schemeClr val="accent1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</a:rPr>
              <a:t>  Out-degree: </a:t>
            </a:r>
            <a:r>
              <a:rPr lang="en-US" sz="2000" dirty="0"/>
              <a:t>the number of edges leaving the vertex in a digraph</a:t>
            </a:r>
          </a:p>
          <a:p>
            <a:pPr lvl="2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 Out-degree of </a:t>
            </a:r>
            <a:r>
              <a:rPr lang="en-US" sz="2000" dirty="0">
                <a:solidFill>
                  <a:srgbClr val="002060"/>
                </a:solidFill>
              </a:rPr>
              <a:t>1</a:t>
            </a:r>
            <a:r>
              <a:rPr lang="en-US" sz="2000" dirty="0"/>
              <a:t> is </a:t>
            </a:r>
            <a:r>
              <a:rPr lang="en-US" sz="2000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716" y="4023840"/>
            <a:ext cx="84506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2000" dirty="0"/>
              <a:t>A </a:t>
            </a:r>
            <a:r>
              <a:rPr lang="en-US" sz="2000" b="1" i="1" dirty="0">
                <a:solidFill>
                  <a:schemeClr val="accent5">
                    <a:lumMod val="75000"/>
                  </a:schemeClr>
                </a:solidFill>
              </a:rPr>
              <a:t>Subgraph </a:t>
            </a:r>
            <a:r>
              <a:rPr lang="en-US" sz="2000" dirty="0"/>
              <a:t>of graph G=(V,E) is a graph H=(U,F) such that U </a:t>
            </a:r>
            <a:r>
              <a:rPr lang="ru-RU" sz="2000" dirty="0"/>
              <a:t>Є</a:t>
            </a:r>
            <a:r>
              <a:rPr lang="en-US" sz="2000" dirty="0">
                <a:sym typeface="Symbol" pitchFamily="18" charset="2"/>
              </a:rPr>
              <a:t> V and F </a:t>
            </a:r>
            <a:r>
              <a:rPr lang="ru-RU" sz="2000" dirty="0"/>
              <a:t>Є</a:t>
            </a:r>
            <a:r>
              <a:rPr lang="en-US" sz="2000" dirty="0">
                <a:sym typeface="Symbol" pitchFamily="18" charset="2"/>
              </a:rPr>
              <a:t> 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2706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uild="p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4592" y="1088971"/>
            <a:ext cx="11815008" cy="344490"/>
          </a:xfrm>
        </p:spPr>
        <p:txBody>
          <a:bodyPr>
            <a:normAutofit lnSpcReduction="10000"/>
          </a:bodyPr>
          <a:lstStyle/>
          <a:p>
            <a:pPr algn="just" eaLnBrk="1" hangingPunct="1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2000" dirty="0"/>
              <a:t>  </a:t>
            </a:r>
            <a:r>
              <a:rPr lang="en-US" sz="2000" dirty="0">
                <a:solidFill>
                  <a:srgbClr val="002060"/>
                </a:solidFill>
              </a:rPr>
              <a:t>Connected graph</a:t>
            </a:r>
            <a:r>
              <a:rPr lang="en-US" sz="2000" dirty="0"/>
              <a:t>: is the graph that has at least one path from every vertex to every other vertex in the graph.</a:t>
            </a:r>
          </a:p>
          <a:p>
            <a:pPr algn="just" eaLnBrk="1" hangingPunct="1">
              <a:buClr>
                <a:srgbClr val="FF0000"/>
              </a:buClr>
              <a:buFont typeface="Wingdings" pitchFamily="2" charset="2"/>
              <a:buChar char="Ø"/>
            </a:pPr>
            <a:endParaRPr lang="en-US" sz="2000" dirty="0"/>
          </a:p>
          <a:p>
            <a:pPr algn="just" eaLnBrk="1" hangingPunct="1">
              <a:buClr>
                <a:srgbClr val="FF0000"/>
              </a:buClr>
              <a:buFont typeface="Wingdings" pitchFamily="2" charset="2"/>
              <a:buChar char="Ø"/>
            </a:pPr>
            <a:endParaRPr lang="en-US" sz="2000" dirty="0"/>
          </a:p>
          <a:p>
            <a:pPr algn="just" eaLnBrk="1" hangingPunct="1">
              <a:buClr>
                <a:srgbClr val="FF0000"/>
              </a:buClr>
              <a:buFont typeface="Wingdings" pitchFamily="2" charset="2"/>
              <a:buChar char="Ø"/>
            </a:pPr>
            <a:endParaRPr lang="en-US" sz="2000" dirty="0"/>
          </a:p>
          <a:p>
            <a:pPr algn="just" eaLnBrk="1" hangingPunct="1">
              <a:buClr>
                <a:srgbClr val="FF0000"/>
              </a:buClr>
              <a:buFont typeface="Wingdings" pitchFamily="2" charset="2"/>
              <a:buChar char="Ø"/>
            </a:pPr>
            <a:endParaRPr lang="en-US" sz="2000" dirty="0"/>
          </a:p>
          <a:p>
            <a:pPr algn="just" eaLnBrk="1" hangingPunct="1">
              <a:buClr>
                <a:srgbClr val="FF0000"/>
              </a:buClr>
              <a:buFont typeface="Wingdings" pitchFamily="2" charset="2"/>
              <a:buChar char="Ø"/>
            </a:pPr>
            <a:endParaRPr lang="en-US" sz="2000" dirty="0"/>
          </a:p>
          <a:p>
            <a:pPr marL="0" indent="0" algn="just" eaLnBrk="1" hangingPunct="1">
              <a:buClr>
                <a:srgbClr val="FF0000"/>
              </a:buClr>
              <a:buNone/>
            </a:pPr>
            <a:endParaRPr lang="en-US" sz="2000" dirty="0"/>
          </a:p>
          <a:p>
            <a:pPr marL="0" indent="0" algn="just" eaLnBrk="1" hangingPunct="1">
              <a:buClr>
                <a:srgbClr val="FF0000"/>
              </a:buClr>
              <a:buNone/>
            </a:pPr>
            <a:endParaRPr lang="en-US" sz="2000" dirty="0"/>
          </a:p>
          <a:p>
            <a:pPr algn="just" eaLnBrk="1" hangingPunct="1">
              <a:buClr>
                <a:srgbClr val="FF0000"/>
              </a:buClr>
              <a:buFont typeface="Wingdings" pitchFamily="2" charset="2"/>
              <a:buChar char="Ø"/>
            </a:pPr>
            <a:endParaRPr lang="en-US" sz="2000" dirty="0"/>
          </a:p>
          <a:p>
            <a:pPr marL="0" indent="0" algn="just" eaLnBrk="1" hangingPunct="1">
              <a:buClr>
                <a:srgbClr val="FF0000"/>
              </a:buClr>
              <a:buNone/>
            </a:pPr>
            <a:endParaRPr lang="en-US" sz="2000" dirty="0"/>
          </a:p>
          <a:p>
            <a:pPr algn="just" eaLnBrk="1" hangingPunct="1">
              <a:buClr>
                <a:srgbClr val="FF0000"/>
              </a:buClr>
              <a:buFont typeface="Wingdings" pitchFamily="2" charset="2"/>
              <a:buChar char="Ø"/>
            </a:pPr>
            <a:endParaRPr lang="en-US" sz="2000" dirty="0"/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632158" y="1630463"/>
            <a:ext cx="2937391" cy="1416867"/>
            <a:chOff x="525" y="2304"/>
            <a:chExt cx="1971" cy="1872"/>
          </a:xfrm>
        </p:grpSpPr>
        <p:sp>
          <p:nvSpPr>
            <p:cNvPr id="23589" name="Oval 5"/>
            <p:cNvSpPr>
              <a:spLocks noChangeArrowheads="1"/>
            </p:cNvSpPr>
            <p:nvPr/>
          </p:nvSpPr>
          <p:spPr bwMode="auto">
            <a:xfrm>
              <a:off x="864" y="2352"/>
              <a:ext cx="366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23590" name="Oval 6"/>
            <p:cNvSpPr>
              <a:spLocks noChangeArrowheads="1"/>
            </p:cNvSpPr>
            <p:nvPr/>
          </p:nvSpPr>
          <p:spPr bwMode="auto">
            <a:xfrm>
              <a:off x="1507" y="2703"/>
              <a:ext cx="36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2</a:t>
              </a:r>
            </a:p>
          </p:txBody>
        </p:sp>
        <p:sp>
          <p:nvSpPr>
            <p:cNvPr id="23591" name="Oval 7"/>
            <p:cNvSpPr>
              <a:spLocks noChangeArrowheads="1"/>
            </p:cNvSpPr>
            <p:nvPr/>
          </p:nvSpPr>
          <p:spPr bwMode="auto">
            <a:xfrm>
              <a:off x="2129" y="2304"/>
              <a:ext cx="36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3</a:t>
              </a:r>
            </a:p>
          </p:txBody>
        </p:sp>
        <p:sp>
          <p:nvSpPr>
            <p:cNvPr id="23592" name="Oval 8"/>
            <p:cNvSpPr>
              <a:spLocks noChangeArrowheads="1"/>
            </p:cNvSpPr>
            <p:nvPr/>
          </p:nvSpPr>
          <p:spPr bwMode="auto">
            <a:xfrm>
              <a:off x="525" y="3038"/>
              <a:ext cx="36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4</a:t>
              </a:r>
            </a:p>
          </p:txBody>
        </p:sp>
        <p:sp>
          <p:nvSpPr>
            <p:cNvPr id="23593" name="Oval 9"/>
            <p:cNvSpPr>
              <a:spLocks noChangeArrowheads="1"/>
            </p:cNvSpPr>
            <p:nvPr/>
          </p:nvSpPr>
          <p:spPr bwMode="auto">
            <a:xfrm>
              <a:off x="1946" y="3277"/>
              <a:ext cx="36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5</a:t>
              </a:r>
            </a:p>
          </p:txBody>
        </p:sp>
        <p:sp>
          <p:nvSpPr>
            <p:cNvPr id="23594" name="Line 10"/>
            <p:cNvSpPr>
              <a:spLocks noChangeShapeType="1"/>
            </p:cNvSpPr>
            <p:nvPr/>
          </p:nvSpPr>
          <p:spPr bwMode="auto">
            <a:xfrm>
              <a:off x="1213" y="2461"/>
              <a:ext cx="9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3595" name="Line 11"/>
            <p:cNvSpPr>
              <a:spLocks noChangeShapeType="1"/>
            </p:cNvSpPr>
            <p:nvPr/>
          </p:nvSpPr>
          <p:spPr bwMode="auto">
            <a:xfrm>
              <a:off x="1121" y="2657"/>
              <a:ext cx="413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3596" name="Line 12"/>
            <p:cNvSpPr>
              <a:spLocks noChangeShapeType="1"/>
            </p:cNvSpPr>
            <p:nvPr/>
          </p:nvSpPr>
          <p:spPr bwMode="auto">
            <a:xfrm>
              <a:off x="892" y="3168"/>
              <a:ext cx="1054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3597" name="Line 13"/>
            <p:cNvSpPr>
              <a:spLocks noChangeShapeType="1"/>
            </p:cNvSpPr>
            <p:nvPr/>
          </p:nvSpPr>
          <p:spPr bwMode="auto">
            <a:xfrm flipH="1">
              <a:off x="801" y="2657"/>
              <a:ext cx="137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3598" name="Line 14"/>
            <p:cNvSpPr>
              <a:spLocks noChangeShapeType="1"/>
            </p:cNvSpPr>
            <p:nvPr/>
          </p:nvSpPr>
          <p:spPr bwMode="auto">
            <a:xfrm flipH="1">
              <a:off x="1855" y="2579"/>
              <a:ext cx="366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3599" name="Line 15"/>
            <p:cNvSpPr>
              <a:spLocks noChangeShapeType="1"/>
            </p:cNvSpPr>
            <p:nvPr/>
          </p:nvSpPr>
          <p:spPr bwMode="auto">
            <a:xfrm flipH="1">
              <a:off x="2221" y="2618"/>
              <a:ext cx="138" cy="6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3600" name="Text Box 18"/>
            <p:cNvSpPr txBox="1">
              <a:spLocks noChangeArrowheads="1"/>
            </p:cNvSpPr>
            <p:nvPr/>
          </p:nvSpPr>
          <p:spPr bwMode="auto">
            <a:xfrm>
              <a:off x="768" y="3647"/>
              <a:ext cx="1344" cy="52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 dirty="0">
                  <a:solidFill>
                    <a:srgbClr val="002060"/>
                  </a:solidFill>
                </a:rPr>
                <a:t>Connected</a:t>
              </a: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7346499" y="1543787"/>
            <a:ext cx="2950261" cy="1375313"/>
            <a:chOff x="2976" y="2313"/>
            <a:chExt cx="1971" cy="1840"/>
          </a:xfrm>
        </p:grpSpPr>
        <p:sp>
          <p:nvSpPr>
            <p:cNvPr id="23580" name="Oval 20"/>
            <p:cNvSpPr>
              <a:spLocks noChangeArrowheads="1"/>
            </p:cNvSpPr>
            <p:nvPr/>
          </p:nvSpPr>
          <p:spPr bwMode="auto">
            <a:xfrm>
              <a:off x="3315" y="2361"/>
              <a:ext cx="366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23581" name="Oval 21"/>
            <p:cNvSpPr>
              <a:spLocks noChangeArrowheads="1"/>
            </p:cNvSpPr>
            <p:nvPr/>
          </p:nvSpPr>
          <p:spPr bwMode="auto">
            <a:xfrm>
              <a:off x="3958" y="2712"/>
              <a:ext cx="36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2</a:t>
              </a:r>
            </a:p>
          </p:txBody>
        </p:sp>
        <p:sp>
          <p:nvSpPr>
            <p:cNvPr id="23582" name="Oval 22"/>
            <p:cNvSpPr>
              <a:spLocks noChangeArrowheads="1"/>
            </p:cNvSpPr>
            <p:nvPr/>
          </p:nvSpPr>
          <p:spPr bwMode="auto">
            <a:xfrm>
              <a:off x="4580" y="2313"/>
              <a:ext cx="36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3</a:t>
              </a:r>
            </a:p>
          </p:txBody>
        </p:sp>
        <p:sp>
          <p:nvSpPr>
            <p:cNvPr id="23583" name="Oval 23"/>
            <p:cNvSpPr>
              <a:spLocks noChangeArrowheads="1"/>
            </p:cNvSpPr>
            <p:nvPr/>
          </p:nvSpPr>
          <p:spPr bwMode="auto">
            <a:xfrm>
              <a:off x="2976" y="3047"/>
              <a:ext cx="36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4</a:t>
              </a:r>
            </a:p>
          </p:txBody>
        </p:sp>
        <p:sp>
          <p:nvSpPr>
            <p:cNvPr id="23584" name="Oval 24"/>
            <p:cNvSpPr>
              <a:spLocks noChangeArrowheads="1"/>
            </p:cNvSpPr>
            <p:nvPr/>
          </p:nvSpPr>
          <p:spPr bwMode="auto">
            <a:xfrm>
              <a:off x="4397" y="3286"/>
              <a:ext cx="36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5</a:t>
              </a:r>
            </a:p>
          </p:txBody>
        </p:sp>
        <p:sp>
          <p:nvSpPr>
            <p:cNvPr id="23585" name="Line 28"/>
            <p:cNvSpPr>
              <a:spLocks noChangeShapeType="1"/>
            </p:cNvSpPr>
            <p:nvPr/>
          </p:nvSpPr>
          <p:spPr bwMode="auto">
            <a:xfrm flipH="1">
              <a:off x="3252" y="2666"/>
              <a:ext cx="137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3586" name="Line 29"/>
            <p:cNvSpPr>
              <a:spLocks noChangeShapeType="1"/>
            </p:cNvSpPr>
            <p:nvPr/>
          </p:nvSpPr>
          <p:spPr bwMode="auto">
            <a:xfrm flipH="1">
              <a:off x="4306" y="2588"/>
              <a:ext cx="366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3587" name="Line 30"/>
            <p:cNvSpPr>
              <a:spLocks noChangeShapeType="1"/>
            </p:cNvSpPr>
            <p:nvPr/>
          </p:nvSpPr>
          <p:spPr bwMode="auto">
            <a:xfrm flipH="1">
              <a:off x="4672" y="2627"/>
              <a:ext cx="138" cy="6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3588" name="Text Box 34"/>
            <p:cNvSpPr txBox="1">
              <a:spLocks noChangeArrowheads="1"/>
            </p:cNvSpPr>
            <p:nvPr/>
          </p:nvSpPr>
          <p:spPr bwMode="auto">
            <a:xfrm>
              <a:off x="3120" y="3648"/>
              <a:ext cx="1344" cy="50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 dirty="0">
                  <a:solidFill>
                    <a:srgbClr val="002060"/>
                  </a:solidFill>
                </a:rPr>
                <a:t>Unconnected</a:t>
              </a:r>
            </a:p>
          </p:txBody>
        </p:sp>
      </p:grpSp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8549802" y="5156927"/>
            <a:ext cx="2670656" cy="1571021"/>
            <a:chOff x="2880" y="2352"/>
            <a:chExt cx="1971" cy="1696"/>
          </a:xfrm>
        </p:grpSpPr>
        <p:sp>
          <p:nvSpPr>
            <p:cNvPr id="23561" name="Oval 49"/>
            <p:cNvSpPr>
              <a:spLocks noChangeArrowheads="1"/>
            </p:cNvSpPr>
            <p:nvPr/>
          </p:nvSpPr>
          <p:spPr bwMode="auto">
            <a:xfrm>
              <a:off x="3219" y="2400"/>
              <a:ext cx="366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23562" name="Oval 50"/>
            <p:cNvSpPr>
              <a:spLocks noChangeArrowheads="1"/>
            </p:cNvSpPr>
            <p:nvPr/>
          </p:nvSpPr>
          <p:spPr bwMode="auto">
            <a:xfrm>
              <a:off x="3862" y="2751"/>
              <a:ext cx="36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2</a:t>
              </a:r>
            </a:p>
          </p:txBody>
        </p:sp>
        <p:sp>
          <p:nvSpPr>
            <p:cNvPr id="23563" name="Oval 51"/>
            <p:cNvSpPr>
              <a:spLocks noChangeArrowheads="1"/>
            </p:cNvSpPr>
            <p:nvPr/>
          </p:nvSpPr>
          <p:spPr bwMode="auto">
            <a:xfrm>
              <a:off x="4484" y="2352"/>
              <a:ext cx="36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3</a:t>
              </a:r>
            </a:p>
          </p:txBody>
        </p:sp>
        <p:sp>
          <p:nvSpPr>
            <p:cNvPr id="23564" name="Oval 52"/>
            <p:cNvSpPr>
              <a:spLocks noChangeArrowheads="1"/>
            </p:cNvSpPr>
            <p:nvPr/>
          </p:nvSpPr>
          <p:spPr bwMode="auto">
            <a:xfrm>
              <a:off x="2880" y="3086"/>
              <a:ext cx="36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4</a:t>
              </a:r>
            </a:p>
          </p:txBody>
        </p:sp>
        <p:sp>
          <p:nvSpPr>
            <p:cNvPr id="23565" name="Oval 53"/>
            <p:cNvSpPr>
              <a:spLocks noChangeArrowheads="1"/>
            </p:cNvSpPr>
            <p:nvPr/>
          </p:nvSpPr>
          <p:spPr bwMode="auto">
            <a:xfrm>
              <a:off x="4301" y="3325"/>
              <a:ext cx="36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5</a:t>
              </a:r>
            </a:p>
          </p:txBody>
        </p:sp>
        <p:sp>
          <p:nvSpPr>
            <p:cNvPr id="23566" name="Line 54"/>
            <p:cNvSpPr>
              <a:spLocks noChangeShapeType="1"/>
            </p:cNvSpPr>
            <p:nvPr/>
          </p:nvSpPr>
          <p:spPr bwMode="auto">
            <a:xfrm>
              <a:off x="3568" y="2509"/>
              <a:ext cx="9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3567" name="Line 55"/>
            <p:cNvSpPr>
              <a:spLocks noChangeShapeType="1"/>
            </p:cNvSpPr>
            <p:nvPr/>
          </p:nvSpPr>
          <p:spPr bwMode="auto">
            <a:xfrm>
              <a:off x="3476" y="2705"/>
              <a:ext cx="413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3568" name="Line 56"/>
            <p:cNvSpPr>
              <a:spLocks noChangeShapeType="1"/>
            </p:cNvSpPr>
            <p:nvPr/>
          </p:nvSpPr>
          <p:spPr bwMode="auto">
            <a:xfrm>
              <a:off x="3247" y="3216"/>
              <a:ext cx="1054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3569" name="Text Box 57"/>
            <p:cNvSpPr txBox="1">
              <a:spLocks noChangeArrowheads="1"/>
            </p:cNvSpPr>
            <p:nvPr/>
          </p:nvSpPr>
          <p:spPr bwMode="auto">
            <a:xfrm>
              <a:off x="3360" y="3600"/>
              <a:ext cx="814" cy="44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 dirty="0">
                  <a:solidFill>
                    <a:srgbClr val="002060"/>
                  </a:solidFill>
                </a:rPr>
                <a:t>Forest</a:t>
              </a:r>
            </a:p>
          </p:txBody>
        </p:sp>
      </p:grpSp>
      <p:sp>
        <p:nvSpPr>
          <p:cNvPr id="23560" name="Slide Number Placeholder 50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2"/>
            <a:ext cx="2743200" cy="3651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fld id="{1658BE92-BA02-48C9-8B2C-DEC170AABF0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9" name="Rectangle 30"/>
          <p:cNvSpPr>
            <a:spLocks noChangeArrowheads="1"/>
          </p:cNvSpPr>
          <p:nvPr/>
        </p:nvSpPr>
        <p:spPr bwMode="auto">
          <a:xfrm>
            <a:off x="176203" y="291606"/>
            <a:ext cx="5791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Cont…..</a:t>
            </a:r>
          </a:p>
        </p:txBody>
      </p:sp>
      <p:sp>
        <p:nvSpPr>
          <p:cNvPr id="6" name="Rectangle 5"/>
          <p:cNvSpPr/>
          <p:nvPr/>
        </p:nvSpPr>
        <p:spPr>
          <a:xfrm>
            <a:off x="247740" y="3160165"/>
            <a:ext cx="111366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</a:rPr>
              <a:t>  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connected undirected graph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 no cycles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14096" y="5668655"/>
            <a:ext cx="51748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2060"/>
                </a:solidFill>
              </a:rPr>
              <a:t>  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Forest: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 that 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contain a cycle </a:t>
            </a:r>
          </a:p>
          <a:p>
            <a:pPr marL="800100" lvl="1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da-D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trees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488" y="3701067"/>
            <a:ext cx="7036251" cy="168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05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build="p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8888" y="1094338"/>
            <a:ext cx="7277638" cy="2526512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lnSpc>
                <a:spcPct val="90000"/>
              </a:lnSpc>
              <a:buClr>
                <a:srgbClr val="FF0000"/>
              </a:buClr>
              <a:buNone/>
            </a:pPr>
            <a:r>
              <a:rPr lang="en-US" sz="2000" dirty="0">
                <a:solidFill>
                  <a:srgbClr val="002060"/>
                </a:solidFill>
              </a:rPr>
              <a:t>1- Adjacency Matrix (A)</a:t>
            </a:r>
          </a:p>
          <a:p>
            <a:pPr lvl="1" eaLnBrk="1" hangingPunct="1">
              <a:lnSpc>
                <a:spcPct val="90000"/>
              </a:lnSpc>
              <a:buClr>
                <a:srgbClr val="002060"/>
              </a:buClr>
              <a:buFont typeface="Wingdings" pitchFamily="2" charset="2"/>
              <a:buChar char="Ø"/>
            </a:pPr>
            <a:r>
              <a:rPr lang="en-US" sz="2000" dirty="0"/>
              <a:t> The Adjacency Matrix </a:t>
            </a:r>
            <a:r>
              <a:rPr lang="en-US" sz="2000" i="1" dirty="0">
                <a:solidFill>
                  <a:srgbClr val="002060"/>
                </a:solidFill>
              </a:rPr>
              <a:t>A=(</a:t>
            </a:r>
            <a:r>
              <a:rPr lang="en-US" sz="2000" i="1" dirty="0" err="1">
                <a:solidFill>
                  <a:srgbClr val="002060"/>
                </a:solidFill>
              </a:rPr>
              <a:t>a</a:t>
            </a:r>
            <a:r>
              <a:rPr lang="en-US" sz="2000" i="1" baseline="-25000" dirty="0" err="1">
                <a:solidFill>
                  <a:srgbClr val="002060"/>
                </a:solidFill>
              </a:rPr>
              <a:t>i,j</a:t>
            </a:r>
            <a:r>
              <a:rPr lang="en-US" sz="2000" i="1" dirty="0">
                <a:solidFill>
                  <a:srgbClr val="002060"/>
                </a:solidFill>
              </a:rPr>
              <a:t>)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/>
              <a:t>of a graph G=(V,E) with </a:t>
            </a:r>
            <a:r>
              <a:rPr lang="en-US" sz="2000" i="1" dirty="0">
                <a:solidFill>
                  <a:srgbClr val="002060"/>
                </a:solidFill>
              </a:rPr>
              <a:t>n nodes </a:t>
            </a:r>
            <a:r>
              <a:rPr lang="en-US" sz="2000" dirty="0"/>
              <a:t>is an </a:t>
            </a:r>
            <a:r>
              <a:rPr lang="en-US" sz="2000" i="1" dirty="0">
                <a:solidFill>
                  <a:srgbClr val="002060"/>
                </a:solidFill>
              </a:rPr>
              <a:t>n x n</a:t>
            </a:r>
            <a:r>
              <a:rPr lang="en-US" sz="2000" dirty="0"/>
              <a:t> matrix</a:t>
            </a:r>
            <a:r>
              <a:rPr lang="en-US" sz="2000" i="1" dirty="0">
                <a:solidFill>
                  <a:schemeClr val="accent2"/>
                </a:solidFill>
              </a:rPr>
              <a:t>  </a:t>
            </a:r>
          </a:p>
          <a:p>
            <a:pPr lvl="1" eaLnBrk="1" hangingPunct="1">
              <a:lnSpc>
                <a:spcPct val="90000"/>
              </a:lnSpc>
              <a:buClr>
                <a:srgbClr val="002060"/>
              </a:buClr>
              <a:buFont typeface="Wingdings" pitchFamily="2" charset="2"/>
              <a:buChar char="Ø"/>
            </a:pPr>
            <a:r>
              <a:rPr lang="en-US" sz="2000" dirty="0"/>
              <a:t> Each element of A is either </a:t>
            </a:r>
            <a:r>
              <a:rPr lang="en-US" sz="2000" i="1" dirty="0">
                <a:solidFill>
                  <a:srgbClr val="002060"/>
                </a:solidFill>
              </a:rPr>
              <a:t>0 or 1</a:t>
            </a:r>
            <a:r>
              <a:rPr lang="en-US" sz="2000" dirty="0"/>
              <a:t>, depending on the adjacency of the nodes</a:t>
            </a:r>
          </a:p>
          <a:p>
            <a:pPr lvl="1" eaLnBrk="1" hangingPunct="1">
              <a:lnSpc>
                <a:spcPct val="90000"/>
              </a:lnSpc>
              <a:buClr>
                <a:srgbClr val="002060"/>
              </a:buClr>
              <a:buFont typeface="Wingdings" pitchFamily="2" charset="2"/>
              <a:buChar char="Ø"/>
            </a:pPr>
            <a:r>
              <a:rPr lang="en-US" sz="2000" dirty="0"/>
              <a:t> </a:t>
            </a:r>
            <a:r>
              <a:rPr lang="en-US" sz="2000" dirty="0" err="1">
                <a:solidFill>
                  <a:srgbClr val="002060"/>
                </a:solidFill>
              </a:rPr>
              <a:t>a</a:t>
            </a:r>
            <a:r>
              <a:rPr lang="en-US" sz="2000" baseline="-25000" dirty="0" err="1">
                <a:solidFill>
                  <a:srgbClr val="002060"/>
                </a:solidFill>
              </a:rPr>
              <a:t>ij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/>
              <a:t>= 1, if </a:t>
            </a:r>
            <a:r>
              <a:rPr lang="en-US" sz="2000" dirty="0">
                <a:solidFill>
                  <a:srgbClr val="002060"/>
                </a:solidFill>
              </a:rPr>
              <a:t>(</a:t>
            </a:r>
            <a:r>
              <a:rPr lang="en-US" sz="2000" dirty="0" err="1">
                <a:solidFill>
                  <a:srgbClr val="002060"/>
                </a:solidFill>
              </a:rPr>
              <a:t>i,j</a:t>
            </a:r>
            <a:r>
              <a:rPr lang="en-US" sz="2000" dirty="0">
                <a:solidFill>
                  <a:srgbClr val="002060"/>
                </a:solidFill>
              </a:rPr>
              <a:t>) </a:t>
            </a:r>
            <a:r>
              <a:rPr lang="ru-RU" sz="2000" dirty="0">
                <a:solidFill>
                  <a:srgbClr val="002060"/>
                </a:solidFill>
              </a:rPr>
              <a:t>Є</a:t>
            </a:r>
            <a:r>
              <a:rPr lang="en-US" sz="2000" dirty="0">
                <a:solidFill>
                  <a:srgbClr val="002060"/>
                </a:solidFill>
              </a:rPr>
              <a:t> E</a:t>
            </a:r>
            <a:r>
              <a:rPr lang="en-US" sz="2000" dirty="0"/>
              <a:t>, </a:t>
            </a:r>
          </a:p>
          <a:p>
            <a:pPr lvl="1">
              <a:buClr>
                <a:srgbClr val="FF0000"/>
              </a:buClr>
              <a:buNone/>
            </a:pPr>
            <a:r>
              <a:rPr lang="en-US" sz="2000" dirty="0"/>
              <a:t>	 </a:t>
            </a:r>
            <a:r>
              <a:rPr lang="en-US" sz="2000" dirty="0" err="1">
                <a:solidFill>
                  <a:srgbClr val="002060"/>
                </a:solidFill>
              </a:rPr>
              <a:t>a</a:t>
            </a:r>
            <a:r>
              <a:rPr lang="en-US" sz="2000" baseline="-25000" dirty="0" err="1">
                <a:solidFill>
                  <a:srgbClr val="002060"/>
                </a:solidFill>
              </a:rPr>
              <a:t>ij</a:t>
            </a:r>
            <a:r>
              <a:rPr lang="en-US" sz="2000" dirty="0"/>
              <a:t> = 0, otherwise</a:t>
            </a:r>
          </a:p>
          <a:p>
            <a:pPr marL="0" indent="0" eaLnBrk="1" hangingPunct="1">
              <a:lnSpc>
                <a:spcPct val="90000"/>
              </a:lnSpc>
              <a:buClr>
                <a:srgbClr val="FF0000"/>
              </a:buClr>
              <a:buNone/>
            </a:pPr>
            <a:r>
              <a:rPr lang="en-US" sz="2000" i="1" dirty="0"/>
              <a:t>     </a:t>
            </a:r>
            <a:r>
              <a:rPr lang="en-US" sz="2000" b="1" i="1" dirty="0">
                <a:solidFill>
                  <a:srgbClr val="002060"/>
                </a:solidFill>
              </a:rPr>
              <a:t>Example: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dirty="0"/>
              <a:t>Find the adjacency matrices of the following graphs.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7157801" y="2436330"/>
            <a:ext cx="2362200" cy="1143000"/>
            <a:chOff x="384" y="2256"/>
            <a:chExt cx="1971" cy="1287"/>
          </a:xfrm>
        </p:grpSpPr>
        <p:sp>
          <p:nvSpPr>
            <p:cNvPr id="25669" name="Oval 16"/>
            <p:cNvSpPr>
              <a:spLocks noChangeArrowheads="1"/>
            </p:cNvSpPr>
            <p:nvPr/>
          </p:nvSpPr>
          <p:spPr bwMode="auto">
            <a:xfrm>
              <a:off x="723" y="2304"/>
              <a:ext cx="366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25670" name="Oval 17"/>
            <p:cNvSpPr>
              <a:spLocks noChangeArrowheads="1"/>
            </p:cNvSpPr>
            <p:nvPr/>
          </p:nvSpPr>
          <p:spPr bwMode="auto">
            <a:xfrm>
              <a:off x="1375" y="2682"/>
              <a:ext cx="36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2</a:t>
              </a:r>
            </a:p>
          </p:txBody>
        </p:sp>
        <p:sp>
          <p:nvSpPr>
            <p:cNvPr id="25671" name="Oval 18"/>
            <p:cNvSpPr>
              <a:spLocks noChangeArrowheads="1"/>
            </p:cNvSpPr>
            <p:nvPr/>
          </p:nvSpPr>
          <p:spPr bwMode="auto">
            <a:xfrm>
              <a:off x="1988" y="2256"/>
              <a:ext cx="36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3</a:t>
              </a:r>
            </a:p>
          </p:txBody>
        </p:sp>
        <p:sp>
          <p:nvSpPr>
            <p:cNvPr id="25672" name="Oval 19"/>
            <p:cNvSpPr>
              <a:spLocks noChangeArrowheads="1"/>
            </p:cNvSpPr>
            <p:nvPr/>
          </p:nvSpPr>
          <p:spPr bwMode="auto">
            <a:xfrm>
              <a:off x="384" y="2990"/>
              <a:ext cx="36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4</a:t>
              </a:r>
            </a:p>
          </p:txBody>
        </p:sp>
        <p:sp>
          <p:nvSpPr>
            <p:cNvPr id="25673" name="Oval 20"/>
            <p:cNvSpPr>
              <a:spLocks noChangeArrowheads="1"/>
            </p:cNvSpPr>
            <p:nvPr/>
          </p:nvSpPr>
          <p:spPr bwMode="auto">
            <a:xfrm>
              <a:off x="1805" y="3229"/>
              <a:ext cx="367" cy="3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5</a:t>
              </a:r>
            </a:p>
          </p:txBody>
        </p:sp>
        <p:sp>
          <p:nvSpPr>
            <p:cNvPr id="25674" name="Line 21"/>
            <p:cNvSpPr>
              <a:spLocks noChangeShapeType="1"/>
            </p:cNvSpPr>
            <p:nvPr/>
          </p:nvSpPr>
          <p:spPr bwMode="auto">
            <a:xfrm>
              <a:off x="1072" y="2413"/>
              <a:ext cx="9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5675" name="Line 22"/>
            <p:cNvSpPr>
              <a:spLocks noChangeShapeType="1"/>
            </p:cNvSpPr>
            <p:nvPr/>
          </p:nvSpPr>
          <p:spPr bwMode="auto">
            <a:xfrm>
              <a:off x="980" y="2609"/>
              <a:ext cx="413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5676" name="Line 23"/>
            <p:cNvSpPr>
              <a:spLocks noChangeShapeType="1"/>
            </p:cNvSpPr>
            <p:nvPr/>
          </p:nvSpPr>
          <p:spPr bwMode="auto">
            <a:xfrm>
              <a:off x="751" y="3120"/>
              <a:ext cx="1054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5677" name="Line 24"/>
            <p:cNvSpPr>
              <a:spLocks noChangeShapeType="1"/>
            </p:cNvSpPr>
            <p:nvPr/>
          </p:nvSpPr>
          <p:spPr bwMode="auto">
            <a:xfrm flipH="1">
              <a:off x="660" y="2609"/>
              <a:ext cx="137" cy="3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5678" name="Line 25"/>
            <p:cNvSpPr>
              <a:spLocks noChangeShapeType="1"/>
            </p:cNvSpPr>
            <p:nvPr/>
          </p:nvSpPr>
          <p:spPr bwMode="auto">
            <a:xfrm flipH="1">
              <a:off x="1714" y="2531"/>
              <a:ext cx="366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5679" name="Line 26"/>
            <p:cNvSpPr>
              <a:spLocks noChangeShapeType="1"/>
            </p:cNvSpPr>
            <p:nvPr/>
          </p:nvSpPr>
          <p:spPr bwMode="auto">
            <a:xfrm flipH="1">
              <a:off x="2080" y="2570"/>
              <a:ext cx="138" cy="6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ar-JO"/>
            </a:p>
          </p:txBody>
        </p:sp>
      </p:grpSp>
      <p:graphicFrame>
        <p:nvGraphicFramePr>
          <p:cNvPr id="79940" name="Group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996729"/>
              </p:ext>
            </p:extLst>
          </p:nvPr>
        </p:nvGraphicFramePr>
        <p:xfrm>
          <a:off x="9759614" y="2287349"/>
          <a:ext cx="2133600" cy="1333500"/>
        </p:xfrm>
        <a:graphic>
          <a:graphicData uri="http://schemas.openxmlformats.org/drawingml/2006/table">
            <a:tbl>
              <a:tblPr/>
              <a:tblGrid>
                <a:gridCol w="42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4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121920" marR="12192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21920" marR="12192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21920" marR="12192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21920" marR="12192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121920" marR="12192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Group 69"/>
          <p:cNvGrpSpPr>
            <a:grpSpLocks/>
          </p:cNvGrpSpPr>
          <p:nvPr/>
        </p:nvGrpSpPr>
        <p:grpSpPr bwMode="auto">
          <a:xfrm>
            <a:off x="7625213" y="1251257"/>
            <a:ext cx="1955800" cy="781050"/>
            <a:chOff x="688" y="2976"/>
            <a:chExt cx="1232" cy="635"/>
          </a:xfrm>
        </p:grpSpPr>
        <p:sp>
          <p:nvSpPr>
            <p:cNvPr id="25663" name="Oval 70"/>
            <p:cNvSpPr>
              <a:spLocks noChangeArrowheads="1"/>
            </p:cNvSpPr>
            <p:nvPr/>
          </p:nvSpPr>
          <p:spPr bwMode="auto">
            <a:xfrm>
              <a:off x="688" y="3017"/>
              <a:ext cx="276" cy="27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25664" name="Oval 71"/>
            <p:cNvSpPr>
              <a:spLocks noChangeArrowheads="1"/>
            </p:cNvSpPr>
            <p:nvPr/>
          </p:nvSpPr>
          <p:spPr bwMode="auto">
            <a:xfrm>
              <a:off x="1180" y="3341"/>
              <a:ext cx="277" cy="27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2</a:t>
              </a:r>
            </a:p>
          </p:txBody>
        </p:sp>
        <p:sp>
          <p:nvSpPr>
            <p:cNvPr id="25665" name="Oval 72"/>
            <p:cNvSpPr>
              <a:spLocks noChangeArrowheads="1"/>
            </p:cNvSpPr>
            <p:nvPr/>
          </p:nvSpPr>
          <p:spPr bwMode="auto">
            <a:xfrm>
              <a:off x="1643" y="2976"/>
              <a:ext cx="277" cy="26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3</a:t>
              </a:r>
            </a:p>
          </p:txBody>
        </p:sp>
        <p:sp>
          <p:nvSpPr>
            <p:cNvPr id="25666" name="Line 73"/>
            <p:cNvSpPr>
              <a:spLocks noChangeShapeType="1"/>
            </p:cNvSpPr>
            <p:nvPr/>
          </p:nvSpPr>
          <p:spPr bwMode="auto">
            <a:xfrm>
              <a:off x="951" y="3111"/>
              <a:ext cx="6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5667" name="Line 74"/>
            <p:cNvSpPr>
              <a:spLocks noChangeShapeType="1"/>
            </p:cNvSpPr>
            <p:nvPr/>
          </p:nvSpPr>
          <p:spPr bwMode="auto">
            <a:xfrm>
              <a:off x="882" y="3279"/>
              <a:ext cx="312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5668" name="Line 75"/>
            <p:cNvSpPr>
              <a:spLocks noChangeShapeType="1"/>
            </p:cNvSpPr>
            <p:nvPr/>
          </p:nvSpPr>
          <p:spPr bwMode="auto">
            <a:xfrm flipH="1">
              <a:off x="1436" y="3212"/>
              <a:ext cx="276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ar-JO"/>
            </a:p>
          </p:txBody>
        </p:sp>
      </p:grpSp>
      <p:graphicFrame>
        <p:nvGraphicFramePr>
          <p:cNvPr id="79966" name="Group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060170"/>
              </p:ext>
            </p:extLst>
          </p:nvPr>
        </p:nvGraphicFramePr>
        <p:xfrm>
          <a:off x="10033238" y="1251257"/>
          <a:ext cx="1295400" cy="80010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121920" marR="12192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121920" marR="12192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21920" marR="12192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661" name="Rectangle 25"/>
          <p:cNvSpPr>
            <a:spLocks noChangeArrowheads="1"/>
          </p:cNvSpPr>
          <p:nvPr/>
        </p:nvSpPr>
        <p:spPr bwMode="auto">
          <a:xfrm>
            <a:off x="-31652" y="291516"/>
            <a:ext cx="54737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of Graphs</a:t>
            </a:r>
          </a:p>
        </p:txBody>
      </p:sp>
      <p:sp>
        <p:nvSpPr>
          <p:cNvPr id="25662" name="Slide Number Placeholder 2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fld id="{531BB5CD-49D7-47CA-88DA-0B1F840E2EF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42642" y="3701162"/>
            <a:ext cx="772945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</a:rPr>
              <a:t>Adjacency Matrix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lang="en-US" sz="2000" dirty="0">
                <a:solidFill>
                  <a:srgbClr val="002060"/>
                </a:solidFill>
              </a:rPr>
              <a:t>Weighted Graph</a:t>
            </a:r>
          </a:p>
          <a:p>
            <a:pPr lvl="2">
              <a:buClr>
                <a:srgbClr val="002060"/>
              </a:buClr>
              <a:buFont typeface="Wingdings" pitchFamily="2" charset="2"/>
              <a:buChar char="Ø"/>
            </a:pPr>
            <a:r>
              <a:rPr lang="en-US" sz="20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weight of the edge can be shown in the matrix when the vertices are adjacent</a:t>
            </a:r>
          </a:p>
          <a:p>
            <a:pPr lvl="2">
              <a:buClr>
                <a:srgbClr val="002060"/>
              </a:buClr>
              <a:buFont typeface="Wingdings" pitchFamily="2" charset="2"/>
              <a:buChar char="Ø"/>
            </a:pPr>
            <a:r>
              <a:rPr lang="en-US" sz="20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nil value </a:t>
            </a:r>
            <a:r>
              <a:rPr lang="en-US" sz="2000" dirty="0"/>
              <a:t>(</a:t>
            </a:r>
            <a:r>
              <a:rPr lang="en-US" sz="2000" i="1" dirty="0">
                <a:solidFill>
                  <a:srgbClr val="002060"/>
                </a:solidFill>
              </a:rPr>
              <a:t>0 or ∞</a:t>
            </a:r>
            <a:r>
              <a:rPr lang="en-US" sz="2000" dirty="0"/>
              <a:t>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on the problem is used when they are not adjacent</a:t>
            </a:r>
          </a:p>
          <a:p>
            <a:pPr lvl="2" indent="-342900">
              <a:buClr>
                <a:srgbClr val="002060"/>
              </a:buClr>
              <a:buFont typeface="Wingdings" pitchFamily="2" charset="2"/>
              <a:buChar char="Ø"/>
            </a:pPr>
            <a:r>
              <a:rPr lang="en-US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0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the minimum distance between nodes...</a:t>
            </a:r>
          </a:p>
        </p:txBody>
      </p:sp>
      <p:graphicFrame>
        <p:nvGraphicFramePr>
          <p:cNvPr id="27" name="Group 4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5455261"/>
              </p:ext>
            </p:extLst>
          </p:nvPr>
        </p:nvGraphicFramePr>
        <p:xfrm>
          <a:off x="9819978" y="4054556"/>
          <a:ext cx="2073235" cy="1293282"/>
        </p:xfrm>
        <a:graphic>
          <a:graphicData uri="http://schemas.openxmlformats.org/drawingml/2006/table">
            <a:tbl>
              <a:tblPr/>
              <a:tblGrid>
                <a:gridCol w="693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094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marL="121920" marR="12192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094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marL="121920" marR="12192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94"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L="121920" marR="12192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8" name="Group 38"/>
          <p:cNvGrpSpPr>
            <a:grpSpLocks/>
          </p:cNvGrpSpPr>
          <p:nvPr/>
        </p:nvGrpSpPr>
        <p:grpSpPr bwMode="auto">
          <a:xfrm>
            <a:off x="7463013" y="4037066"/>
            <a:ext cx="2118002" cy="1186216"/>
            <a:chOff x="960" y="2928"/>
            <a:chExt cx="1232" cy="731"/>
          </a:xfrm>
        </p:grpSpPr>
        <p:sp>
          <p:nvSpPr>
            <p:cNvPr id="29" name="Oval 5"/>
            <p:cNvSpPr>
              <a:spLocks noChangeArrowheads="1"/>
            </p:cNvSpPr>
            <p:nvPr/>
          </p:nvSpPr>
          <p:spPr bwMode="auto">
            <a:xfrm>
              <a:off x="960" y="3065"/>
              <a:ext cx="276" cy="27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30" name="Oval 6"/>
            <p:cNvSpPr>
              <a:spLocks noChangeArrowheads="1"/>
            </p:cNvSpPr>
            <p:nvPr/>
          </p:nvSpPr>
          <p:spPr bwMode="auto">
            <a:xfrm>
              <a:off x="1452" y="3389"/>
              <a:ext cx="277" cy="27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2</a:t>
              </a:r>
            </a:p>
          </p:txBody>
        </p:sp>
        <p:sp>
          <p:nvSpPr>
            <p:cNvPr id="31" name="Oval 7"/>
            <p:cNvSpPr>
              <a:spLocks noChangeArrowheads="1"/>
            </p:cNvSpPr>
            <p:nvPr/>
          </p:nvSpPr>
          <p:spPr bwMode="auto">
            <a:xfrm>
              <a:off x="1915" y="3024"/>
              <a:ext cx="277" cy="26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3</a:t>
              </a:r>
            </a:p>
          </p:txBody>
        </p:sp>
        <p:sp>
          <p:nvSpPr>
            <p:cNvPr id="32" name="Line 8"/>
            <p:cNvSpPr>
              <a:spLocks noChangeShapeType="1"/>
            </p:cNvSpPr>
            <p:nvPr/>
          </p:nvSpPr>
          <p:spPr bwMode="auto">
            <a:xfrm>
              <a:off x="1223" y="3159"/>
              <a:ext cx="6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33" name="Line 9"/>
            <p:cNvSpPr>
              <a:spLocks noChangeShapeType="1"/>
            </p:cNvSpPr>
            <p:nvPr/>
          </p:nvSpPr>
          <p:spPr bwMode="auto">
            <a:xfrm>
              <a:off x="1154" y="3327"/>
              <a:ext cx="312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34" name="Line 10"/>
            <p:cNvSpPr>
              <a:spLocks noChangeShapeType="1"/>
            </p:cNvSpPr>
            <p:nvPr/>
          </p:nvSpPr>
          <p:spPr bwMode="auto">
            <a:xfrm flipH="1">
              <a:off x="1708" y="3260"/>
              <a:ext cx="276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35" name="Text Box 30"/>
            <p:cNvSpPr txBox="1">
              <a:spLocks noChangeArrowheads="1"/>
            </p:cNvSpPr>
            <p:nvPr/>
          </p:nvSpPr>
          <p:spPr bwMode="auto">
            <a:xfrm>
              <a:off x="1488" y="2928"/>
              <a:ext cx="288" cy="25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/>
                <a:t>9</a:t>
              </a:r>
            </a:p>
          </p:txBody>
        </p:sp>
        <p:sp>
          <p:nvSpPr>
            <p:cNvPr id="36" name="Text Box 31"/>
            <p:cNvSpPr txBox="1">
              <a:spLocks noChangeArrowheads="1"/>
            </p:cNvSpPr>
            <p:nvPr/>
          </p:nvSpPr>
          <p:spPr bwMode="auto">
            <a:xfrm>
              <a:off x="1104" y="3372"/>
              <a:ext cx="240" cy="25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/>
                <a:t>4</a:t>
              </a:r>
            </a:p>
          </p:txBody>
        </p:sp>
        <p:sp>
          <p:nvSpPr>
            <p:cNvPr id="37" name="Text Box 32"/>
            <p:cNvSpPr txBox="1">
              <a:spLocks noChangeArrowheads="1"/>
            </p:cNvSpPr>
            <p:nvPr/>
          </p:nvSpPr>
          <p:spPr bwMode="auto">
            <a:xfrm>
              <a:off x="1824" y="3360"/>
              <a:ext cx="192" cy="25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 dirty="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907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uild="p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8908" y="1182940"/>
            <a:ext cx="11495891" cy="618588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>
              <a:buClr>
                <a:srgbClr val="FF0000"/>
              </a:buClr>
              <a:buNone/>
            </a:pPr>
            <a:r>
              <a:rPr lang="en-US" sz="2000" dirty="0">
                <a:solidFill>
                  <a:srgbClr val="002060"/>
                </a:solidFill>
              </a:rPr>
              <a:t>2- Adjacency List</a:t>
            </a:r>
          </a:p>
          <a:p>
            <a:pPr lvl="1" eaLnBrk="1" hangingPunct="1">
              <a:buClr>
                <a:srgbClr val="002060"/>
              </a:buClr>
              <a:buFont typeface="Wingdings" pitchFamily="2" charset="2"/>
              <a:buChar char="Ø"/>
            </a:pPr>
            <a:r>
              <a:rPr lang="en-US" sz="2000" dirty="0"/>
              <a:t> An Adjacency list is an array of lists, each list showing the vertices a given vertex is adjacent to….  </a:t>
            </a:r>
          </a:p>
          <a:p>
            <a:pPr lvl="1" eaLnBrk="1" hangingPunct="1">
              <a:buClr>
                <a:srgbClr val="FF0000"/>
              </a:buClr>
              <a:buFont typeface="Wingdings" pitchFamily="2" charset="2"/>
              <a:buChar char="Ø"/>
            </a:pPr>
            <a:endParaRPr lang="en-US" sz="2000" dirty="0"/>
          </a:p>
          <a:p>
            <a:pPr lvl="1" eaLnBrk="1" hangingPunct="1">
              <a:buClr>
                <a:srgbClr val="FF0000"/>
              </a:buClr>
              <a:buFont typeface="Wingdings" pitchFamily="2" charset="2"/>
              <a:buChar char="Ø"/>
            </a:pPr>
            <a:endParaRPr lang="en-US" sz="2000" dirty="0"/>
          </a:p>
          <a:p>
            <a:pPr lvl="1" eaLnBrk="1" hangingPunct="1">
              <a:buClr>
                <a:srgbClr val="FF0000"/>
              </a:buClr>
              <a:buFont typeface="Wingdings" pitchFamily="2" charset="2"/>
              <a:buChar char="Ø"/>
            </a:pPr>
            <a:endParaRPr lang="en-US" sz="2000" dirty="0"/>
          </a:p>
          <a:p>
            <a:pPr lvl="1" eaLnBrk="1" hangingPunct="1">
              <a:buClr>
                <a:srgbClr val="FF0000"/>
              </a:buClr>
              <a:buFont typeface="Wingdings" pitchFamily="2" charset="2"/>
              <a:buChar char="Ø"/>
            </a:pPr>
            <a:endParaRPr lang="en-US" sz="2000" dirty="0"/>
          </a:p>
          <a:p>
            <a:pPr algn="just" eaLnBrk="1" hangingPunct="1">
              <a:buClr>
                <a:srgbClr val="FF0000"/>
              </a:buClr>
              <a:buFont typeface="Wingdings" pitchFamily="2" charset="2"/>
              <a:buChar char="Ø"/>
            </a:pPr>
            <a:endParaRPr lang="en-US" sz="2000" dirty="0"/>
          </a:p>
          <a:p>
            <a:pPr algn="just" eaLnBrk="1" hangingPunct="1">
              <a:buClr>
                <a:srgbClr val="FF0000"/>
              </a:buClr>
              <a:buFont typeface="Wingdings" pitchFamily="2" charset="2"/>
              <a:buChar char="Ø"/>
            </a:pPr>
            <a:endParaRPr lang="en-US" sz="2000" dirty="0"/>
          </a:p>
          <a:p>
            <a:pPr algn="just" eaLnBrk="1" hangingPunct="1">
              <a:buClr>
                <a:srgbClr val="FF0000"/>
              </a:buClr>
              <a:buFont typeface="Wingdings" pitchFamily="2" charset="2"/>
              <a:buChar char="Ø"/>
            </a:pPr>
            <a:endParaRPr lang="en-US" sz="2000" dirty="0"/>
          </a:p>
          <a:p>
            <a:pPr algn="just" eaLnBrk="1" hangingPunct="1">
              <a:buClr>
                <a:srgbClr val="002060"/>
              </a:buClr>
              <a:buFont typeface="Wingdings" panose="05000000000000000000" pitchFamily="2" charset="2"/>
              <a:buChar char="q"/>
            </a:pPr>
            <a:endParaRPr lang="en-US" sz="2000" dirty="0"/>
          </a:p>
          <a:p>
            <a:pPr lvl="1" eaLnBrk="1" hangingPunct="1">
              <a:buClr>
                <a:srgbClr val="FF0000"/>
              </a:buClr>
              <a:buFont typeface="Wingdings" pitchFamily="2" charset="2"/>
              <a:buChar char="Ø"/>
            </a:pPr>
            <a:endParaRPr lang="en-US" sz="2000" dirty="0"/>
          </a:p>
          <a:p>
            <a:pPr eaLnBrk="1" hangingPunct="1">
              <a:buClr>
                <a:srgbClr val="FF0000"/>
              </a:buClr>
              <a:buFont typeface="Wingdings" pitchFamily="2" charset="2"/>
              <a:buChar char="Ø"/>
            </a:pPr>
            <a:endParaRPr lang="en-US" sz="2000" dirty="0"/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937510" y="1982633"/>
            <a:ext cx="3048000" cy="1316478"/>
            <a:chOff x="576" y="2638"/>
            <a:chExt cx="1584" cy="1298"/>
          </a:xfrm>
        </p:grpSpPr>
        <p:sp>
          <p:nvSpPr>
            <p:cNvPr id="27752" name="Oval 5"/>
            <p:cNvSpPr>
              <a:spLocks noChangeArrowheads="1"/>
            </p:cNvSpPr>
            <p:nvPr/>
          </p:nvSpPr>
          <p:spPr bwMode="auto">
            <a:xfrm>
              <a:off x="848" y="2688"/>
              <a:ext cx="295" cy="31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27753" name="Oval 6"/>
            <p:cNvSpPr>
              <a:spLocks noChangeArrowheads="1"/>
            </p:cNvSpPr>
            <p:nvPr/>
          </p:nvSpPr>
          <p:spPr bwMode="auto">
            <a:xfrm>
              <a:off x="1372" y="3069"/>
              <a:ext cx="295" cy="31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2</a:t>
              </a:r>
            </a:p>
          </p:txBody>
        </p:sp>
        <p:sp>
          <p:nvSpPr>
            <p:cNvPr id="27754" name="Oval 7"/>
            <p:cNvSpPr>
              <a:spLocks noChangeArrowheads="1"/>
            </p:cNvSpPr>
            <p:nvPr/>
          </p:nvSpPr>
          <p:spPr bwMode="auto">
            <a:xfrm>
              <a:off x="1865" y="2640"/>
              <a:ext cx="295" cy="31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3</a:t>
              </a:r>
            </a:p>
          </p:txBody>
        </p:sp>
        <p:sp>
          <p:nvSpPr>
            <p:cNvPr id="27755" name="Oval 8"/>
            <p:cNvSpPr>
              <a:spLocks noChangeArrowheads="1"/>
            </p:cNvSpPr>
            <p:nvPr/>
          </p:nvSpPr>
          <p:spPr bwMode="auto">
            <a:xfrm>
              <a:off x="576" y="3379"/>
              <a:ext cx="295" cy="31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4</a:t>
              </a:r>
            </a:p>
          </p:txBody>
        </p:sp>
        <p:sp>
          <p:nvSpPr>
            <p:cNvPr id="27756" name="Oval 9"/>
            <p:cNvSpPr>
              <a:spLocks noChangeArrowheads="1"/>
            </p:cNvSpPr>
            <p:nvPr/>
          </p:nvSpPr>
          <p:spPr bwMode="auto">
            <a:xfrm>
              <a:off x="1718" y="3620"/>
              <a:ext cx="295" cy="31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5</a:t>
              </a:r>
            </a:p>
          </p:txBody>
        </p:sp>
        <p:sp>
          <p:nvSpPr>
            <p:cNvPr id="27757" name="Line 10"/>
            <p:cNvSpPr>
              <a:spLocks noChangeShapeType="1"/>
            </p:cNvSpPr>
            <p:nvPr/>
          </p:nvSpPr>
          <p:spPr bwMode="auto">
            <a:xfrm>
              <a:off x="1129" y="2798"/>
              <a:ext cx="7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7758" name="Line 11"/>
            <p:cNvSpPr>
              <a:spLocks noChangeShapeType="1"/>
            </p:cNvSpPr>
            <p:nvPr/>
          </p:nvSpPr>
          <p:spPr bwMode="auto">
            <a:xfrm>
              <a:off x="1055" y="2995"/>
              <a:ext cx="332" cy="1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7759" name="Line 12"/>
            <p:cNvSpPr>
              <a:spLocks noChangeShapeType="1"/>
            </p:cNvSpPr>
            <p:nvPr/>
          </p:nvSpPr>
          <p:spPr bwMode="auto">
            <a:xfrm>
              <a:off x="871" y="3510"/>
              <a:ext cx="847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7760" name="Line 13"/>
            <p:cNvSpPr>
              <a:spLocks noChangeShapeType="1"/>
            </p:cNvSpPr>
            <p:nvPr/>
          </p:nvSpPr>
          <p:spPr bwMode="auto">
            <a:xfrm flipH="1">
              <a:off x="798" y="2995"/>
              <a:ext cx="110" cy="3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7761" name="Line 14"/>
            <p:cNvSpPr>
              <a:spLocks noChangeShapeType="1"/>
            </p:cNvSpPr>
            <p:nvPr/>
          </p:nvSpPr>
          <p:spPr bwMode="auto">
            <a:xfrm flipH="1">
              <a:off x="1645" y="2917"/>
              <a:ext cx="294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7762" name="Line 15"/>
            <p:cNvSpPr>
              <a:spLocks noChangeShapeType="1"/>
            </p:cNvSpPr>
            <p:nvPr/>
          </p:nvSpPr>
          <p:spPr bwMode="auto">
            <a:xfrm flipH="1">
              <a:off x="1939" y="2956"/>
              <a:ext cx="111" cy="6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117" name="Oval 5"/>
            <p:cNvSpPr>
              <a:spLocks noChangeArrowheads="1"/>
            </p:cNvSpPr>
            <p:nvPr/>
          </p:nvSpPr>
          <p:spPr bwMode="auto">
            <a:xfrm>
              <a:off x="848" y="2688"/>
              <a:ext cx="295" cy="31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118" name="Oval 6"/>
            <p:cNvSpPr>
              <a:spLocks noChangeArrowheads="1"/>
            </p:cNvSpPr>
            <p:nvPr/>
          </p:nvSpPr>
          <p:spPr bwMode="auto">
            <a:xfrm>
              <a:off x="1372" y="3069"/>
              <a:ext cx="295" cy="31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2</a:t>
              </a:r>
            </a:p>
          </p:txBody>
        </p:sp>
        <p:sp>
          <p:nvSpPr>
            <p:cNvPr id="119" name="Oval 8"/>
            <p:cNvSpPr>
              <a:spLocks noChangeArrowheads="1"/>
            </p:cNvSpPr>
            <p:nvPr/>
          </p:nvSpPr>
          <p:spPr bwMode="auto">
            <a:xfrm>
              <a:off x="576" y="3379"/>
              <a:ext cx="295" cy="31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4</a:t>
              </a:r>
            </a:p>
          </p:txBody>
        </p:sp>
        <p:sp>
          <p:nvSpPr>
            <p:cNvPr id="120" name="Oval 7"/>
            <p:cNvSpPr>
              <a:spLocks noChangeArrowheads="1"/>
            </p:cNvSpPr>
            <p:nvPr/>
          </p:nvSpPr>
          <p:spPr bwMode="auto">
            <a:xfrm>
              <a:off x="1865" y="2638"/>
              <a:ext cx="295" cy="31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3</a:t>
              </a:r>
            </a:p>
          </p:txBody>
        </p:sp>
        <p:sp>
          <p:nvSpPr>
            <p:cNvPr id="121" name="Oval 9"/>
            <p:cNvSpPr>
              <a:spLocks noChangeArrowheads="1"/>
            </p:cNvSpPr>
            <p:nvPr/>
          </p:nvSpPr>
          <p:spPr bwMode="auto">
            <a:xfrm>
              <a:off x="1718" y="3618"/>
              <a:ext cx="295" cy="31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pitchFamily="34" charset="0"/>
                </a:rPr>
                <a:t>5</a:t>
              </a:r>
            </a:p>
          </p:txBody>
        </p:sp>
        <p:sp>
          <p:nvSpPr>
            <p:cNvPr id="122" name="Oval 5"/>
            <p:cNvSpPr>
              <a:spLocks noChangeArrowheads="1"/>
            </p:cNvSpPr>
            <p:nvPr/>
          </p:nvSpPr>
          <p:spPr bwMode="auto">
            <a:xfrm>
              <a:off x="848" y="2686"/>
              <a:ext cx="295" cy="31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123" name="Oval 6"/>
            <p:cNvSpPr>
              <a:spLocks noChangeArrowheads="1"/>
            </p:cNvSpPr>
            <p:nvPr/>
          </p:nvSpPr>
          <p:spPr bwMode="auto">
            <a:xfrm>
              <a:off x="1372" y="3067"/>
              <a:ext cx="295" cy="31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2</a:t>
              </a:r>
            </a:p>
          </p:txBody>
        </p:sp>
        <p:sp>
          <p:nvSpPr>
            <p:cNvPr id="124" name="Oval 8"/>
            <p:cNvSpPr>
              <a:spLocks noChangeArrowheads="1"/>
            </p:cNvSpPr>
            <p:nvPr/>
          </p:nvSpPr>
          <p:spPr bwMode="auto">
            <a:xfrm>
              <a:off x="576" y="3377"/>
              <a:ext cx="295" cy="31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4</a:t>
              </a:r>
            </a:p>
          </p:txBody>
        </p:sp>
      </p:grpSp>
      <p:grpSp>
        <p:nvGrpSpPr>
          <p:cNvPr id="3" name="Group 78"/>
          <p:cNvGrpSpPr>
            <a:grpSpLocks/>
          </p:cNvGrpSpPr>
          <p:nvPr/>
        </p:nvGrpSpPr>
        <p:grpSpPr bwMode="auto">
          <a:xfrm>
            <a:off x="5020752" y="1960653"/>
            <a:ext cx="3251200" cy="1684337"/>
            <a:chOff x="2770" y="2438"/>
            <a:chExt cx="1742" cy="1227"/>
          </a:xfrm>
        </p:grpSpPr>
        <p:grpSp>
          <p:nvGrpSpPr>
            <p:cNvPr id="4" name="Group 28"/>
            <p:cNvGrpSpPr>
              <a:grpSpLocks/>
            </p:cNvGrpSpPr>
            <p:nvPr/>
          </p:nvGrpSpPr>
          <p:grpSpPr bwMode="auto">
            <a:xfrm>
              <a:off x="2770" y="2478"/>
              <a:ext cx="164" cy="1187"/>
              <a:chOff x="2770" y="2478"/>
              <a:chExt cx="164" cy="1187"/>
            </a:xfrm>
          </p:grpSpPr>
          <p:sp>
            <p:nvSpPr>
              <p:cNvPr id="27747" name="Text Box 23"/>
              <p:cNvSpPr txBox="1">
                <a:spLocks noChangeArrowheads="1"/>
              </p:cNvSpPr>
              <p:nvPr/>
            </p:nvSpPr>
            <p:spPr bwMode="auto">
              <a:xfrm>
                <a:off x="2779" y="2478"/>
                <a:ext cx="155" cy="26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1</a:t>
                </a:r>
              </a:p>
            </p:txBody>
          </p:sp>
          <p:sp>
            <p:nvSpPr>
              <p:cNvPr id="27748" name="Text Box 24"/>
              <p:cNvSpPr txBox="1">
                <a:spLocks noChangeArrowheads="1"/>
              </p:cNvSpPr>
              <p:nvPr/>
            </p:nvSpPr>
            <p:spPr bwMode="auto">
              <a:xfrm>
                <a:off x="2779" y="2706"/>
                <a:ext cx="155" cy="26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2</a:t>
                </a:r>
              </a:p>
            </p:txBody>
          </p:sp>
          <p:sp>
            <p:nvSpPr>
              <p:cNvPr id="27749" name="Text Box 25"/>
              <p:cNvSpPr txBox="1">
                <a:spLocks noChangeArrowheads="1"/>
              </p:cNvSpPr>
              <p:nvPr/>
            </p:nvSpPr>
            <p:spPr bwMode="auto">
              <a:xfrm>
                <a:off x="2779" y="2937"/>
                <a:ext cx="155" cy="26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3</a:t>
                </a:r>
              </a:p>
            </p:txBody>
          </p:sp>
          <p:sp>
            <p:nvSpPr>
              <p:cNvPr id="27750" name="Text Box 26"/>
              <p:cNvSpPr txBox="1">
                <a:spLocks noChangeArrowheads="1"/>
              </p:cNvSpPr>
              <p:nvPr/>
            </p:nvSpPr>
            <p:spPr bwMode="auto">
              <a:xfrm>
                <a:off x="2770" y="3165"/>
                <a:ext cx="154" cy="26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 dirty="0"/>
                  <a:t>4</a:t>
                </a:r>
              </a:p>
            </p:txBody>
          </p:sp>
          <p:sp>
            <p:nvSpPr>
              <p:cNvPr id="27751" name="Text Box 27"/>
              <p:cNvSpPr txBox="1">
                <a:spLocks noChangeArrowheads="1"/>
              </p:cNvSpPr>
              <p:nvPr/>
            </p:nvSpPr>
            <p:spPr bwMode="auto">
              <a:xfrm>
                <a:off x="2770" y="3396"/>
                <a:ext cx="154" cy="26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5</a:t>
                </a:r>
              </a:p>
            </p:txBody>
          </p:sp>
        </p:grpSp>
        <p:grpSp>
          <p:nvGrpSpPr>
            <p:cNvPr id="5" name="Group 34"/>
            <p:cNvGrpSpPr>
              <a:grpSpLocks/>
            </p:cNvGrpSpPr>
            <p:nvPr/>
          </p:nvGrpSpPr>
          <p:grpSpPr bwMode="auto">
            <a:xfrm>
              <a:off x="3417" y="2438"/>
              <a:ext cx="480" cy="279"/>
              <a:chOff x="3408" y="2411"/>
              <a:chExt cx="480" cy="279"/>
            </a:xfrm>
          </p:grpSpPr>
          <p:grpSp>
            <p:nvGrpSpPr>
              <p:cNvPr id="6" name="Group 31"/>
              <p:cNvGrpSpPr>
                <a:grpSpLocks/>
              </p:cNvGrpSpPr>
              <p:nvPr/>
            </p:nvGrpSpPr>
            <p:grpSpPr bwMode="auto">
              <a:xfrm>
                <a:off x="3408" y="2411"/>
                <a:ext cx="480" cy="269"/>
                <a:chOff x="3264" y="2400"/>
                <a:chExt cx="480" cy="336"/>
              </a:xfrm>
            </p:grpSpPr>
            <p:sp>
              <p:nvSpPr>
                <p:cNvPr id="27745" name="Rectangle 29"/>
                <p:cNvSpPr>
                  <a:spLocks noChangeArrowheads="1"/>
                </p:cNvSpPr>
                <p:nvPr/>
              </p:nvSpPr>
              <p:spPr bwMode="auto">
                <a:xfrm>
                  <a:off x="3264" y="2400"/>
                  <a:ext cx="480" cy="336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ar-JO"/>
                </a:p>
              </p:txBody>
            </p:sp>
            <p:sp>
              <p:nvSpPr>
                <p:cNvPr id="27746" name="Line 30"/>
                <p:cNvSpPr>
                  <a:spLocks noChangeShapeType="1"/>
                </p:cNvSpPr>
                <p:nvPr/>
              </p:nvSpPr>
              <p:spPr bwMode="auto">
                <a:xfrm>
                  <a:off x="3504" y="2448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ar-JO"/>
                </a:p>
              </p:txBody>
            </p:sp>
          </p:grpSp>
          <p:sp>
            <p:nvSpPr>
              <p:cNvPr id="27744" name="Text Box 32"/>
              <p:cNvSpPr txBox="1">
                <a:spLocks noChangeArrowheads="1"/>
              </p:cNvSpPr>
              <p:nvPr/>
            </p:nvSpPr>
            <p:spPr bwMode="auto">
              <a:xfrm>
                <a:off x="3424" y="2421"/>
                <a:ext cx="156" cy="26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2</a:t>
                </a:r>
              </a:p>
            </p:txBody>
          </p:sp>
        </p:grpSp>
        <p:grpSp>
          <p:nvGrpSpPr>
            <p:cNvPr id="7" name="Group 35"/>
            <p:cNvGrpSpPr>
              <a:grpSpLocks/>
            </p:cNvGrpSpPr>
            <p:nvPr/>
          </p:nvGrpSpPr>
          <p:grpSpPr bwMode="auto">
            <a:xfrm>
              <a:off x="3417" y="2678"/>
              <a:ext cx="480" cy="279"/>
              <a:chOff x="3408" y="2411"/>
              <a:chExt cx="480" cy="279"/>
            </a:xfrm>
          </p:grpSpPr>
          <p:grpSp>
            <p:nvGrpSpPr>
              <p:cNvPr id="8" name="Group 36"/>
              <p:cNvGrpSpPr>
                <a:grpSpLocks/>
              </p:cNvGrpSpPr>
              <p:nvPr/>
            </p:nvGrpSpPr>
            <p:grpSpPr bwMode="auto">
              <a:xfrm>
                <a:off x="3408" y="2411"/>
                <a:ext cx="480" cy="269"/>
                <a:chOff x="3264" y="2400"/>
                <a:chExt cx="480" cy="336"/>
              </a:xfrm>
            </p:grpSpPr>
            <p:sp>
              <p:nvSpPr>
                <p:cNvPr id="27741" name="Rectangle 37"/>
                <p:cNvSpPr>
                  <a:spLocks noChangeArrowheads="1"/>
                </p:cNvSpPr>
                <p:nvPr/>
              </p:nvSpPr>
              <p:spPr bwMode="auto">
                <a:xfrm>
                  <a:off x="3264" y="2400"/>
                  <a:ext cx="480" cy="336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ar-JO"/>
                </a:p>
              </p:txBody>
            </p:sp>
            <p:sp>
              <p:nvSpPr>
                <p:cNvPr id="27742" name="Line 38"/>
                <p:cNvSpPr>
                  <a:spLocks noChangeShapeType="1"/>
                </p:cNvSpPr>
                <p:nvPr/>
              </p:nvSpPr>
              <p:spPr bwMode="auto">
                <a:xfrm>
                  <a:off x="3504" y="2448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ar-JO"/>
                </a:p>
              </p:txBody>
            </p:sp>
          </p:grpSp>
          <p:sp>
            <p:nvSpPr>
              <p:cNvPr id="27740" name="Text Box 39"/>
              <p:cNvSpPr txBox="1">
                <a:spLocks noChangeArrowheads="1"/>
              </p:cNvSpPr>
              <p:nvPr/>
            </p:nvSpPr>
            <p:spPr bwMode="auto">
              <a:xfrm>
                <a:off x="3424" y="2421"/>
                <a:ext cx="156" cy="26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1</a:t>
                </a:r>
              </a:p>
            </p:txBody>
          </p:sp>
        </p:grpSp>
        <p:grpSp>
          <p:nvGrpSpPr>
            <p:cNvPr id="9" name="Group 40"/>
            <p:cNvGrpSpPr>
              <a:grpSpLocks/>
            </p:cNvGrpSpPr>
            <p:nvPr/>
          </p:nvGrpSpPr>
          <p:grpSpPr bwMode="auto">
            <a:xfrm>
              <a:off x="4032" y="2678"/>
              <a:ext cx="480" cy="279"/>
              <a:chOff x="3408" y="2411"/>
              <a:chExt cx="480" cy="279"/>
            </a:xfrm>
          </p:grpSpPr>
          <p:grpSp>
            <p:nvGrpSpPr>
              <p:cNvPr id="10" name="Group 41"/>
              <p:cNvGrpSpPr>
                <a:grpSpLocks/>
              </p:cNvGrpSpPr>
              <p:nvPr/>
            </p:nvGrpSpPr>
            <p:grpSpPr bwMode="auto">
              <a:xfrm>
                <a:off x="3408" y="2411"/>
                <a:ext cx="480" cy="269"/>
                <a:chOff x="3264" y="2400"/>
                <a:chExt cx="480" cy="336"/>
              </a:xfrm>
            </p:grpSpPr>
            <p:sp>
              <p:nvSpPr>
                <p:cNvPr id="27737" name="Rectangle 42"/>
                <p:cNvSpPr>
                  <a:spLocks noChangeArrowheads="1"/>
                </p:cNvSpPr>
                <p:nvPr/>
              </p:nvSpPr>
              <p:spPr bwMode="auto">
                <a:xfrm>
                  <a:off x="3264" y="2400"/>
                  <a:ext cx="480" cy="336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ar-JO"/>
                </a:p>
              </p:txBody>
            </p:sp>
            <p:sp>
              <p:nvSpPr>
                <p:cNvPr id="27738" name="Line 43"/>
                <p:cNvSpPr>
                  <a:spLocks noChangeShapeType="1"/>
                </p:cNvSpPr>
                <p:nvPr/>
              </p:nvSpPr>
              <p:spPr bwMode="auto">
                <a:xfrm>
                  <a:off x="3504" y="2448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ar-JO"/>
                </a:p>
              </p:txBody>
            </p:sp>
          </p:grpSp>
          <p:sp>
            <p:nvSpPr>
              <p:cNvPr id="27736" name="Text Box 44"/>
              <p:cNvSpPr txBox="1">
                <a:spLocks noChangeArrowheads="1"/>
              </p:cNvSpPr>
              <p:nvPr/>
            </p:nvSpPr>
            <p:spPr bwMode="auto">
              <a:xfrm>
                <a:off x="3424" y="2421"/>
                <a:ext cx="155" cy="26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3</a:t>
                </a:r>
              </a:p>
            </p:txBody>
          </p:sp>
        </p:grpSp>
        <p:grpSp>
          <p:nvGrpSpPr>
            <p:cNvPr id="11" name="Group 45"/>
            <p:cNvGrpSpPr>
              <a:grpSpLocks/>
            </p:cNvGrpSpPr>
            <p:nvPr/>
          </p:nvGrpSpPr>
          <p:grpSpPr bwMode="auto">
            <a:xfrm>
              <a:off x="3417" y="2909"/>
              <a:ext cx="480" cy="279"/>
              <a:chOff x="3408" y="2411"/>
              <a:chExt cx="480" cy="279"/>
            </a:xfrm>
          </p:grpSpPr>
          <p:grpSp>
            <p:nvGrpSpPr>
              <p:cNvPr id="12" name="Group 46"/>
              <p:cNvGrpSpPr>
                <a:grpSpLocks/>
              </p:cNvGrpSpPr>
              <p:nvPr/>
            </p:nvGrpSpPr>
            <p:grpSpPr bwMode="auto">
              <a:xfrm>
                <a:off x="3408" y="2411"/>
                <a:ext cx="480" cy="269"/>
                <a:chOff x="3264" y="2400"/>
                <a:chExt cx="480" cy="336"/>
              </a:xfrm>
            </p:grpSpPr>
            <p:sp>
              <p:nvSpPr>
                <p:cNvPr id="27733" name="Rectangle 47"/>
                <p:cNvSpPr>
                  <a:spLocks noChangeArrowheads="1"/>
                </p:cNvSpPr>
                <p:nvPr/>
              </p:nvSpPr>
              <p:spPr bwMode="auto">
                <a:xfrm>
                  <a:off x="3264" y="2400"/>
                  <a:ext cx="480" cy="336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ar-JO"/>
                </a:p>
              </p:txBody>
            </p:sp>
            <p:sp>
              <p:nvSpPr>
                <p:cNvPr id="27734" name="Line 48"/>
                <p:cNvSpPr>
                  <a:spLocks noChangeShapeType="1"/>
                </p:cNvSpPr>
                <p:nvPr/>
              </p:nvSpPr>
              <p:spPr bwMode="auto">
                <a:xfrm>
                  <a:off x="3504" y="2448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ar-JO"/>
                </a:p>
              </p:txBody>
            </p:sp>
          </p:grpSp>
          <p:sp>
            <p:nvSpPr>
              <p:cNvPr id="27732" name="Text Box 49"/>
              <p:cNvSpPr txBox="1">
                <a:spLocks noChangeArrowheads="1"/>
              </p:cNvSpPr>
              <p:nvPr/>
            </p:nvSpPr>
            <p:spPr bwMode="auto">
              <a:xfrm>
                <a:off x="3424" y="2421"/>
                <a:ext cx="156" cy="26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1</a:t>
                </a:r>
              </a:p>
            </p:txBody>
          </p:sp>
        </p:grpSp>
        <p:grpSp>
          <p:nvGrpSpPr>
            <p:cNvPr id="13" name="Group 50"/>
            <p:cNvGrpSpPr>
              <a:grpSpLocks/>
            </p:cNvGrpSpPr>
            <p:nvPr/>
          </p:nvGrpSpPr>
          <p:grpSpPr bwMode="auto">
            <a:xfrm>
              <a:off x="4032" y="2909"/>
              <a:ext cx="480" cy="279"/>
              <a:chOff x="3408" y="2411"/>
              <a:chExt cx="480" cy="279"/>
            </a:xfrm>
          </p:grpSpPr>
          <p:grpSp>
            <p:nvGrpSpPr>
              <p:cNvPr id="14" name="Group 51"/>
              <p:cNvGrpSpPr>
                <a:grpSpLocks/>
              </p:cNvGrpSpPr>
              <p:nvPr/>
            </p:nvGrpSpPr>
            <p:grpSpPr bwMode="auto">
              <a:xfrm>
                <a:off x="3408" y="2411"/>
                <a:ext cx="480" cy="269"/>
                <a:chOff x="3264" y="2400"/>
                <a:chExt cx="480" cy="336"/>
              </a:xfrm>
            </p:grpSpPr>
            <p:sp>
              <p:nvSpPr>
                <p:cNvPr id="27729" name="Rectangle 52"/>
                <p:cNvSpPr>
                  <a:spLocks noChangeArrowheads="1"/>
                </p:cNvSpPr>
                <p:nvPr/>
              </p:nvSpPr>
              <p:spPr bwMode="auto">
                <a:xfrm>
                  <a:off x="3264" y="2400"/>
                  <a:ext cx="480" cy="336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ar-JO"/>
                </a:p>
              </p:txBody>
            </p:sp>
            <p:sp>
              <p:nvSpPr>
                <p:cNvPr id="27730" name="Line 53"/>
                <p:cNvSpPr>
                  <a:spLocks noChangeShapeType="1"/>
                </p:cNvSpPr>
                <p:nvPr/>
              </p:nvSpPr>
              <p:spPr bwMode="auto">
                <a:xfrm>
                  <a:off x="3504" y="2448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ar-JO"/>
                </a:p>
              </p:txBody>
            </p:sp>
          </p:grpSp>
          <p:sp>
            <p:nvSpPr>
              <p:cNvPr id="27728" name="Text Box 54"/>
              <p:cNvSpPr txBox="1">
                <a:spLocks noChangeArrowheads="1"/>
              </p:cNvSpPr>
              <p:nvPr/>
            </p:nvSpPr>
            <p:spPr bwMode="auto">
              <a:xfrm>
                <a:off x="3424" y="2421"/>
                <a:ext cx="155" cy="26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5</a:t>
                </a:r>
              </a:p>
            </p:txBody>
          </p:sp>
        </p:grpSp>
        <p:grpSp>
          <p:nvGrpSpPr>
            <p:cNvPr id="15" name="Group 55"/>
            <p:cNvGrpSpPr>
              <a:grpSpLocks/>
            </p:cNvGrpSpPr>
            <p:nvPr/>
          </p:nvGrpSpPr>
          <p:grpSpPr bwMode="auto">
            <a:xfrm>
              <a:off x="3417" y="3140"/>
              <a:ext cx="480" cy="279"/>
              <a:chOff x="3408" y="2411"/>
              <a:chExt cx="480" cy="279"/>
            </a:xfrm>
          </p:grpSpPr>
          <p:grpSp>
            <p:nvGrpSpPr>
              <p:cNvPr id="16" name="Group 56"/>
              <p:cNvGrpSpPr>
                <a:grpSpLocks/>
              </p:cNvGrpSpPr>
              <p:nvPr/>
            </p:nvGrpSpPr>
            <p:grpSpPr bwMode="auto">
              <a:xfrm>
                <a:off x="3408" y="2411"/>
                <a:ext cx="480" cy="269"/>
                <a:chOff x="3264" y="2400"/>
                <a:chExt cx="480" cy="336"/>
              </a:xfrm>
            </p:grpSpPr>
            <p:sp>
              <p:nvSpPr>
                <p:cNvPr id="27725" name="Rectangle 57"/>
                <p:cNvSpPr>
                  <a:spLocks noChangeArrowheads="1"/>
                </p:cNvSpPr>
                <p:nvPr/>
              </p:nvSpPr>
              <p:spPr bwMode="auto">
                <a:xfrm>
                  <a:off x="3264" y="2400"/>
                  <a:ext cx="480" cy="336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ar-JO"/>
                </a:p>
              </p:txBody>
            </p:sp>
            <p:sp>
              <p:nvSpPr>
                <p:cNvPr id="27726" name="Line 58"/>
                <p:cNvSpPr>
                  <a:spLocks noChangeShapeType="1"/>
                </p:cNvSpPr>
                <p:nvPr/>
              </p:nvSpPr>
              <p:spPr bwMode="auto">
                <a:xfrm>
                  <a:off x="3504" y="2448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ar-JO"/>
                </a:p>
              </p:txBody>
            </p:sp>
          </p:grpSp>
          <p:sp>
            <p:nvSpPr>
              <p:cNvPr id="27724" name="Text Box 59"/>
              <p:cNvSpPr txBox="1">
                <a:spLocks noChangeArrowheads="1"/>
              </p:cNvSpPr>
              <p:nvPr/>
            </p:nvSpPr>
            <p:spPr bwMode="auto">
              <a:xfrm>
                <a:off x="3424" y="2421"/>
                <a:ext cx="156" cy="26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1</a:t>
                </a:r>
              </a:p>
            </p:txBody>
          </p:sp>
        </p:grpSp>
        <p:grpSp>
          <p:nvGrpSpPr>
            <p:cNvPr id="17" name="Group 60"/>
            <p:cNvGrpSpPr>
              <a:grpSpLocks/>
            </p:cNvGrpSpPr>
            <p:nvPr/>
          </p:nvGrpSpPr>
          <p:grpSpPr bwMode="auto">
            <a:xfrm>
              <a:off x="4032" y="3140"/>
              <a:ext cx="480" cy="279"/>
              <a:chOff x="3408" y="2411"/>
              <a:chExt cx="480" cy="279"/>
            </a:xfrm>
          </p:grpSpPr>
          <p:grpSp>
            <p:nvGrpSpPr>
              <p:cNvPr id="18" name="Group 61"/>
              <p:cNvGrpSpPr>
                <a:grpSpLocks/>
              </p:cNvGrpSpPr>
              <p:nvPr/>
            </p:nvGrpSpPr>
            <p:grpSpPr bwMode="auto">
              <a:xfrm>
                <a:off x="3408" y="2411"/>
                <a:ext cx="480" cy="269"/>
                <a:chOff x="3264" y="2400"/>
                <a:chExt cx="480" cy="336"/>
              </a:xfrm>
            </p:grpSpPr>
            <p:sp>
              <p:nvSpPr>
                <p:cNvPr id="27721" name="Rectangle 62"/>
                <p:cNvSpPr>
                  <a:spLocks noChangeArrowheads="1"/>
                </p:cNvSpPr>
                <p:nvPr/>
              </p:nvSpPr>
              <p:spPr bwMode="auto">
                <a:xfrm>
                  <a:off x="3264" y="2400"/>
                  <a:ext cx="480" cy="336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ar-JO"/>
                </a:p>
              </p:txBody>
            </p:sp>
            <p:sp>
              <p:nvSpPr>
                <p:cNvPr id="27722" name="Line 63"/>
                <p:cNvSpPr>
                  <a:spLocks noChangeShapeType="1"/>
                </p:cNvSpPr>
                <p:nvPr/>
              </p:nvSpPr>
              <p:spPr bwMode="auto">
                <a:xfrm>
                  <a:off x="3504" y="2448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ar-JO"/>
                </a:p>
              </p:txBody>
            </p:sp>
          </p:grpSp>
          <p:sp>
            <p:nvSpPr>
              <p:cNvPr id="27720" name="Text Box 64"/>
              <p:cNvSpPr txBox="1">
                <a:spLocks noChangeArrowheads="1"/>
              </p:cNvSpPr>
              <p:nvPr/>
            </p:nvSpPr>
            <p:spPr bwMode="auto">
              <a:xfrm>
                <a:off x="3424" y="2421"/>
                <a:ext cx="155" cy="269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5</a:t>
                </a:r>
              </a:p>
            </p:txBody>
          </p:sp>
        </p:grpSp>
        <p:sp>
          <p:nvSpPr>
            <p:cNvPr id="27707" name="Line 65"/>
            <p:cNvSpPr>
              <a:spLocks noChangeShapeType="1"/>
            </p:cNvSpPr>
            <p:nvPr/>
          </p:nvSpPr>
          <p:spPr bwMode="auto">
            <a:xfrm>
              <a:off x="3168" y="257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ar-JO"/>
            </a:p>
          </p:txBody>
        </p:sp>
        <p:sp>
          <p:nvSpPr>
            <p:cNvPr id="27708" name="Line 66"/>
            <p:cNvSpPr>
              <a:spLocks noChangeShapeType="1"/>
            </p:cNvSpPr>
            <p:nvPr/>
          </p:nvSpPr>
          <p:spPr bwMode="auto">
            <a:xfrm>
              <a:off x="3177" y="2793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ar-JO"/>
            </a:p>
          </p:txBody>
        </p:sp>
        <p:sp>
          <p:nvSpPr>
            <p:cNvPr id="27709" name="Line 67"/>
            <p:cNvSpPr>
              <a:spLocks noChangeShapeType="1"/>
            </p:cNvSpPr>
            <p:nvPr/>
          </p:nvSpPr>
          <p:spPr bwMode="auto">
            <a:xfrm>
              <a:off x="3168" y="3033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ar-JO"/>
            </a:p>
          </p:txBody>
        </p:sp>
        <p:sp>
          <p:nvSpPr>
            <p:cNvPr id="27710" name="Line 68"/>
            <p:cNvSpPr>
              <a:spLocks noChangeShapeType="1"/>
            </p:cNvSpPr>
            <p:nvPr/>
          </p:nvSpPr>
          <p:spPr bwMode="auto">
            <a:xfrm>
              <a:off x="3168" y="326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ar-JO"/>
            </a:p>
          </p:txBody>
        </p:sp>
        <p:sp>
          <p:nvSpPr>
            <p:cNvPr id="27711" name="Line 69"/>
            <p:cNvSpPr>
              <a:spLocks noChangeShapeType="1"/>
            </p:cNvSpPr>
            <p:nvPr/>
          </p:nvSpPr>
          <p:spPr bwMode="auto">
            <a:xfrm>
              <a:off x="3792" y="2793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ar-JO"/>
            </a:p>
          </p:txBody>
        </p:sp>
        <p:sp>
          <p:nvSpPr>
            <p:cNvPr id="27712" name="Line 70"/>
            <p:cNvSpPr>
              <a:spLocks noChangeShapeType="1"/>
            </p:cNvSpPr>
            <p:nvPr/>
          </p:nvSpPr>
          <p:spPr bwMode="auto">
            <a:xfrm>
              <a:off x="3792" y="304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ar-JO"/>
            </a:p>
          </p:txBody>
        </p:sp>
        <p:sp>
          <p:nvSpPr>
            <p:cNvPr id="27713" name="Line 71"/>
            <p:cNvSpPr>
              <a:spLocks noChangeShapeType="1"/>
            </p:cNvSpPr>
            <p:nvPr/>
          </p:nvSpPr>
          <p:spPr bwMode="auto">
            <a:xfrm>
              <a:off x="3792" y="326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ar-JO"/>
            </a:p>
          </p:txBody>
        </p:sp>
        <p:sp>
          <p:nvSpPr>
            <p:cNvPr id="27714" name="Line 73"/>
            <p:cNvSpPr>
              <a:spLocks noChangeShapeType="1"/>
            </p:cNvSpPr>
            <p:nvPr/>
          </p:nvSpPr>
          <p:spPr bwMode="auto">
            <a:xfrm flipH="1">
              <a:off x="4347" y="2736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ar-JO"/>
            </a:p>
          </p:txBody>
        </p:sp>
        <p:sp>
          <p:nvSpPr>
            <p:cNvPr id="27715" name="Line 74"/>
            <p:cNvSpPr>
              <a:spLocks noChangeShapeType="1"/>
            </p:cNvSpPr>
            <p:nvPr/>
          </p:nvSpPr>
          <p:spPr bwMode="auto">
            <a:xfrm flipH="1">
              <a:off x="4350" y="2973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ar-JO"/>
            </a:p>
          </p:txBody>
        </p:sp>
        <p:sp>
          <p:nvSpPr>
            <p:cNvPr id="27716" name="Line 75"/>
            <p:cNvSpPr>
              <a:spLocks noChangeShapeType="1"/>
            </p:cNvSpPr>
            <p:nvPr/>
          </p:nvSpPr>
          <p:spPr bwMode="auto">
            <a:xfrm flipH="1">
              <a:off x="4347" y="3198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ar-JO"/>
            </a:p>
          </p:txBody>
        </p:sp>
        <p:sp>
          <p:nvSpPr>
            <p:cNvPr id="27717" name="Line 76"/>
            <p:cNvSpPr>
              <a:spLocks noChangeShapeType="1"/>
            </p:cNvSpPr>
            <p:nvPr/>
          </p:nvSpPr>
          <p:spPr bwMode="auto">
            <a:xfrm flipH="1">
              <a:off x="3726" y="2496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ar-JO"/>
            </a:p>
          </p:txBody>
        </p:sp>
        <p:sp>
          <p:nvSpPr>
            <p:cNvPr id="27718" name="Line 77"/>
            <p:cNvSpPr>
              <a:spLocks noChangeShapeType="1"/>
            </p:cNvSpPr>
            <p:nvPr/>
          </p:nvSpPr>
          <p:spPr bwMode="auto">
            <a:xfrm flipH="1">
              <a:off x="3108" y="3438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ar-JO"/>
            </a:p>
          </p:txBody>
        </p:sp>
      </p:grpSp>
      <p:grpSp>
        <p:nvGrpSpPr>
          <p:cNvPr id="19" name="Group 81"/>
          <p:cNvGrpSpPr>
            <a:grpSpLocks/>
          </p:cNvGrpSpPr>
          <p:nvPr/>
        </p:nvGrpSpPr>
        <p:grpSpPr bwMode="auto">
          <a:xfrm>
            <a:off x="953864" y="4715835"/>
            <a:ext cx="2489200" cy="1012825"/>
            <a:chOff x="960" y="2928"/>
            <a:chExt cx="1232" cy="734"/>
          </a:xfrm>
        </p:grpSpPr>
        <p:sp>
          <p:nvSpPr>
            <p:cNvPr id="27690" name="Oval 82"/>
            <p:cNvSpPr>
              <a:spLocks noChangeArrowheads="1"/>
            </p:cNvSpPr>
            <p:nvPr/>
          </p:nvSpPr>
          <p:spPr bwMode="auto">
            <a:xfrm>
              <a:off x="960" y="3065"/>
              <a:ext cx="276" cy="27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27691" name="Oval 83"/>
            <p:cNvSpPr>
              <a:spLocks noChangeArrowheads="1"/>
            </p:cNvSpPr>
            <p:nvPr/>
          </p:nvSpPr>
          <p:spPr bwMode="auto">
            <a:xfrm>
              <a:off x="1452" y="3389"/>
              <a:ext cx="277" cy="27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2</a:t>
              </a:r>
            </a:p>
          </p:txBody>
        </p:sp>
        <p:sp>
          <p:nvSpPr>
            <p:cNvPr id="27692" name="Oval 84"/>
            <p:cNvSpPr>
              <a:spLocks noChangeArrowheads="1"/>
            </p:cNvSpPr>
            <p:nvPr/>
          </p:nvSpPr>
          <p:spPr bwMode="auto">
            <a:xfrm>
              <a:off x="1915" y="3024"/>
              <a:ext cx="277" cy="26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dirty="0">
                  <a:latin typeface="Tahoma" pitchFamily="34" charset="0"/>
                </a:rPr>
                <a:t>3</a:t>
              </a:r>
            </a:p>
          </p:txBody>
        </p:sp>
        <p:sp>
          <p:nvSpPr>
            <p:cNvPr id="27693" name="Line 85"/>
            <p:cNvSpPr>
              <a:spLocks noChangeShapeType="1"/>
            </p:cNvSpPr>
            <p:nvPr/>
          </p:nvSpPr>
          <p:spPr bwMode="auto">
            <a:xfrm>
              <a:off x="1223" y="3159"/>
              <a:ext cx="6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7694" name="Line 86"/>
            <p:cNvSpPr>
              <a:spLocks noChangeShapeType="1"/>
            </p:cNvSpPr>
            <p:nvPr/>
          </p:nvSpPr>
          <p:spPr bwMode="auto">
            <a:xfrm>
              <a:off x="1154" y="3327"/>
              <a:ext cx="312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7695" name="Line 87"/>
            <p:cNvSpPr>
              <a:spLocks noChangeShapeType="1"/>
            </p:cNvSpPr>
            <p:nvPr/>
          </p:nvSpPr>
          <p:spPr bwMode="auto">
            <a:xfrm flipH="1">
              <a:off x="1708" y="3260"/>
              <a:ext cx="276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ar-JO"/>
            </a:p>
          </p:txBody>
        </p:sp>
        <p:sp>
          <p:nvSpPr>
            <p:cNvPr id="27696" name="Text Box 88"/>
            <p:cNvSpPr txBox="1">
              <a:spLocks noChangeArrowheads="1"/>
            </p:cNvSpPr>
            <p:nvPr/>
          </p:nvSpPr>
          <p:spPr bwMode="auto">
            <a:xfrm>
              <a:off x="1488" y="2928"/>
              <a:ext cx="288" cy="29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/>
                <a:t>9</a:t>
              </a:r>
            </a:p>
          </p:txBody>
        </p:sp>
        <p:sp>
          <p:nvSpPr>
            <p:cNvPr id="27697" name="Text Box 89"/>
            <p:cNvSpPr txBox="1">
              <a:spLocks noChangeArrowheads="1"/>
            </p:cNvSpPr>
            <p:nvPr/>
          </p:nvSpPr>
          <p:spPr bwMode="auto">
            <a:xfrm>
              <a:off x="1104" y="3372"/>
              <a:ext cx="240" cy="29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/>
                <a:t>4</a:t>
              </a:r>
            </a:p>
          </p:txBody>
        </p:sp>
        <p:sp>
          <p:nvSpPr>
            <p:cNvPr id="27698" name="Text Box 90"/>
            <p:cNvSpPr txBox="1">
              <a:spLocks noChangeArrowheads="1"/>
            </p:cNvSpPr>
            <p:nvPr/>
          </p:nvSpPr>
          <p:spPr bwMode="auto">
            <a:xfrm>
              <a:off x="1824" y="3360"/>
              <a:ext cx="192" cy="29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/>
                <a:t>5</a:t>
              </a:r>
            </a:p>
          </p:txBody>
        </p:sp>
      </p:grpSp>
      <p:grpSp>
        <p:nvGrpSpPr>
          <p:cNvPr id="20" name="Group 91"/>
          <p:cNvGrpSpPr>
            <a:grpSpLocks/>
          </p:cNvGrpSpPr>
          <p:nvPr/>
        </p:nvGrpSpPr>
        <p:grpSpPr bwMode="auto">
          <a:xfrm>
            <a:off x="4906997" y="4675503"/>
            <a:ext cx="4251325" cy="1136650"/>
            <a:chOff x="2779" y="2224"/>
            <a:chExt cx="2165" cy="785"/>
          </a:xfrm>
        </p:grpSpPr>
        <p:sp>
          <p:nvSpPr>
            <p:cNvPr id="27657" name="Text Box 95"/>
            <p:cNvSpPr txBox="1">
              <a:spLocks noChangeArrowheads="1"/>
            </p:cNvSpPr>
            <p:nvPr/>
          </p:nvSpPr>
          <p:spPr bwMode="auto">
            <a:xfrm>
              <a:off x="2779" y="2286"/>
              <a:ext cx="155" cy="25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1</a:t>
              </a:r>
            </a:p>
          </p:txBody>
        </p:sp>
        <p:sp>
          <p:nvSpPr>
            <p:cNvPr id="27658" name="Text Box 96"/>
            <p:cNvSpPr txBox="1">
              <a:spLocks noChangeArrowheads="1"/>
            </p:cNvSpPr>
            <p:nvPr/>
          </p:nvSpPr>
          <p:spPr bwMode="auto">
            <a:xfrm>
              <a:off x="2779" y="2514"/>
              <a:ext cx="155" cy="25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2</a:t>
              </a:r>
            </a:p>
          </p:txBody>
        </p:sp>
        <p:sp>
          <p:nvSpPr>
            <p:cNvPr id="27659" name="Text Box 97"/>
            <p:cNvSpPr txBox="1">
              <a:spLocks noChangeArrowheads="1"/>
            </p:cNvSpPr>
            <p:nvPr/>
          </p:nvSpPr>
          <p:spPr bwMode="auto">
            <a:xfrm>
              <a:off x="2779" y="2745"/>
              <a:ext cx="155" cy="25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3</a:t>
              </a:r>
            </a:p>
          </p:txBody>
        </p:sp>
        <p:sp>
          <p:nvSpPr>
            <p:cNvPr id="27660" name="Line 98"/>
            <p:cNvSpPr>
              <a:spLocks noChangeShapeType="1"/>
            </p:cNvSpPr>
            <p:nvPr/>
          </p:nvSpPr>
          <p:spPr bwMode="auto">
            <a:xfrm>
              <a:off x="3168" y="238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ar-JO"/>
            </a:p>
          </p:txBody>
        </p:sp>
        <p:sp>
          <p:nvSpPr>
            <p:cNvPr id="27661" name="Line 99"/>
            <p:cNvSpPr>
              <a:spLocks noChangeShapeType="1"/>
            </p:cNvSpPr>
            <p:nvPr/>
          </p:nvSpPr>
          <p:spPr bwMode="auto">
            <a:xfrm>
              <a:off x="3177" y="2601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ar-JO"/>
            </a:p>
          </p:txBody>
        </p:sp>
        <p:sp>
          <p:nvSpPr>
            <p:cNvPr id="27662" name="Line 100"/>
            <p:cNvSpPr>
              <a:spLocks noChangeShapeType="1"/>
            </p:cNvSpPr>
            <p:nvPr/>
          </p:nvSpPr>
          <p:spPr bwMode="auto">
            <a:xfrm>
              <a:off x="3168" y="2841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ar-JO"/>
            </a:p>
          </p:txBody>
        </p:sp>
        <p:grpSp>
          <p:nvGrpSpPr>
            <p:cNvPr id="21" name="Group 101"/>
            <p:cNvGrpSpPr>
              <a:grpSpLocks/>
            </p:cNvGrpSpPr>
            <p:nvPr/>
          </p:nvGrpSpPr>
          <p:grpSpPr bwMode="auto">
            <a:xfrm>
              <a:off x="3417" y="2224"/>
              <a:ext cx="711" cy="260"/>
              <a:chOff x="3417" y="2224"/>
              <a:chExt cx="711" cy="260"/>
            </a:xfrm>
          </p:grpSpPr>
          <p:sp>
            <p:nvSpPr>
              <p:cNvPr id="27684" name="Rectangle 102"/>
              <p:cNvSpPr>
                <a:spLocks noChangeArrowheads="1"/>
              </p:cNvSpPr>
              <p:nvPr/>
            </p:nvSpPr>
            <p:spPr bwMode="auto">
              <a:xfrm>
                <a:off x="3417" y="2224"/>
                <a:ext cx="711" cy="255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ar-JO"/>
              </a:p>
            </p:txBody>
          </p:sp>
          <p:sp>
            <p:nvSpPr>
              <p:cNvPr id="27685" name="Text Box 103"/>
              <p:cNvSpPr txBox="1">
                <a:spLocks noChangeArrowheads="1"/>
              </p:cNvSpPr>
              <p:nvPr/>
            </p:nvSpPr>
            <p:spPr bwMode="auto">
              <a:xfrm>
                <a:off x="3433" y="2229"/>
                <a:ext cx="154" cy="25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2</a:t>
                </a:r>
              </a:p>
            </p:txBody>
          </p:sp>
          <p:sp>
            <p:nvSpPr>
              <p:cNvPr id="27686" name="Line 104"/>
              <p:cNvSpPr>
                <a:spLocks noChangeShapeType="1"/>
              </p:cNvSpPr>
              <p:nvPr/>
            </p:nvSpPr>
            <p:spPr bwMode="auto">
              <a:xfrm flipH="1">
                <a:off x="3954" y="2277"/>
                <a:ext cx="9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ar-JO"/>
              </a:p>
            </p:txBody>
          </p:sp>
          <p:sp>
            <p:nvSpPr>
              <p:cNvPr id="27687" name="Line 105"/>
              <p:cNvSpPr>
                <a:spLocks noChangeShapeType="1"/>
              </p:cNvSpPr>
              <p:nvPr/>
            </p:nvSpPr>
            <p:spPr bwMode="auto">
              <a:xfrm>
                <a:off x="3648" y="22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ar-JO"/>
              </a:p>
            </p:txBody>
          </p:sp>
          <p:sp>
            <p:nvSpPr>
              <p:cNvPr id="27688" name="Line 106"/>
              <p:cNvSpPr>
                <a:spLocks noChangeShapeType="1"/>
              </p:cNvSpPr>
              <p:nvPr/>
            </p:nvSpPr>
            <p:spPr bwMode="auto">
              <a:xfrm>
                <a:off x="3894" y="22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ar-JO"/>
              </a:p>
            </p:txBody>
          </p:sp>
          <p:sp>
            <p:nvSpPr>
              <p:cNvPr id="27689" name="Text Box 107"/>
              <p:cNvSpPr txBox="1">
                <a:spLocks noChangeArrowheads="1"/>
              </p:cNvSpPr>
              <p:nvPr/>
            </p:nvSpPr>
            <p:spPr bwMode="auto">
              <a:xfrm>
                <a:off x="3652" y="2226"/>
                <a:ext cx="154" cy="25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4</a:t>
                </a:r>
              </a:p>
            </p:txBody>
          </p:sp>
        </p:grpSp>
        <p:grpSp>
          <p:nvGrpSpPr>
            <p:cNvPr id="22" name="Group 108"/>
            <p:cNvGrpSpPr>
              <a:grpSpLocks/>
            </p:cNvGrpSpPr>
            <p:nvPr/>
          </p:nvGrpSpPr>
          <p:grpSpPr bwMode="auto">
            <a:xfrm>
              <a:off x="3408" y="2482"/>
              <a:ext cx="711" cy="260"/>
              <a:chOff x="3417" y="2224"/>
              <a:chExt cx="711" cy="260"/>
            </a:xfrm>
          </p:grpSpPr>
          <p:sp>
            <p:nvSpPr>
              <p:cNvPr id="27678" name="Rectangle 109"/>
              <p:cNvSpPr>
                <a:spLocks noChangeArrowheads="1"/>
              </p:cNvSpPr>
              <p:nvPr/>
            </p:nvSpPr>
            <p:spPr bwMode="auto">
              <a:xfrm>
                <a:off x="3417" y="2224"/>
                <a:ext cx="711" cy="255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ar-JO"/>
              </a:p>
            </p:txBody>
          </p:sp>
          <p:sp>
            <p:nvSpPr>
              <p:cNvPr id="27679" name="Text Box 110"/>
              <p:cNvSpPr txBox="1">
                <a:spLocks noChangeArrowheads="1"/>
              </p:cNvSpPr>
              <p:nvPr/>
            </p:nvSpPr>
            <p:spPr bwMode="auto">
              <a:xfrm>
                <a:off x="3433" y="2229"/>
                <a:ext cx="155" cy="25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3</a:t>
                </a:r>
              </a:p>
            </p:txBody>
          </p:sp>
          <p:sp>
            <p:nvSpPr>
              <p:cNvPr id="27680" name="Line 111"/>
              <p:cNvSpPr>
                <a:spLocks noChangeShapeType="1"/>
              </p:cNvSpPr>
              <p:nvPr/>
            </p:nvSpPr>
            <p:spPr bwMode="auto">
              <a:xfrm flipH="1">
                <a:off x="3954" y="2277"/>
                <a:ext cx="9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ar-JO"/>
              </a:p>
            </p:txBody>
          </p:sp>
          <p:sp>
            <p:nvSpPr>
              <p:cNvPr id="27681" name="Line 112"/>
              <p:cNvSpPr>
                <a:spLocks noChangeShapeType="1"/>
              </p:cNvSpPr>
              <p:nvPr/>
            </p:nvSpPr>
            <p:spPr bwMode="auto">
              <a:xfrm>
                <a:off x="3648" y="22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ar-JO"/>
              </a:p>
            </p:txBody>
          </p:sp>
          <p:sp>
            <p:nvSpPr>
              <p:cNvPr id="27682" name="Line 113"/>
              <p:cNvSpPr>
                <a:spLocks noChangeShapeType="1"/>
              </p:cNvSpPr>
              <p:nvPr/>
            </p:nvSpPr>
            <p:spPr bwMode="auto">
              <a:xfrm>
                <a:off x="3894" y="22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ar-JO"/>
              </a:p>
            </p:txBody>
          </p:sp>
          <p:sp>
            <p:nvSpPr>
              <p:cNvPr id="27683" name="Text Box 114"/>
              <p:cNvSpPr txBox="1">
                <a:spLocks noChangeArrowheads="1"/>
              </p:cNvSpPr>
              <p:nvPr/>
            </p:nvSpPr>
            <p:spPr bwMode="auto">
              <a:xfrm>
                <a:off x="3652" y="2226"/>
                <a:ext cx="155" cy="25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5</a:t>
                </a:r>
              </a:p>
            </p:txBody>
          </p:sp>
        </p:grpSp>
        <p:sp>
          <p:nvSpPr>
            <p:cNvPr id="27665" name="Rectangle 115"/>
            <p:cNvSpPr>
              <a:spLocks noChangeArrowheads="1"/>
            </p:cNvSpPr>
            <p:nvPr/>
          </p:nvSpPr>
          <p:spPr bwMode="auto">
            <a:xfrm>
              <a:off x="3408" y="2731"/>
              <a:ext cx="711" cy="25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ar-JO"/>
            </a:p>
          </p:txBody>
        </p:sp>
        <p:sp>
          <p:nvSpPr>
            <p:cNvPr id="27666" name="Text Box 116"/>
            <p:cNvSpPr txBox="1">
              <a:spLocks noChangeArrowheads="1"/>
            </p:cNvSpPr>
            <p:nvPr/>
          </p:nvSpPr>
          <p:spPr bwMode="auto">
            <a:xfrm>
              <a:off x="3424" y="2754"/>
              <a:ext cx="155" cy="25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1</a:t>
              </a:r>
            </a:p>
          </p:txBody>
        </p:sp>
        <p:sp>
          <p:nvSpPr>
            <p:cNvPr id="27667" name="Line 117"/>
            <p:cNvSpPr>
              <a:spLocks noChangeShapeType="1"/>
            </p:cNvSpPr>
            <p:nvPr/>
          </p:nvSpPr>
          <p:spPr bwMode="auto">
            <a:xfrm>
              <a:off x="3639" y="2763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ar-JO"/>
            </a:p>
          </p:txBody>
        </p:sp>
        <p:sp>
          <p:nvSpPr>
            <p:cNvPr id="27668" name="Line 118"/>
            <p:cNvSpPr>
              <a:spLocks noChangeShapeType="1"/>
            </p:cNvSpPr>
            <p:nvPr/>
          </p:nvSpPr>
          <p:spPr bwMode="auto">
            <a:xfrm>
              <a:off x="3885" y="2763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ar-JO"/>
            </a:p>
          </p:txBody>
        </p:sp>
        <p:sp>
          <p:nvSpPr>
            <p:cNvPr id="27669" name="Text Box 119"/>
            <p:cNvSpPr txBox="1">
              <a:spLocks noChangeArrowheads="1"/>
            </p:cNvSpPr>
            <p:nvPr/>
          </p:nvSpPr>
          <p:spPr bwMode="auto">
            <a:xfrm>
              <a:off x="3643" y="2751"/>
              <a:ext cx="155" cy="25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9</a:t>
              </a:r>
            </a:p>
          </p:txBody>
        </p:sp>
        <p:grpSp>
          <p:nvGrpSpPr>
            <p:cNvPr id="23" name="Group 120"/>
            <p:cNvGrpSpPr>
              <a:grpSpLocks/>
            </p:cNvGrpSpPr>
            <p:nvPr/>
          </p:nvGrpSpPr>
          <p:grpSpPr bwMode="auto">
            <a:xfrm>
              <a:off x="4233" y="2731"/>
              <a:ext cx="711" cy="260"/>
              <a:chOff x="3417" y="2224"/>
              <a:chExt cx="711" cy="260"/>
            </a:xfrm>
          </p:grpSpPr>
          <p:sp>
            <p:nvSpPr>
              <p:cNvPr id="27672" name="Rectangle 121"/>
              <p:cNvSpPr>
                <a:spLocks noChangeArrowheads="1"/>
              </p:cNvSpPr>
              <p:nvPr/>
            </p:nvSpPr>
            <p:spPr bwMode="auto">
              <a:xfrm>
                <a:off x="3417" y="2224"/>
                <a:ext cx="711" cy="255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ar-JO"/>
              </a:p>
            </p:txBody>
          </p:sp>
          <p:sp>
            <p:nvSpPr>
              <p:cNvPr id="27673" name="Text Box 122"/>
              <p:cNvSpPr txBox="1">
                <a:spLocks noChangeArrowheads="1"/>
              </p:cNvSpPr>
              <p:nvPr/>
            </p:nvSpPr>
            <p:spPr bwMode="auto">
              <a:xfrm>
                <a:off x="3433" y="2229"/>
                <a:ext cx="154" cy="25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2</a:t>
                </a:r>
              </a:p>
            </p:txBody>
          </p:sp>
          <p:sp>
            <p:nvSpPr>
              <p:cNvPr id="27674" name="Line 123"/>
              <p:cNvSpPr>
                <a:spLocks noChangeShapeType="1"/>
              </p:cNvSpPr>
              <p:nvPr/>
            </p:nvSpPr>
            <p:spPr bwMode="auto">
              <a:xfrm flipH="1">
                <a:off x="3954" y="2277"/>
                <a:ext cx="9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ar-JO"/>
              </a:p>
            </p:txBody>
          </p:sp>
          <p:sp>
            <p:nvSpPr>
              <p:cNvPr id="27675" name="Line 124"/>
              <p:cNvSpPr>
                <a:spLocks noChangeShapeType="1"/>
              </p:cNvSpPr>
              <p:nvPr/>
            </p:nvSpPr>
            <p:spPr bwMode="auto">
              <a:xfrm>
                <a:off x="3648" y="22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ar-JO"/>
              </a:p>
            </p:txBody>
          </p:sp>
          <p:sp>
            <p:nvSpPr>
              <p:cNvPr id="27676" name="Line 125"/>
              <p:cNvSpPr>
                <a:spLocks noChangeShapeType="1"/>
              </p:cNvSpPr>
              <p:nvPr/>
            </p:nvSpPr>
            <p:spPr bwMode="auto">
              <a:xfrm>
                <a:off x="3894" y="225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ar-JO"/>
              </a:p>
            </p:txBody>
          </p:sp>
          <p:sp>
            <p:nvSpPr>
              <p:cNvPr id="27677" name="Text Box 126"/>
              <p:cNvSpPr txBox="1">
                <a:spLocks noChangeArrowheads="1"/>
              </p:cNvSpPr>
              <p:nvPr/>
            </p:nvSpPr>
            <p:spPr bwMode="auto">
              <a:xfrm>
                <a:off x="3652" y="2226"/>
                <a:ext cx="154" cy="25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1"/>
                  <a:t>5</a:t>
                </a:r>
              </a:p>
            </p:txBody>
          </p:sp>
        </p:grpSp>
        <p:sp>
          <p:nvSpPr>
            <p:cNvPr id="27671" name="Line 127"/>
            <p:cNvSpPr>
              <a:spLocks noChangeShapeType="1"/>
            </p:cNvSpPr>
            <p:nvPr/>
          </p:nvSpPr>
          <p:spPr bwMode="auto">
            <a:xfrm>
              <a:off x="3984" y="2859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ar-JO"/>
            </a:p>
          </p:txBody>
        </p:sp>
      </p:grpSp>
      <p:sp>
        <p:nvSpPr>
          <p:cNvPr id="27656" name="Slide Number Placeholder 12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fld id="{12287B68-DC10-47F5-8399-20678E22EAE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15" name="Rectangle 30"/>
          <p:cNvSpPr>
            <a:spLocks noChangeArrowheads="1"/>
          </p:cNvSpPr>
          <p:nvPr/>
        </p:nvSpPr>
        <p:spPr bwMode="auto">
          <a:xfrm>
            <a:off x="176203" y="291606"/>
            <a:ext cx="5791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Cont…..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692" y="3667094"/>
            <a:ext cx="875283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</a:rPr>
              <a:t> Adjacency List </a:t>
            </a:r>
            <a:r>
              <a:rPr lang="en-US" sz="2000" dirty="0"/>
              <a:t>of a </a:t>
            </a:r>
            <a:r>
              <a:rPr lang="en-US" sz="2000" dirty="0">
                <a:solidFill>
                  <a:srgbClr val="002060"/>
                </a:solidFill>
              </a:rPr>
              <a:t>Weighted Graph</a:t>
            </a:r>
          </a:p>
          <a:p>
            <a:pPr lvl="1" algn="just">
              <a:buClr>
                <a:srgbClr val="002060"/>
              </a:buClr>
              <a:buFont typeface="Wingdings" pitchFamily="2" charset="2"/>
              <a:buChar char="Ø"/>
            </a:pPr>
            <a:r>
              <a:rPr lang="en-US" sz="2000" dirty="0"/>
              <a:t> The weight is included in the list</a:t>
            </a:r>
          </a:p>
        </p:txBody>
      </p:sp>
    </p:spTree>
    <p:extLst>
      <p:ext uri="{BB962C8B-B14F-4D97-AF65-F5344CB8AC3E}">
        <p14:creationId xmlns:p14="http://schemas.microsoft.com/office/powerpoint/2010/main" val="173291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build="p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10515600" cy="636361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>
                <a:ea typeface="+mn-ea"/>
              </a:rPr>
              <a:t>Graph Searching Methods</a:t>
            </a:r>
          </a:p>
        </p:txBody>
      </p:sp>
      <p:sp>
        <p:nvSpPr>
          <p:cNvPr id="143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54875"/>
            <a:ext cx="8077200" cy="4724400"/>
          </a:xfrm>
        </p:spPr>
        <p:txBody>
          <a:bodyPr/>
          <a:lstStyle/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  <a:defRPr/>
            </a:pPr>
            <a:r>
              <a:rPr lang="en-US" dirty="0"/>
              <a:t>  </a:t>
            </a:r>
            <a:r>
              <a:rPr lang="en-US" sz="1800" dirty="0"/>
              <a:t>Many graph problems solved using a search method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/>
            </a:pPr>
            <a:r>
              <a:rPr lang="en-US" dirty="0"/>
              <a:t>Path from one vertex to another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/>
            </a:pPr>
            <a:r>
              <a:rPr lang="en-US" dirty="0"/>
              <a:t>Is the graph connected?</a:t>
            </a:r>
            <a:endParaRPr lang="en-US" sz="1800" dirty="0"/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q"/>
              <a:defRPr/>
            </a:pPr>
            <a:r>
              <a:rPr lang="en-US" sz="1800" dirty="0"/>
              <a:t>  </a:t>
            </a:r>
            <a:r>
              <a:rPr lang="en-US" sz="2000" dirty="0"/>
              <a:t>Commonly used search methods: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solidFill>
                  <a:srgbClr val="002060"/>
                </a:solidFill>
              </a:rPr>
              <a:t>Breadth-first search (BFS)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solidFill>
                  <a:srgbClr val="002060"/>
                </a:solidFill>
              </a:rPr>
              <a:t>Depth-first search (DFS)</a:t>
            </a:r>
          </a:p>
        </p:txBody>
      </p:sp>
      <p:sp>
        <p:nvSpPr>
          <p:cNvPr id="2" name="Rectangle 1"/>
          <p:cNvSpPr/>
          <p:nvPr/>
        </p:nvSpPr>
        <p:spPr>
          <a:xfrm>
            <a:off x="269632" y="3276600"/>
            <a:ext cx="62403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90000"/>
              </a:lnSpc>
              <a:buFont typeface="Wingdings" panose="05000000000000000000" pitchFamily="2" charset="2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 vertex u is reachable from vertex v 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iff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path from v to u.</a:t>
            </a:r>
          </a:p>
          <a:p>
            <a:pPr defTabSz="685800">
              <a:lnSpc>
                <a:spcPct val="90000"/>
              </a:lnSpc>
              <a:buFont typeface="Wingdings" panose="05000000000000000000" pitchFamily="2" charset="2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 search method starts at a given vertex v and visits every vertex that is reachable from v. </a:t>
            </a: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7010400" y="2057400"/>
            <a:ext cx="4191000" cy="3124200"/>
            <a:chOff x="1008" y="1824"/>
            <a:chExt cx="3404" cy="2312"/>
          </a:xfrm>
        </p:grpSpPr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1008" y="2352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1632" y="182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2640" y="201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3648" y="220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4128" y="3168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1392" y="2784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2352" y="288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3312" y="297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3744" y="38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1872" y="3696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3120" y="3840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 flipH="1">
              <a:off x="1244" y="2060"/>
              <a:ext cx="384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1820" y="2108"/>
              <a:ext cx="624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1244" y="2636"/>
              <a:ext cx="192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 flipH="1">
              <a:off x="2540" y="2252"/>
              <a:ext cx="336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 flipH="1">
              <a:off x="3452" y="2492"/>
              <a:ext cx="288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 flipV="1">
              <a:off x="3932" y="3452"/>
              <a:ext cx="336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1676" y="1868"/>
              <a:ext cx="14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2684" y="2012"/>
              <a:ext cx="14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3692" y="2252"/>
              <a:ext cx="14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4124" y="3212"/>
              <a:ext cx="28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1052" y="2396"/>
              <a:ext cx="14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1436" y="2780"/>
              <a:ext cx="14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2396" y="2924"/>
              <a:ext cx="14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3356" y="3020"/>
              <a:ext cx="14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3740" y="3884"/>
              <a:ext cx="48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1916" y="3740"/>
              <a:ext cx="14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3164" y="3884"/>
              <a:ext cx="14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>
              <a:off x="1916" y="1964"/>
              <a:ext cx="72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 flipV="1">
              <a:off x="2156" y="3212"/>
              <a:ext cx="120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Rectangle 2"/>
          <p:cNvSpPr/>
          <p:nvPr/>
        </p:nvSpPr>
        <p:spPr>
          <a:xfrm>
            <a:off x="605929" y="4535614"/>
            <a:ext cx="6096000" cy="16004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2060"/>
                </a:solidFill>
              </a:rPr>
              <a:t>Graph Searching Method: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- </a:t>
            </a:r>
            <a:r>
              <a:rPr lang="en-US" sz="2000" dirty="0">
                <a:solidFill>
                  <a:srgbClr val="002060"/>
                </a:solidFill>
              </a:rPr>
              <a:t>Given: </a:t>
            </a:r>
            <a:r>
              <a:rPr lang="en-US" sz="2000" dirty="0"/>
              <a:t>a graph G = (</a:t>
            </a:r>
            <a:r>
              <a:rPr lang="en-US" sz="2000" i="1" dirty="0"/>
              <a:t>V</a:t>
            </a:r>
            <a:r>
              <a:rPr lang="en-US" sz="2000" dirty="0"/>
              <a:t>, </a:t>
            </a:r>
            <a:r>
              <a:rPr lang="en-US" sz="2000" i="1" dirty="0"/>
              <a:t>E</a:t>
            </a:r>
            <a:r>
              <a:rPr lang="en-US" sz="2000" dirty="0"/>
              <a:t>), directed or undirected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- </a:t>
            </a:r>
            <a:r>
              <a:rPr lang="en-US" sz="2000" dirty="0">
                <a:solidFill>
                  <a:srgbClr val="002060"/>
                </a:solidFill>
              </a:rPr>
              <a:t>Goal:</a:t>
            </a:r>
            <a:r>
              <a:rPr lang="en-US" sz="2000" dirty="0"/>
              <a:t> methodically explore every vertex and every edge</a:t>
            </a:r>
          </a:p>
        </p:txBody>
      </p:sp>
    </p:spTree>
    <p:extLst>
      <p:ext uri="{BB962C8B-B14F-4D97-AF65-F5344CB8AC3E}">
        <p14:creationId xmlns:p14="http://schemas.microsoft.com/office/powerpoint/2010/main" val="1525042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10515600" cy="636361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Breadth-First Search (BFS) </a:t>
            </a:r>
          </a:p>
        </p:txBody>
      </p:sp>
      <p:sp>
        <p:nvSpPr>
          <p:cNvPr id="143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948" y="1143000"/>
            <a:ext cx="11887200" cy="2667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79000"/>
              </a:lnSpc>
              <a:buClr>
                <a:srgbClr val="002060"/>
              </a:buClr>
              <a:buFont typeface="Wingdings" panose="05000000000000000000" pitchFamily="2" charset="2"/>
              <a:buChar char="Ø"/>
              <a:defRPr/>
            </a:pPr>
            <a:r>
              <a:rPr lang="en-US" sz="2000" dirty="0"/>
              <a:t> Starting from a given node s, </a:t>
            </a:r>
            <a:r>
              <a:rPr lang="en-US" sz="2000" dirty="0">
                <a:solidFill>
                  <a:srgbClr val="002060"/>
                </a:solidFill>
              </a:rPr>
              <a:t>BFS</a:t>
            </a:r>
            <a:r>
              <a:rPr lang="en-US" sz="2000" dirty="0"/>
              <a:t> visit the vertices at distance </a:t>
            </a:r>
            <a:r>
              <a:rPr lang="en-US" sz="2000" i="1" dirty="0"/>
              <a:t>d</a:t>
            </a:r>
            <a:r>
              <a:rPr lang="en-US" sz="2000" dirty="0"/>
              <a:t> from s before visiting the vertices at distance </a:t>
            </a:r>
            <a:r>
              <a:rPr lang="en-US" sz="2000" i="1" dirty="0"/>
              <a:t>d</a:t>
            </a:r>
            <a:r>
              <a:rPr lang="en-US" sz="2000" dirty="0"/>
              <a:t>+1 </a:t>
            </a:r>
          </a:p>
          <a:p>
            <a:pPr marL="0" indent="0" eaLnBrk="1" hangingPunct="1">
              <a:lnSpc>
                <a:spcPct val="79000"/>
              </a:lnSpc>
              <a:buClr>
                <a:srgbClr val="002060"/>
              </a:buClr>
              <a:buNone/>
              <a:defRPr/>
            </a:pPr>
            <a:endParaRPr lang="en-US" sz="2000" dirty="0"/>
          </a:p>
          <a:p>
            <a:pPr eaLnBrk="1" hangingPunct="1">
              <a:lnSpc>
                <a:spcPct val="79000"/>
              </a:lnSpc>
              <a:buClr>
                <a:srgbClr val="002060"/>
              </a:buClr>
              <a:buFont typeface="Wingdings" panose="05000000000000000000" pitchFamily="2" charset="2"/>
              <a:buChar char="Ø"/>
              <a:defRPr/>
            </a:pPr>
            <a:r>
              <a:rPr lang="en-US" sz="2000" dirty="0"/>
              <a:t> </a:t>
            </a:r>
            <a:r>
              <a:rPr lang="en-US" sz="2000" dirty="0">
                <a:solidFill>
                  <a:srgbClr val="002060"/>
                </a:solidFill>
              </a:rPr>
              <a:t>Idea:</a:t>
            </a:r>
          </a:p>
          <a:p>
            <a:pPr lvl="1" eaLnBrk="1" hangingPunct="1">
              <a:lnSpc>
                <a:spcPct val="70000"/>
              </a:lnSpc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Visit start vertex (s) and put into a </a:t>
            </a:r>
            <a:r>
              <a:rPr lang="en-US" sz="2000" dirty="0">
                <a:solidFill>
                  <a:srgbClr val="002060"/>
                </a:solidFill>
              </a:rPr>
              <a:t>queue</a:t>
            </a:r>
            <a:r>
              <a:rPr lang="en-US" sz="2000" dirty="0"/>
              <a:t> (FIFO).</a:t>
            </a:r>
          </a:p>
          <a:p>
            <a:pPr lvl="1" eaLnBrk="1" hangingPunct="1">
              <a:lnSpc>
                <a:spcPct val="70000"/>
              </a:lnSpc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Repeatedly remove a vertex from the queue, visit its unvisited adjacent vertices, put newly visited vertices into the queue.</a:t>
            </a:r>
          </a:p>
          <a:p>
            <a:pPr lvl="1" eaLnBrk="1" hangingPunct="1">
              <a:lnSpc>
                <a:spcPct val="70000"/>
              </a:lnSpc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All vertices reachable from the start vertex (s) (including the start vertex) are visited.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28600" y="36576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  <a:defRPr/>
            </a:pPr>
            <a:r>
              <a:rPr lang="en-US" sz="2000" dirty="0"/>
              <a:t>  </a:t>
            </a:r>
            <a:r>
              <a:rPr lang="en-US" sz="2000" dirty="0">
                <a:solidFill>
                  <a:srgbClr val="002060"/>
                </a:solidFill>
              </a:rPr>
              <a:t>Work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>
                <a:solidFill>
                  <a:srgbClr val="002060"/>
                </a:solidFill>
              </a:rPr>
              <a:t>Strategy:</a:t>
            </a:r>
          </a:p>
          <a:p>
            <a:pPr marL="0" indent="0">
              <a:buClr>
                <a:srgbClr val="002060"/>
              </a:buClr>
              <a:buNone/>
              <a:defRPr/>
            </a:pPr>
            <a:r>
              <a:rPr lang="en-US" sz="2000" dirty="0"/>
              <a:t>       Again will associate vertex “colors” to guide the algorithm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White vertices have not been discovered</a:t>
            </a:r>
          </a:p>
          <a:p>
            <a:pPr marL="1143000" lvl="2" indent="-228600">
              <a:defRPr/>
            </a:pPr>
            <a:r>
              <a:rPr lang="en-US" sz="2000" dirty="0"/>
              <a:t>All vertices start out white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Gray vertices are discovered but not fully explored</a:t>
            </a:r>
          </a:p>
          <a:p>
            <a:pPr marL="1143000" lvl="2" indent="-228600">
              <a:defRPr/>
            </a:pPr>
            <a:r>
              <a:rPr lang="en-US" sz="2000" dirty="0"/>
              <a:t>They may be adjacent to white vertices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Black vertices are discovered and fully explored</a:t>
            </a:r>
          </a:p>
          <a:p>
            <a:pPr marL="1143000" lvl="2" indent="-228600">
              <a:defRPr/>
            </a:pPr>
            <a:r>
              <a:rPr lang="en-US" sz="2000" dirty="0"/>
              <a:t>They are adjacent only to black and gray vertices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Explore vertices by scanning adjacency list of gray vertices</a:t>
            </a:r>
          </a:p>
        </p:txBody>
      </p:sp>
    </p:spTree>
    <p:extLst>
      <p:ext uri="{BB962C8B-B14F-4D97-AF65-F5344CB8AC3E}">
        <p14:creationId xmlns:p14="http://schemas.microsoft.com/office/powerpoint/2010/main" val="2873429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10515600" cy="636361"/>
          </a:xfrm>
        </p:spPr>
        <p:txBody>
          <a:bodyPr/>
          <a:lstStyle/>
          <a:p>
            <a:pPr>
              <a:defRPr/>
            </a:pPr>
            <a:r>
              <a:rPr lang="en-US" dirty="0"/>
              <a:t>BFS - Code</a:t>
            </a:r>
          </a:p>
        </p:txBody>
      </p:sp>
      <p:sp>
        <p:nvSpPr>
          <p:cNvPr id="1457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979" y="1143000"/>
            <a:ext cx="11693433" cy="5521552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600" b="1" dirty="0">
                <a:latin typeface="Courier New" panose="02070309020205020404" pitchFamily="49" charset="0"/>
              </a:rPr>
              <a:t>BFS(G, s) {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latin typeface="Courier New" panose="02070309020205020404" pitchFamily="49" charset="0"/>
              </a:rPr>
              <a:t>                                                       </a:t>
            </a:r>
            <a:r>
              <a:rPr lang="en-US" sz="17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initialize vertices;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1</a:t>
            </a:r>
            <a:r>
              <a:rPr lang="en-US" sz="1700" b="1" dirty="0">
                <a:latin typeface="Courier New" panose="02070309020205020404" pitchFamily="49" charset="0"/>
              </a:rPr>
              <a:t>	 for each u </a:t>
            </a:r>
            <a:r>
              <a:rPr 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 V(G) – {s}{</a:t>
            </a:r>
            <a:endParaRPr lang="en-US" sz="1700" b="1" dirty="0">
              <a:latin typeface="Courier New" panose="02070309020205020404" pitchFamily="49" charset="0"/>
            </a:endParaRP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2</a:t>
            </a:r>
            <a:r>
              <a:rPr lang="en-US" sz="1700" b="1" dirty="0">
                <a:latin typeface="Courier New" panose="02070309020205020404" pitchFamily="49" charset="0"/>
              </a:rPr>
              <a:t>		do color[u] = WHITE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3</a:t>
            </a:r>
            <a:r>
              <a:rPr lang="en-US" sz="1700" b="1" dirty="0">
                <a:latin typeface="Courier New" panose="02070309020205020404" pitchFamily="49" charset="0"/>
              </a:rPr>
              <a:t>		   d[u] = </a:t>
            </a:r>
            <a:r>
              <a:rPr 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		                                 </a:t>
            </a:r>
            <a:r>
              <a:rPr lang="en-US" sz="17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// distance from s to u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4</a:t>
            </a:r>
            <a:r>
              <a:rPr 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		   p[u] = NIL		                           </a:t>
            </a:r>
            <a:r>
              <a:rPr lang="en-US" sz="17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// predecessor or parent of u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 </a:t>
            </a:r>
            <a:r>
              <a:rPr 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5</a:t>
            </a:r>
            <a:r>
              <a:rPr 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   color[s] = GRAY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6</a:t>
            </a:r>
            <a:r>
              <a:rPr 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   d[s] = 0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7</a:t>
            </a:r>
            <a:r>
              <a:rPr 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   p[s] = NIL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8</a:t>
            </a:r>
            <a:r>
              <a:rPr lang="en-US" sz="1700" b="1" dirty="0">
                <a:latin typeface="Courier New" panose="02070309020205020404" pitchFamily="49" charset="0"/>
              </a:rPr>
              <a:t>	 Q = Empty;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9</a:t>
            </a:r>
            <a:r>
              <a:rPr lang="en-US" sz="1700" b="1" dirty="0">
                <a:latin typeface="Courier New" panose="02070309020205020404" pitchFamily="49" charset="0"/>
              </a:rPr>
              <a:t> 	 Enqueue (Q,s);		                           </a:t>
            </a:r>
            <a:r>
              <a:rPr lang="en-US" sz="1700" b="1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Q is a queue; initialize to s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10</a:t>
            </a:r>
            <a:r>
              <a:rPr lang="en-US" sz="1700" b="1" dirty="0">
                <a:latin typeface="Courier New" panose="02070309020205020404" pitchFamily="49" charset="0"/>
              </a:rPr>
              <a:t>  while (Q not empty) {    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11</a:t>
            </a:r>
            <a:r>
              <a:rPr lang="en-US" sz="1700" b="1" dirty="0">
                <a:latin typeface="Courier New" panose="02070309020205020404" pitchFamily="49" charset="0"/>
              </a:rPr>
              <a:t>      u = Dequeue(Q);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12</a:t>
            </a:r>
            <a:r>
              <a:rPr lang="en-US" sz="1700" b="1" dirty="0">
                <a:latin typeface="Courier New" panose="02070309020205020404" pitchFamily="49" charset="0"/>
              </a:rPr>
              <a:t>      for each v </a:t>
            </a:r>
            <a:r>
              <a:rPr 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 adj[u] {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13</a:t>
            </a:r>
            <a:r>
              <a:rPr 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 if (color[v] == WHITE)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14</a:t>
            </a:r>
            <a:r>
              <a:rPr 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     color[v] = GRAY;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15</a:t>
            </a:r>
            <a:r>
              <a:rPr 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     d[v] = d[u] + 1;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16</a:t>
            </a:r>
            <a:r>
              <a:rPr 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     p[v] = u;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17</a:t>
            </a:r>
            <a:r>
              <a:rPr 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     Enqueue(Q, v);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}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18</a:t>
            </a:r>
            <a:r>
              <a:rPr 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color[u] = BLACK;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    }</a:t>
            </a:r>
          </a:p>
          <a:p>
            <a:pPr marL="342900" indent="-342900">
              <a:lnSpc>
                <a:spcPct val="69000"/>
              </a:lnSpc>
              <a:buNone/>
              <a:defRPr/>
            </a:pPr>
            <a:r>
              <a:rPr 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7552006" y="4177183"/>
            <a:ext cx="3048000" cy="22082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>
                <a:latin typeface="Courier New" panose="02070309020205020404" pitchFamily="49" charset="0"/>
              </a:rPr>
              <a:t>WHITE</a:t>
            </a:r>
            <a:r>
              <a:rPr lang="en-US" sz="1600" b="1" i="1" dirty="0">
                <a:latin typeface="Courier New" panose="02070309020205020404" pitchFamily="49" charset="0"/>
                <a:cs typeface="Times New Roman" panose="02020603050405020304" pitchFamily="18" charset="0"/>
              </a:rPr>
              <a:t>  -  Unvisited </a:t>
            </a:r>
          </a:p>
          <a:p>
            <a:pPr>
              <a:spcBef>
                <a:spcPct val="50000"/>
              </a:spcBef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GRAY</a:t>
            </a:r>
            <a:r>
              <a:rPr lang="en-US" sz="1600" b="1" i="1" dirty="0">
                <a:latin typeface="Courier New" panose="02070309020205020404" pitchFamily="49" charset="0"/>
                <a:cs typeface="Times New Roman" panose="02020603050405020304" pitchFamily="18" charset="0"/>
              </a:rPr>
              <a:t>   -  Discovered</a:t>
            </a:r>
          </a:p>
          <a:p>
            <a:pPr>
              <a:spcBef>
                <a:spcPct val="50000"/>
              </a:spcBef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BLACK</a:t>
            </a:r>
            <a:r>
              <a:rPr lang="en-US" sz="1600" b="1" i="1" dirty="0">
                <a:latin typeface="Courier New" panose="02070309020205020404" pitchFamily="49" charset="0"/>
                <a:cs typeface="Times New Roman" panose="02020603050405020304" pitchFamily="18" charset="0"/>
              </a:rPr>
              <a:t>  -  Finished</a:t>
            </a:r>
          </a:p>
          <a:p>
            <a:pPr>
              <a:spcBef>
                <a:spcPct val="50000"/>
              </a:spcBef>
            </a:pPr>
            <a:endParaRPr lang="en-US" sz="1600" b="1" i="1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sz="1600" b="1" i="1" dirty="0">
                <a:latin typeface="Courier New" panose="02070309020205020404" pitchFamily="49" charset="0"/>
                <a:cs typeface="Times New Roman" panose="02020603050405020304" pitchFamily="18" charset="0"/>
              </a:rPr>
              <a:t>s - Source Vertex</a:t>
            </a:r>
          </a:p>
          <a:p>
            <a:pPr>
              <a:spcBef>
                <a:spcPct val="50000"/>
              </a:spcBef>
            </a:pPr>
            <a:r>
              <a:rPr lang="en-US" sz="1600" b="1" i="1" dirty="0">
                <a:latin typeface="Courier New" panose="02070309020205020404" pitchFamily="49" charset="0"/>
                <a:cs typeface="Times New Roman" panose="02020603050405020304" pitchFamily="18" charset="0"/>
              </a:rPr>
              <a:t>Q - FIFO Queue </a:t>
            </a:r>
          </a:p>
        </p:txBody>
      </p:sp>
      <p:sp>
        <p:nvSpPr>
          <p:cNvPr id="2" name="Rectangle 1"/>
          <p:cNvSpPr/>
          <p:nvPr/>
        </p:nvSpPr>
        <p:spPr>
          <a:xfrm>
            <a:off x="7277100" y="4175680"/>
            <a:ext cx="3048000" cy="2209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0" y="990600"/>
            <a:ext cx="11658600" cy="5867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17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8040"/>
            <a:ext cx="10515600" cy="636361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BFS - Example</a:t>
            </a:r>
          </a:p>
        </p:txBody>
      </p:sp>
      <p:sp>
        <p:nvSpPr>
          <p:cNvPr id="23555" name="Oval 3"/>
          <p:cNvSpPr>
            <a:spLocks noChangeArrowheads="1"/>
          </p:cNvSpPr>
          <p:nvPr/>
        </p:nvSpPr>
        <p:spPr bwMode="auto">
          <a:xfrm>
            <a:off x="26670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endParaRPr lang="en-US" altLang="en-US" sz="4000" b="0">
              <a:latin typeface="Times New Roman" panose="02020603050405020304" pitchFamily="18" charset="0"/>
            </a:endParaRPr>
          </a:p>
        </p:txBody>
      </p:sp>
      <p:sp>
        <p:nvSpPr>
          <p:cNvPr id="23556" name="Oval 4"/>
          <p:cNvSpPr>
            <a:spLocks noChangeArrowheads="1"/>
          </p:cNvSpPr>
          <p:nvPr/>
        </p:nvSpPr>
        <p:spPr bwMode="auto">
          <a:xfrm>
            <a:off x="26670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3557" name="Oval 5"/>
          <p:cNvSpPr>
            <a:spLocks noChangeArrowheads="1"/>
          </p:cNvSpPr>
          <p:nvPr/>
        </p:nvSpPr>
        <p:spPr bwMode="auto">
          <a:xfrm>
            <a:off x="47244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3558" name="Oval 6"/>
          <p:cNvSpPr>
            <a:spLocks noChangeArrowheads="1"/>
          </p:cNvSpPr>
          <p:nvPr/>
        </p:nvSpPr>
        <p:spPr bwMode="auto">
          <a:xfrm>
            <a:off x="47244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3559" name="Oval 7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3560" name="Oval 8"/>
          <p:cNvSpPr>
            <a:spLocks noChangeArrowheads="1"/>
          </p:cNvSpPr>
          <p:nvPr/>
        </p:nvSpPr>
        <p:spPr bwMode="auto">
          <a:xfrm>
            <a:off x="67818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3561" name="Oval 9"/>
          <p:cNvSpPr>
            <a:spLocks noChangeArrowheads="1"/>
          </p:cNvSpPr>
          <p:nvPr/>
        </p:nvSpPr>
        <p:spPr bwMode="auto">
          <a:xfrm>
            <a:off x="88392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3562" name="Oval 10"/>
          <p:cNvSpPr>
            <a:spLocks noChangeArrowheads="1"/>
          </p:cNvSpPr>
          <p:nvPr/>
        </p:nvSpPr>
        <p:spPr bwMode="auto">
          <a:xfrm>
            <a:off x="8839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2906714" y="1676401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3564" name="Text Box 12"/>
          <p:cNvSpPr txBox="1">
            <a:spLocks noChangeArrowheads="1"/>
          </p:cNvSpPr>
          <p:nvPr/>
        </p:nvSpPr>
        <p:spPr bwMode="auto">
          <a:xfrm>
            <a:off x="4953001" y="1676401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3565" name="Text Box 13"/>
          <p:cNvSpPr txBox="1">
            <a:spLocks noChangeArrowheads="1"/>
          </p:cNvSpPr>
          <p:nvPr/>
        </p:nvSpPr>
        <p:spPr bwMode="auto">
          <a:xfrm>
            <a:off x="7013575" y="1676401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3566" name="Text Box 14"/>
          <p:cNvSpPr txBox="1">
            <a:spLocks noChangeArrowheads="1"/>
          </p:cNvSpPr>
          <p:nvPr/>
        </p:nvSpPr>
        <p:spPr bwMode="auto">
          <a:xfrm>
            <a:off x="9024939" y="1676401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3567" name="Text Box 15"/>
          <p:cNvSpPr txBox="1">
            <a:spLocks noChangeArrowheads="1"/>
          </p:cNvSpPr>
          <p:nvPr/>
        </p:nvSpPr>
        <p:spPr bwMode="auto">
          <a:xfrm>
            <a:off x="2889251" y="4419601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3568" name="Text Box 16"/>
          <p:cNvSpPr txBox="1">
            <a:spLocks noChangeArrowheads="1"/>
          </p:cNvSpPr>
          <p:nvPr/>
        </p:nvSpPr>
        <p:spPr bwMode="auto">
          <a:xfrm>
            <a:off x="4940301" y="4419601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3569" name="Text Box 17"/>
          <p:cNvSpPr txBox="1">
            <a:spLocks noChangeArrowheads="1"/>
          </p:cNvSpPr>
          <p:nvPr/>
        </p:nvSpPr>
        <p:spPr bwMode="auto">
          <a:xfrm>
            <a:off x="7040563" y="4419601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3570" name="Text Box 18"/>
          <p:cNvSpPr txBox="1">
            <a:spLocks noChangeArrowheads="1"/>
          </p:cNvSpPr>
          <p:nvPr/>
        </p:nvSpPr>
        <p:spPr bwMode="auto">
          <a:xfrm>
            <a:off x="9128126" y="4419601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23571" name="AutoShape 19"/>
          <p:cNvCxnSpPr>
            <a:cxnSpLocks noChangeShapeType="1"/>
            <a:stCxn id="23556" idx="0"/>
            <a:endCxn id="23555" idx="4"/>
          </p:cNvCxnSpPr>
          <p:nvPr/>
        </p:nvCxnSpPr>
        <p:spPr bwMode="auto">
          <a:xfrm flipV="1">
            <a:off x="30480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2" name="AutoShape 20"/>
          <p:cNvCxnSpPr>
            <a:cxnSpLocks noChangeShapeType="1"/>
            <a:stCxn id="23555" idx="6"/>
            <a:endCxn id="23557" idx="2"/>
          </p:cNvCxnSpPr>
          <p:nvPr/>
        </p:nvCxnSpPr>
        <p:spPr bwMode="auto">
          <a:xfrm>
            <a:off x="3443289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3" name="AutoShape 21"/>
          <p:cNvCxnSpPr>
            <a:cxnSpLocks noChangeShapeType="1"/>
            <a:stCxn id="23557" idx="4"/>
            <a:endCxn id="23558" idx="0"/>
          </p:cNvCxnSpPr>
          <p:nvPr/>
        </p:nvCxnSpPr>
        <p:spPr bwMode="auto">
          <a:xfrm>
            <a:off x="51054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4" name="AutoShape 22"/>
          <p:cNvCxnSpPr>
            <a:cxnSpLocks noChangeShapeType="1"/>
            <a:stCxn id="23558" idx="7"/>
            <a:endCxn id="23559" idx="3"/>
          </p:cNvCxnSpPr>
          <p:nvPr/>
        </p:nvCxnSpPr>
        <p:spPr bwMode="auto">
          <a:xfrm flipV="1">
            <a:off x="5375275" y="2798764"/>
            <a:ext cx="1517650" cy="9556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5" name="AutoShape 23"/>
          <p:cNvCxnSpPr>
            <a:cxnSpLocks noChangeShapeType="1"/>
            <a:stCxn id="23558" idx="6"/>
            <a:endCxn id="23560" idx="2"/>
          </p:cNvCxnSpPr>
          <p:nvPr/>
        </p:nvCxnSpPr>
        <p:spPr bwMode="auto">
          <a:xfrm>
            <a:off x="5500689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6" name="AutoShape 24"/>
          <p:cNvCxnSpPr>
            <a:cxnSpLocks noChangeShapeType="1"/>
            <a:stCxn id="23560" idx="0"/>
            <a:endCxn id="23559" idx="4"/>
          </p:cNvCxnSpPr>
          <p:nvPr/>
        </p:nvCxnSpPr>
        <p:spPr bwMode="auto">
          <a:xfrm flipV="1">
            <a:off x="71628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7" name="AutoShape 25"/>
          <p:cNvCxnSpPr>
            <a:cxnSpLocks noChangeShapeType="1"/>
            <a:stCxn id="23559" idx="6"/>
            <a:endCxn id="23561" idx="2"/>
          </p:cNvCxnSpPr>
          <p:nvPr/>
        </p:nvCxnSpPr>
        <p:spPr bwMode="auto">
          <a:xfrm>
            <a:off x="7558089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8" name="AutoShape 26"/>
          <p:cNvCxnSpPr>
            <a:cxnSpLocks noChangeShapeType="1"/>
            <a:stCxn id="23560" idx="6"/>
            <a:endCxn id="23562" idx="2"/>
          </p:cNvCxnSpPr>
          <p:nvPr/>
        </p:nvCxnSpPr>
        <p:spPr bwMode="auto">
          <a:xfrm>
            <a:off x="7558089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9" name="AutoShape 27"/>
          <p:cNvCxnSpPr>
            <a:cxnSpLocks noChangeShapeType="1"/>
            <a:stCxn id="23562" idx="0"/>
            <a:endCxn id="23561" idx="4"/>
          </p:cNvCxnSpPr>
          <p:nvPr/>
        </p:nvCxnSpPr>
        <p:spPr bwMode="auto">
          <a:xfrm flipV="1">
            <a:off x="92202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159795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Oval 3"/>
          <p:cNvSpPr>
            <a:spLocks noChangeArrowheads="1"/>
          </p:cNvSpPr>
          <p:nvPr/>
        </p:nvSpPr>
        <p:spPr bwMode="auto">
          <a:xfrm>
            <a:off x="26670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endParaRPr lang="en-US" altLang="en-US" sz="4000" b="0">
              <a:latin typeface="Times New Roman" panose="02020603050405020304" pitchFamily="18" charset="0"/>
            </a:endParaRPr>
          </a:p>
        </p:txBody>
      </p:sp>
      <p:sp>
        <p:nvSpPr>
          <p:cNvPr id="25604" name="Oval 4"/>
          <p:cNvSpPr>
            <a:spLocks noChangeArrowheads="1"/>
          </p:cNvSpPr>
          <p:nvPr/>
        </p:nvSpPr>
        <p:spPr bwMode="auto">
          <a:xfrm>
            <a:off x="26670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5605" name="Oval 5"/>
          <p:cNvSpPr>
            <a:spLocks noChangeArrowheads="1"/>
          </p:cNvSpPr>
          <p:nvPr/>
        </p:nvSpPr>
        <p:spPr bwMode="auto">
          <a:xfrm>
            <a:off x="4724400" y="2133600"/>
            <a:ext cx="762000" cy="762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5606" name="Oval 6"/>
          <p:cNvSpPr>
            <a:spLocks noChangeArrowheads="1"/>
          </p:cNvSpPr>
          <p:nvPr/>
        </p:nvSpPr>
        <p:spPr bwMode="auto">
          <a:xfrm>
            <a:off x="47244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5607" name="Oval 7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5608" name="Oval 8"/>
          <p:cNvSpPr>
            <a:spLocks noChangeArrowheads="1"/>
          </p:cNvSpPr>
          <p:nvPr/>
        </p:nvSpPr>
        <p:spPr bwMode="auto">
          <a:xfrm>
            <a:off x="67818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5609" name="Oval 9"/>
          <p:cNvSpPr>
            <a:spLocks noChangeArrowheads="1"/>
          </p:cNvSpPr>
          <p:nvPr/>
        </p:nvSpPr>
        <p:spPr bwMode="auto">
          <a:xfrm>
            <a:off x="88392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5610" name="Oval 10"/>
          <p:cNvSpPr>
            <a:spLocks noChangeArrowheads="1"/>
          </p:cNvSpPr>
          <p:nvPr/>
        </p:nvSpPr>
        <p:spPr bwMode="auto">
          <a:xfrm>
            <a:off x="8839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2906714" y="1676401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5612" name="Text Box 12"/>
          <p:cNvSpPr txBox="1">
            <a:spLocks noChangeArrowheads="1"/>
          </p:cNvSpPr>
          <p:nvPr/>
        </p:nvSpPr>
        <p:spPr bwMode="auto">
          <a:xfrm>
            <a:off x="4953001" y="1676401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5613" name="Text Box 13"/>
          <p:cNvSpPr txBox="1">
            <a:spLocks noChangeArrowheads="1"/>
          </p:cNvSpPr>
          <p:nvPr/>
        </p:nvSpPr>
        <p:spPr bwMode="auto">
          <a:xfrm>
            <a:off x="7013575" y="1676401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5614" name="Text Box 14"/>
          <p:cNvSpPr txBox="1">
            <a:spLocks noChangeArrowheads="1"/>
          </p:cNvSpPr>
          <p:nvPr/>
        </p:nvSpPr>
        <p:spPr bwMode="auto">
          <a:xfrm>
            <a:off x="9024939" y="1676401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5615" name="Text Box 15"/>
          <p:cNvSpPr txBox="1">
            <a:spLocks noChangeArrowheads="1"/>
          </p:cNvSpPr>
          <p:nvPr/>
        </p:nvSpPr>
        <p:spPr bwMode="auto">
          <a:xfrm>
            <a:off x="2889251" y="4419601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5616" name="Text Box 16"/>
          <p:cNvSpPr txBox="1">
            <a:spLocks noChangeArrowheads="1"/>
          </p:cNvSpPr>
          <p:nvPr/>
        </p:nvSpPr>
        <p:spPr bwMode="auto">
          <a:xfrm>
            <a:off x="4940301" y="4419601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5617" name="Text Box 17"/>
          <p:cNvSpPr txBox="1">
            <a:spLocks noChangeArrowheads="1"/>
          </p:cNvSpPr>
          <p:nvPr/>
        </p:nvSpPr>
        <p:spPr bwMode="auto">
          <a:xfrm>
            <a:off x="7040563" y="4419601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5618" name="Text Box 18"/>
          <p:cNvSpPr txBox="1">
            <a:spLocks noChangeArrowheads="1"/>
          </p:cNvSpPr>
          <p:nvPr/>
        </p:nvSpPr>
        <p:spPr bwMode="auto">
          <a:xfrm>
            <a:off x="9128126" y="4419601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25619" name="AutoShape 19"/>
          <p:cNvCxnSpPr>
            <a:cxnSpLocks noChangeShapeType="1"/>
            <a:stCxn id="25604" idx="0"/>
            <a:endCxn id="25603" idx="4"/>
          </p:cNvCxnSpPr>
          <p:nvPr/>
        </p:nvCxnSpPr>
        <p:spPr bwMode="auto">
          <a:xfrm flipV="1">
            <a:off x="30480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20" name="AutoShape 20"/>
          <p:cNvCxnSpPr>
            <a:cxnSpLocks noChangeShapeType="1"/>
            <a:stCxn id="25603" idx="6"/>
            <a:endCxn id="25605" idx="2"/>
          </p:cNvCxnSpPr>
          <p:nvPr/>
        </p:nvCxnSpPr>
        <p:spPr bwMode="auto">
          <a:xfrm>
            <a:off x="3443289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21" name="AutoShape 21"/>
          <p:cNvCxnSpPr>
            <a:cxnSpLocks noChangeShapeType="1"/>
            <a:stCxn id="25605" idx="4"/>
            <a:endCxn id="25606" idx="0"/>
          </p:cNvCxnSpPr>
          <p:nvPr/>
        </p:nvCxnSpPr>
        <p:spPr bwMode="auto">
          <a:xfrm>
            <a:off x="51054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22" name="AutoShape 22"/>
          <p:cNvCxnSpPr>
            <a:cxnSpLocks noChangeShapeType="1"/>
            <a:stCxn id="25606" idx="7"/>
            <a:endCxn id="25607" idx="3"/>
          </p:cNvCxnSpPr>
          <p:nvPr/>
        </p:nvCxnSpPr>
        <p:spPr bwMode="auto">
          <a:xfrm flipV="1">
            <a:off x="5375275" y="2798764"/>
            <a:ext cx="1517650" cy="9556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23" name="AutoShape 23"/>
          <p:cNvCxnSpPr>
            <a:cxnSpLocks noChangeShapeType="1"/>
            <a:stCxn id="25606" idx="6"/>
            <a:endCxn id="25608" idx="2"/>
          </p:cNvCxnSpPr>
          <p:nvPr/>
        </p:nvCxnSpPr>
        <p:spPr bwMode="auto">
          <a:xfrm>
            <a:off x="5500689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24" name="AutoShape 24"/>
          <p:cNvCxnSpPr>
            <a:cxnSpLocks noChangeShapeType="1"/>
            <a:stCxn id="25608" idx="0"/>
            <a:endCxn id="25607" idx="4"/>
          </p:cNvCxnSpPr>
          <p:nvPr/>
        </p:nvCxnSpPr>
        <p:spPr bwMode="auto">
          <a:xfrm flipV="1">
            <a:off x="71628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25" name="AutoShape 25"/>
          <p:cNvCxnSpPr>
            <a:cxnSpLocks noChangeShapeType="1"/>
            <a:stCxn id="25607" idx="6"/>
            <a:endCxn id="25609" idx="2"/>
          </p:cNvCxnSpPr>
          <p:nvPr/>
        </p:nvCxnSpPr>
        <p:spPr bwMode="auto">
          <a:xfrm>
            <a:off x="7558089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26" name="AutoShape 26"/>
          <p:cNvCxnSpPr>
            <a:cxnSpLocks noChangeShapeType="1"/>
            <a:stCxn id="25608" idx="6"/>
            <a:endCxn id="25610" idx="2"/>
          </p:cNvCxnSpPr>
          <p:nvPr/>
        </p:nvCxnSpPr>
        <p:spPr bwMode="auto">
          <a:xfrm>
            <a:off x="7558089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27" name="AutoShape 27"/>
          <p:cNvCxnSpPr>
            <a:cxnSpLocks noChangeShapeType="1"/>
            <a:stCxn id="25610" idx="0"/>
            <a:endCxn id="25609" idx="4"/>
          </p:cNvCxnSpPr>
          <p:nvPr/>
        </p:nvCxnSpPr>
        <p:spPr bwMode="auto">
          <a:xfrm flipV="1">
            <a:off x="92202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628" name="Rectangle 28"/>
          <p:cNvSpPr>
            <a:spLocks noChangeArrowheads="1"/>
          </p:cNvSpPr>
          <p:nvPr/>
        </p:nvSpPr>
        <p:spPr bwMode="auto">
          <a:xfrm>
            <a:off x="4038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5629" name="Rectangle 29"/>
          <p:cNvSpPr>
            <a:spLocks noChangeArrowheads="1"/>
          </p:cNvSpPr>
          <p:nvPr/>
        </p:nvSpPr>
        <p:spPr bwMode="auto">
          <a:xfrm>
            <a:off x="3352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3200" i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1459230" name="Text Box 30"/>
          <p:cNvSpPr txBox="1">
            <a:spLocks noChangeArrowheads="1"/>
          </p:cNvSpPr>
          <p:nvPr/>
        </p:nvSpPr>
        <p:spPr bwMode="auto">
          <a:xfrm>
            <a:off x="457200" y="4881027"/>
            <a:ext cx="815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rgbClr val="0070C0"/>
                </a:solidFill>
              </a:rPr>
              <a:t>S has two neighbors w and r </a:t>
            </a:r>
          </a:p>
        </p:txBody>
      </p:sp>
      <p:sp>
        <p:nvSpPr>
          <p:cNvPr id="1459231" name="Text Box 31"/>
          <p:cNvSpPr txBox="1">
            <a:spLocks noChangeArrowheads="1"/>
          </p:cNvSpPr>
          <p:nvPr/>
        </p:nvSpPr>
        <p:spPr bwMode="auto">
          <a:xfrm>
            <a:off x="6871495" y="5231497"/>
            <a:ext cx="510698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chemeClr val="tx1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rgbClr val="0070C0"/>
                </a:solidFill>
              </a:rPr>
              <a:t>You can add r then w or w then r (depends on the adjacency list order!)</a:t>
            </a:r>
          </a:p>
        </p:txBody>
      </p:sp>
      <p:sp>
        <p:nvSpPr>
          <p:cNvPr id="33" name="Rectangle 2"/>
          <p:cNvSpPr txBox="1">
            <a:spLocks noChangeArrowheads="1"/>
          </p:cNvSpPr>
          <p:nvPr/>
        </p:nvSpPr>
        <p:spPr>
          <a:xfrm>
            <a:off x="228600" y="278040"/>
            <a:ext cx="10515600" cy="6363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/>
              <a:t>BFS -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64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5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9230" grpId="0"/>
      <p:bldP spid="14592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2667000" y="2133600"/>
            <a:ext cx="762000" cy="762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b="0">
              <a:latin typeface="Times New Roman" panose="02020603050405020304" pitchFamily="18" charset="0"/>
            </a:endParaRP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26670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4724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4724400" y="3657600"/>
            <a:ext cx="762000" cy="762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67818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88392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8839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7659" name="Text Box 11"/>
          <p:cNvSpPr txBox="1">
            <a:spLocks noChangeArrowheads="1"/>
          </p:cNvSpPr>
          <p:nvPr/>
        </p:nvSpPr>
        <p:spPr bwMode="auto">
          <a:xfrm>
            <a:off x="2906714" y="1676401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7660" name="Text Box 12"/>
          <p:cNvSpPr txBox="1">
            <a:spLocks noChangeArrowheads="1"/>
          </p:cNvSpPr>
          <p:nvPr/>
        </p:nvSpPr>
        <p:spPr bwMode="auto">
          <a:xfrm>
            <a:off x="4953001" y="1676401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7013575" y="1676401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7662" name="Text Box 14"/>
          <p:cNvSpPr txBox="1">
            <a:spLocks noChangeArrowheads="1"/>
          </p:cNvSpPr>
          <p:nvPr/>
        </p:nvSpPr>
        <p:spPr bwMode="auto">
          <a:xfrm>
            <a:off x="9024939" y="1676401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7663" name="Text Box 15"/>
          <p:cNvSpPr txBox="1">
            <a:spLocks noChangeArrowheads="1"/>
          </p:cNvSpPr>
          <p:nvPr/>
        </p:nvSpPr>
        <p:spPr bwMode="auto">
          <a:xfrm>
            <a:off x="2889251" y="4419601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7664" name="Text Box 16"/>
          <p:cNvSpPr txBox="1">
            <a:spLocks noChangeArrowheads="1"/>
          </p:cNvSpPr>
          <p:nvPr/>
        </p:nvSpPr>
        <p:spPr bwMode="auto">
          <a:xfrm>
            <a:off x="4940301" y="4419601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7665" name="Text Box 17"/>
          <p:cNvSpPr txBox="1">
            <a:spLocks noChangeArrowheads="1"/>
          </p:cNvSpPr>
          <p:nvPr/>
        </p:nvSpPr>
        <p:spPr bwMode="auto">
          <a:xfrm>
            <a:off x="7040563" y="4419601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7666" name="Text Box 18"/>
          <p:cNvSpPr txBox="1">
            <a:spLocks noChangeArrowheads="1"/>
          </p:cNvSpPr>
          <p:nvPr/>
        </p:nvSpPr>
        <p:spPr bwMode="auto">
          <a:xfrm>
            <a:off x="9128126" y="4419601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27667" name="AutoShape 19"/>
          <p:cNvCxnSpPr>
            <a:cxnSpLocks noChangeShapeType="1"/>
            <a:stCxn id="27652" idx="0"/>
            <a:endCxn id="27651" idx="4"/>
          </p:cNvCxnSpPr>
          <p:nvPr/>
        </p:nvCxnSpPr>
        <p:spPr bwMode="auto">
          <a:xfrm flipV="1">
            <a:off x="30480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68" name="AutoShape 20"/>
          <p:cNvCxnSpPr>
            <a:cxnSpLocks noChangeShapeType="1"/>
            <a:stCxn id="27651" idx="6"/>
            <a:endCxn id="27653" idx="2"/>
          </p:cNvCxnSpPr>
          <p:nvPr/>
        </p:nvCxnSpPr>
        <p:spPr bwMode="auto">
          <a:xfrm>
            <a:off x="34432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69" name="AutoShape 21"/>
          <p:cNvCxnSpPr>
            <a:cxnSpLocks noChangeShapeType="1"/>
            <a:stCxn id="27653" idx="4"/>
            <a:endCxn id="27654" idx="0"/>
          </p:cNvCxnSpPr>
          <p:nvPr/>
        </p:nvCxnSpPr>
        <p:spPr bwMode="auto">
          <a:xfrm>
            <a:off x="51054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70" name="AutoShape 22"/>
          <p:cNvCxnSpPr>
            <a:cxnSpLocks noChangeShapeType="1"/>
            <a:stCxn id="27654" idx="7"/>
            <a:endCxn id="27655" idx="3"/>
          </p:cNvCxnSpPr>
          <p:nvPr/>
        </p:nvCxnSpPr>
        <p:spPr bwMode="auto">
          <a:xfrm flipV="1">
            <a:off x="5375275" y="2798764"/>
            <a:ext cx="1517650" cy="9556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71" name="AutoShape 23"/>
          <p:cNvCxnSpPr>
            <a:cxnSpLocks noChangeShapeType="1"/>
            <a:stCxn id="27654" idx="6"/>
            <a:endCxn id="27656" idx="2"/>
          </p:cNvCxnSpPr>
          <p:nvPr/>
        </p:nvCxnSpPr>
        <p:spPr bwMode="auto">
          <a:xfrm>
            <a:off x="5500689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72" name="AutoShape 24"/>
          <p:cNvCxnSpPr>
            <a:cxnSpLocks noChangeShapeType="1"/>
            <a:stCxn id="27656" idx="0"/>
            <a:endCxn id="27655" idx="4"/>
          </p:cNvCxnSpPr>
          <p:nvPr/>
        </p:nvCxnSpPr>
        <p:spPr bwMode="auto">
          <a:xfrm flipV="1">
            <a:off x="71628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73" name="AutoShape 25"/>
          <p:cNvCxnSpPr>
            <a:cxnSpLocks noChangeShapeType="1"/>
            <a:stCxn id="27655" idx="6"/>
            <a:endCxn id="27657" idx="2"/>
          </p:cNvCxnSpPr>
          <p:nvPr/>
        </p:nvCxnSpPr>
        <p:spPr bwMode="auto">
          <a:xfrm>
            <a:off x="7558089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74" name="AutoShape 26"/>
          <p:cNvCxnSpPr>
            <a:cxnSpLocks noChangeShapeType="1"/>
            <a:stCxn id="27656" idx="6"/>
            <a:endCxn id="27658" idx="2"/>
          </p:cNvCxnSpPr>
          <p:nvPr/>
        </p:nvCxnSpPr>
        <p:spPr bwMode="auto">
          <a:xfrm>
            <a:off x="7558089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75" name="AutoShape 27"/>
          <p:cNvCxnSpPr>
            <a:cxnSpLocks noChangeShapeType="1"/>
            <a:stCxn id="27658" idx="0"/>
            <a:endCxn id="27657" idx="4"/>
          </p:cNvCxnSpPr>
          <p:nvPr/>
        </p:nvCxnSpPr>
        <p:spPr bwMode="auto">
          <a:xfrm flipV="1">
            <a:off x="92202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676" name="Rectangle 28"/>
          <p:cNvSpPr>
            <a:spLocks noChangeArrowheads="1"/>
          </p:cNvSpPr>
          <p:nvPr/>
        </p:nvSpPr>
        <p:spPr bwMode="auto">
          <a:xfrm>
            <a:off x="4038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7677" name="Rectangle 29"/>
          <p:cNvSpPr>
            <a:spLocks noChangeArrowheads="1"/>
          </p:cNvSpPr>
          <p:nvPr/>
        </p:nvSpPr>
        <p:spPr bwMode="auto">
          <a:xfrm>
            <a:off x="3352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3200" i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27678" name="Rectangle 30"/>
          <p:cNvSpPr>
            <a:spLocks noChangeArrowheads="1"/>
          </p:cNvSpPr>
          <p:nvPr/>
        </p:nvSpPr>
        <p:spPr bwMode="auto">
          <a:xfrm>
            <a:off x="4724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8040"/>
            <a:ext cx="10515600" cy="636361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BFS - Example</a:t>
            </a:r>
          </a:p>
        </p:txBody>
      </p:sp>
    </p:spTree>
    <p:extLst>
      <p:ext uri="{BB962C8B-B14F-4D97-AF65-F5344CB8AC3E}">
        <p14:creationId xmlns:p14="http://schemas.microsoft.com/office/powerpoint/2010/main" val="2265302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Oval 3"/>
          <p:cNvSpPr>
            <a:spLocks noChangeArrowheads="1"/>
          </p:cNvSpPr>
          <p:nvPr/>
        </p:nvSpPr>
        <p:spPr bwMode="auto">
          <a:xfrm>
            <a:off x="2667000" y="2133600"/>
            <a:ext cx="762000" cy="762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b="0">
              <a:latin typeface="Times New Roman" panose="02020603050405020304" pitchFamily="18" charset="0"/>
            </a:endParaRPr>
          </a:p>
        </p:txBody>
      </p:sp>
      <p:sp>
        <p:nvSpPr>
          <p:cNvPr id="29700" name="Oval 4"/>
          <p:cNvSpPr>
            <a:spLocks noChangeArrowheads="1"/>
          </p:cNvSpPr>
          <p:nvPr/>
        </p:nvSpPr>
        <p:spPr bwMode="auto">
          <a:xfrm>
            <a:off x="26670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9701" name="Oval 5"/>
          <p:cNvSpPr>
            <a:spLocks noChangeArrowheads="1"/>
          </p:cNvSpPr>
          <p:nvPr/>
        </p:nvSpPr>
        <p:spPr bwMode="auto">
          <a:xfrm>
            <a:off x="4724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9702" name="Oval 6"/>
          <p:cNvSpPr>
            <a:spLocks noChangeArrowheads="1"/>
          </p:cNvSpPr>
          <p:nvPr/>
        </p:nvSpPr>
        <p:spPr bwMode="auto">
          <a:xfrm>
            <a:off x="4724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29703" name="Oval 7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9704" name="Oval 8"/>
          <p:cNvSpPr>
            <a:spLocks noChangeArrowheads="1"/>
          </p:cNvSpPr>
          <p:nvPr/>
        </p:nvSpPr>
        <p:spPr bwMode="auto">
          <a:xfrm>
            <a:off x="6781800" y="3657600"/>
            <a:ext cx="762000" cy="762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9705" name="Oval 9"/>
          <p:cNvSpPr>
            <a:spLocks noChangeArrowheads="1"/>
          </p:cNvSpPr>
          <p:nvPr/>
        </p:nvSpPr>
        <p:spPr bwMode="auto">
          <a:xfrm>
            <a:off x="88392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9706" name="Oval 10"/>
          <p:cNvSpPr>
            <a:spLocks noChangeArrowheads="1"/>
          </p:cNvSpPr>
          <p:nvPr/>
        </p:nvSpPr>
        <p:spPr bwMode="auto">
          <a:xfrm>
            <a:off x="8839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9707" name="Text Box 11"/>
          <p:cNvSpPr txBox="1">
            <a:spLocks noChangeArrowheads="1"/>
          </p:cNvSpPr>
          <p:nvPr/>
        </p:nvSpPr>
        <p:spPr bwMode="auto">
          <a:xfrm>
            <a:off x="2906714" y="1676401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9708" name="Text Box 12"/>
          <p:cNvSpPr txBox="1">
            <a:spLocks noChangeArrowheads="1"/>
          </p:cNvSpPr>
          <p:nvPr/>
        </p:nvSpPr>
        <p:spPr bwMode="auto">
          <a:xfrm>
            <a:off x="4953001" y="1676401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9709" name="Text Box 13"/>
          <p:cNvSpPr txBox="1">
            <a:spLocks noChangeArrowheads="1"/>
          </p:cNvSpPr>
          <p:nvPr/>
        </p:nvSpPr>
        <p:spPr bwMode="auto">
          <a:xfrm>
            <a:off x="7013575" y="1676401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9710" name="Text Box 14"/>
          <p:cNvSpPr txBox="1">
            <a:spLocks noChangeArrowheads="1"/>
          </p:cNvSpPr>
          <p:nvPr/>
        </p:nvSpPr>
        <p:spPr bwMode="auto">
          <a:xfrm>
            <a:off x="9024939" y="1676401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9711" name="Text Box 15"/>
          <p:cNvSpPr txBox="1">
            <a:spLocks noChangeArrowheads="1"/>
          </p:cNvSpPr>
          <p:nvPr/>
        </p:nvSpPr>
        <p:spPr bwMode="auto">
          <a:xfrm>
            <a:off x="2889251" y="4419601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9712" name="Text Box 16"/>
          <p:cNvSpPr txBox="1">
            <a:spLocks noChangeArrowheads="1"/>
          </p:cNvSpPr>
          <p:nvPr/>
        </p:nvSpPr>
        <p:spPr bwMode="auto">
          <a:xfrm>
            <a:off x="4940301" y="4419601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9713" name="Text Box 17"/>
          <p:cNvSpPr txBox="1">
            <a:spLocks noChangeArrowheads="1"/>
          </p:cNvSpPr>
          <p:nvPr/>
        </p:nvSpPr>
        <p:spPr bwMode="auto">
          <a:xfrm>
            <a:off x="7040563" y="4419601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9714" name="Text Box 18"/>
          <p:cNvSpPr txBox="1">
            <a:spLocks noChangeArrowheads="1"/>
          </p:cNvSpPr>
          <p:nvPr/>
        </p:nvSpPr>
        <p:spPr bwMode="auto">
          <a:xfrm>
            <a:off x="9128126" y="4419601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29715" name="AutoShape 19"/>
          <p:cNvCxnSpPr>
            <a:cxnSpLocks noChangeShapeType="1"/>
            <a:stCxn id="29700" idx="0"/>
            <a:endCxn id="29699" idx="4"/>
          </p:cNvCxnSpPr>
          <p:nvPr/>
        </p:nvCxnSpPr>
        <p:spPr bwMode="auto">
          <a:xfrm flipV="1">
            <a:off x="30480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16" name="AutoShape 20"/>
          <p:cNvCxnSpPr>
            <a:cxnSpLocks noChangeShapeType="1"/>
            <a:stCxn id="29699" idx="6"/>
            <a:endCxn id="29701" idx="2"/>
          </p:cNvCxnSpPr>
          <p:nvPr/>
        </p:nvCxnSpPr>
        <p:spPr bwMode="auto">
          <a:xfrm>
            <a:off x="34432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17" name="AutoShape 21"/>
          <p:cNvCxnSpPr>
            <a:cxnSpLocks noChangeShapeType="1"/>
            <a:stCxn id="29701" idx="4"/>
            <a:endCxn id="29702" idx="0"/>
          </p:cNvCxnSpPr>
          <p:nvPr/>
        </p:nvCxnSpPr>
        <p:spPr bwMode="auto">
          <a:xfrm>
            <a:off x="51054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18" name="AutoShape 22"/>
          <p:cNvCxnSpPr>
            <a:cxnSpLocks noChangeShapeType="1"/>
            <a:stCxn id="29702" idx="7"/>
            <a:endCxn id="29703" idx="3"/>
          </p:cNvCxnSpPr>
          <p:nvPr/>
        </p:nvCxnSpPr>
        <p:spPr bwMode="auto">
          <a:xfrm flipV="1">
            <a:off x="5375275" y="2798764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19" name="AutoShape 23"/>
          <p:cNvCxnSpPr>
            <a:cxnSpLocks noChangeShapeType="1"/>
            <a:stCxn id="29702" idx="6"/>
            <a:endCxn id="29704" idx="2"/>
          </p:cNvCxnSpPr>
          <p:nvPr/>
        </p:nvCxnSpPr>
        <p:spPr bwMode="auto">
          <a:xfrm>
            <a:off x="55006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20" name="AutoShape 24"/>
          <p:cNvCxnSpPr>
            <a:cxnSpLocks noChangeShapeType="1"/>
            <a:stCxn id="29704" idx="0"/>
            <a:endCxn id="29703" idx="4"/>
          </p:cNvCxnSpPr>
          <p:nvPr/>
        </p:nvCxnSpPr>
        <p:spPr bwMode="auto">
          <a:xfrm flipV="1">
            <a:off x="71628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21" name="AutoShape 25"/>
          <p:cNvCxnSpPr>
            <a:cxnSpLocks noChangeShapeType="1"/>
            <a:stCxn id="29703" idx="6"/>
            <a:endCxn id="29705" idx="2"/>
          </p:cNvCxnSpPr>
          <p:nvPr/>
        </p:nvCxnSpPr>
        <p:spPr bwMode="auto">
          <a:xfrm>
            <a:off x="7558089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22" name="AutoShape 26"/>
          <p:cNvCxnSpPr>
            <a:cxnSpLocks noChangeShapeType="1"/>
            <a:stCxn id="29704" idx="6"/>
            <a:endCxn id="29706" idx="2"/>
          </p:cNvCxnSpPr>
          <p:nvPr/>
        </p:nvCxnSpPr>
        <p:spPr bwMode="auto">
          <a:xfrm>
            <a:off x="7558089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23" name="AutoShape 27"/>
          <p:cNvCxnSpPr>
            <a:cxnSpLocks noChangeShapeType="1"/>
            <a:stCxn id="29706" idx="0"/>
            <a:endCxn id="29705" idx="4"/>
          </p:cNvCxnSpPr>
          <p:nvPr/>
        </p:nvCxnSpPr>
        <p:spPr bwMode="auto">
          <a:xfrm flipV="1">
            <a:off x="92202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724" name="Rectangle 28"/>
          <p:cNvSpPr>
            <a:spLocks noChangeArrowheads="1"/>
          </p:cNvSpPr>
          <p:nvPr/>
        </p:nvSpPr>
        <p:spPr bwMode="auto">
          <a:xfrm>
            <a:off x="4038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9725" name="Rectangle 29"/>
          <p:cNvSpPr>
            <a:spLocks noChangeArrowheads="1"/>
          </p:cNvSpPr>
          <p:nvPr/>
        </p:nvSpPr>
        <p:spPr bwMode="auto">
          <a:xfrm>
            <a:off x="3352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3200" i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29726" name="Rectangle 30"/>
          <p:cNvSpPr>
            <a:spLocks noChangeArrowheads="1"/>
          </p:cNvSpPr>
          <p:nvPr/>
        </p:nvSpPr>
        <p:spPr bwMode="auto">
          <a:xfrm>
            <a:off x="4724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9727" name="Rectangle 31"/>
          <p:cNvSpPr>
            <a:spLocks noChangeArrowheads="1"/>
          </p:cNvSpPr>
          <p:nvPr/>
        </p:nvSpPr>
        <p:spPr bwMode="auto">
          <a:xfrm>
            <a:off x="54102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8040"/>
            <a:ext cx="10515600" cy="636361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BFS - Example</a:t>
            </a:r>
          </a:p>
        </p:txBody>
      </p:sp>
    </p:spTree>
    <p:extLst>
      <p:ext uri="{BB962C8B-B14F-4D97-AF65-F5344CB8AC3E}">
        <p14:creationId xmlns:p14="http://schemas.microsoft.com/office/powerpoint/2010/main" val="1642721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Oval 3"/>
          <p:cNvSpPr>
            <a:spLocks noChangeArrowheads="1"/>
          </p:cNvSpPr>
          <p:nvPr/>
        </p:nvSpPr>
        <p:spPr bwMode="auto">
          <a:xfrm>
            <a:off x="2667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b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8" name="Oval 4"/>
          <p:cNvSpPr>
            <a:spLocks noChangeArrowheads="1"/>
          </p:cNvSpPr>
          <p:nvPr/>
        </p:nvSpPr>
        <p:spPr bwMode="auto">
          <a:xfrm>
            <a:off x="2667000" y="3657600"/>
            <a:ext cx="762000" cy="762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1749" name="Oval 5"/>
          <p:cNvSpPr>
            <a:spLocks noChangeArrowheads="1"/>
          </p:cNvSpPr>
          <p:nvPr/>
        </p:nvSpPr>
        <p:spPr bwMode="auto">
          <a:xfrm>
            <a:off x="4724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31750" name="Oval 6"/>
          <p:cNvSpPr>
            <a:spLocks noChangeArrowheads="1"/>
          </p:cNvSpPr>
          <p:nvPr/>
        </p:nvSpPr>
        <p:spPr bwMode="auto">
          <a:xfrm>
            <a:off x="4724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31751" name="Oval 7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1752" name="Oval 8"/>
          <p:cNvSpPr>
            <a:spLocks noChangeArrowheads="1"/>
          </p:cNvSpPr>
          <p:nvPr/>
        </p:nvSpPr>
        <p:spPr bwMode="auto">
          <a:xfrm>
            <a:off x="6781800" y="3657600"/>
            <a:ext cx="762000" cy="762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1753" name="Oval 9"/>
          <p:cNvSpPr>
            <a:spLocks noChangeArrowheads="1"/>
          </p:cNvSpPr>
          <p:nvPr/>
        </p:nvSpPr>
        <p:spPr bwMode="auto">
          <a:xfrm>
            <a:off x="88392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1754" name="Oval 10"/>
          <p:cNvSpPr>
            <a:spLocks noChangeArrowheads="1"/>
          </p:cNvSpPr>
          <p:nvPr/>
        </p:nvSpPr>
        <p:spPr bwMode="auto">
          <a:xfrm>
            <a:off x="8839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2906714" y="1676401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4953001" y="1676401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31757" name="Text Box 13"/>
          <p:cNvSpPr txBox="1">
            <a:spLocks noChangeArrowheads="1"/>
          </p:cNvSpPr>
          <p:nvPr/>
        </p:nvSpPr>
        <p:spPr bwMode="auto">
          <a:xfrm>
            <a:off x="7013575" y="1676401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1758" name="Text Box 14"/>
          <p:cNvSpPr txBox="1">
            <a:spLocks noChangeArrowheads="1"/>
          </p:cNvSpPr>
          <p:nvPr/>
        </p:nvSpPr>
        <p:spPr bwMode="auto">
          <a:xfrm>
            <a:off x="9024939" y="1676401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31759" name="Text Box 15"/>
          <p:cNvSpPr txBox="1">
            <a:spLocks noChangeArrowheads="1"/>
          </p:cNvSpPr>
          <p:nvPr/>
        </p:nvSpPr>
        <p:spPr bwMode="auto">
          <a:xfrm>
            <a:off x="2889251" y="4419601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31760" name="Text Box 16"/>
          <p:cNvSpPr txBox="1">
            <a:spLocks noChangeArrowheads="1"/>
          </p:cNvSpPr>
          <p:nvPr/>
        </p:nvSpPr>
        <p:spPr bwMode="auto">
          <a:xfrm>
            <a:off x="4940301" y="4419601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31761" name="Text Box 17"/>
          <p:cNvSpPr txBox="1">
            <a:spLocks noChangeArrowheads="1"/>
          </p:cNvSpPr>
          <p:nvPr/>
        </p:nvSpPr>
        <p:spPr bwMode="auto">
          <a:xfrm>
            <a:off x="7040563" y="4419601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1762" name="Text Box 18"/>
          <p:cNvSpPr txBox="1">
            <a:spLocks noChangeArrowheads="1"/>
          </p:cNvSpPr>
          <p:nvPr/>
        </p:nvSpPr>
        <p:spPr bwMode="auto">
          <a:xfrm>
            <a:off x="9128126" y="4419601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31763" name="AutoShape 19"/>
          <p:cNvCxnSpPr>
            <a:cxnSpLocks noChangeShapeType="1"/>
            <a:stCxn id="31748" idx="0"/>
            <a:endCxn id="31747" idx="4"/>
          </p:cNvCxnSpPr>
          <p:nvPr/>
        </p:nvCxnSpPr>
        <p:spPr bwMode="auto">
          <a:xfrm flipV="1">
            <a:off x="30480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4" name="AutoShape 20"/>
          <p:cNvCxnSpPr>
            <a:cxnSpLocks noChangeShapeType="1"/>
            <a:stCxn id="31747" idx="6"/>
            <a:endCxn id="31749" idx="2"/>
          </p:cNvCxnSpPr>
          <p:nvPr/>
        </p:nvCxnSpPr>
        <p:spPr bwMode="auto">
          <a:xfrm>
            <a:off x="34432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5" name="AutoShape 21"/>
          <p:cNvCxnSpPr>
            <a:cxnSpLocks noChangeShapeType="1"/>
            <a:stCxn id="31749" idx="4"/>
            <a:endCxn id="31750" idx="0"/>
          </p:cNvCxnSpPr>
          <p:nvPr/>
        </p:nvCxnSpPr>
        <p:spPr bwMode="auto">
          <a:xfrm>
            <a:off x="51054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6" name="AutoShape 22"/>
          <p:cNvCxnSpPr>
            <a:cxnSpLocks noChangeShapeType="1"/>
            <a:stCxn id="31750" idx="7"/>
            <a:endCxn id="31751" idx="3"/>
          </p:cNvCxnSpPr>
          <p:nvPr/>
        </p:nvCxnSpPr>
        <p:spPr bwMode="auto">
          <a:xfrm flipV="1">
            <a:off x="5375275" y="2798764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7" name="AutoShape 23"/>
          <p:cNvCxnSpPr>
            <a:cxnSpLocks noChangeShapeType="1"/>
            <a:stCxn id="31750" idx="6"/>
            <a:endCxn id="31752" idx="2"/>
          </p:cNvCxnSpPr>
          <p:nvPr/>
        </p:nvCxnSpPr>
        <p:spPr bwMode="auto">
          <a:xfrm>
            <a:off x="55006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8" name="AutoShape 24"/>
          <p:cNvCxnSpPr>
            <a:cxnSpLocks noChangeShapeType="1"/>
            <a:stCxn id="31752" idx="0"/>
            <a:endCxn id="31751" idx="4"/>
          </p:cNvCxnSpPr>
          <p:nvPr/>
        </p:nvCxnSpPr>
        <p:spPr bwMode="auto">
          <a:xfrm flipV="1">
            <a:off x="71628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9" name="AutoShape 25"/>
          <p:cNvCxnSpPr>
            <a:cxnSpLocks noChangeShapeType="1"/>
            <a:stCxn id="31751" idx="6"/>
            <a:endCxn id="31753" idx="2"/>
          </p:cNvCxnSpPr>
          <p:nvPr/>
        </p:nvCxnSpPr>
        <p:spPr bwMode="auto">
          <a:xfrm>
            <a:off x="7558089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70" name="AutoShape 26"/>
          <p:cNvCxnSpPr>
            <a:cxnSpLocks noChangeShapeType="1"/>
            <a:stCxn id="31752" idx="6"/>
            <a:endCxn id="31754" idx="2"/>
          </p:cNvCxnSpPr>
          <p:nvPr/>
        </p:nvCxnSpPr>
        <p:spPr bwMode="auto">
          <a:xfrm>
            <a:off x="7558089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71" name="AutoShape 27"/>
          <p:cNvCxnSpPr>
            <a:cxnSpLocks noChangeShapeType="1"/>
            <a:stCxn id="31754" idx="0"/>
            <a:endCxn id="31753" idx="4"/>
          </p:cNvCxnSpPr>
          <p:nvPr/>
        </p:nvCxnSpPr>
        <p:spPr bwMode="auto">
          <a:xfrm flipV="1">
            <a:off x="92202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772" name="Rectangle 28"/>
          <p:cNvSpPr>
            <a:spLocks noChangeArrowheads="1"/>
          </p:cNvSpPr>
          <p:nvPr/>
        </p:nvSpPr>
        <p:spPr bwMode="auto">
          <a:xfrm>
            <a:off x="3352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3200" i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31773" name="Rectangle 29"/>
          <p:cNvSpPr>
            <a:spLocks noChangeArrowheads="1"/>
          </p:cNvSpPr>
          <p:nvPr/>
        </p:nvSpPr>
        <p:spPr bwMode="auto">
          <a:xfrm>
            <a:off x="4038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1774" name="Rectangle 30"/>
          <p:cNvSpPr>
            <a:spLocks noChangeArrowheads="1"/>
          </p:cNvSpPr>
          <p:nvPr/>
        </p:nvSpPr>
        <p:spPr bwMode="auto">
          <a:xfrm>
            <a:off x="4724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1775" name="Rectangle 31"/>
          <p:cNvSpPr>
            <a:spLocks noChangeArrowheads="1"/>
          </p:cNvSpPr>
          <p:nvPr/>
        </p:nvSpPr>
        <p:spPr bwMode="auto">
          <a:xfrm>
            <a:off x="54102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3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8040"/>
            <a:ext cx="10515600" cy="636361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BFS - Example</a:t>
            </a:r>
          </a:p>
        </p:txBody>
      </p:sp>
    </p:spTree>
    <p:extLst>
      <p:ext uri="{BB962C8B-B14F-4D97-AF65-F5344CB8AC3E}">
        <p14:creationId xmlns:p14="http://schemas.microsoft.com/office/powerpoint/2010/main" val="2876011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Oval 3"/>
          <p:cNvSpPr>
            <a:spLocks noChangeArrowheads="1"/>
          </p:cNvSpPr>
          <p:nvPr/>
        </p:nvSpPr>
        <p:spPr bwMode="auto">
          <a:xfrm>
            <a:off x="2667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b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6" name="Oval 4"/>
          <p:cNvSpPr>
            <a:spLocks noChangeArrowheads="1"/>
          </p:cNvSpPr>
          <p:nvPr/>
        </p:nvSpPr>
        <p:spPr bwMode="auto">
          <a:xfrm>
            <a:off x="2667000" y="3657600"/>
            <a:ext cx="762000" cy="762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3797" name="Oval 5"/>
          <p:cNvSpPr>
            <a:spLocks noChangeArrowheads="1"/>
          </p:cNvSpPr>
          <p:nvPr/>
        </p:nvSpPr>
        <p:spPr bwMode="auto">
          <a:xfrm>
            <a:off x="4724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33798" name="Oval 6"/>
          <p:cNvSpPr>
            <a:spLocks noChangeArrowheads="1"/>
          </p:cNvSpPr>
          <p:nvPr/>
        </p:nvSpPr>
        <p:spPr bwMode="auto">
          <a:xfrm>
            <a:off x="4724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33799" name="Oval 7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3800" name="Oval 8"/>
          <p:cNvSpPr>
            <a:spLocks noChangeArrowheads="1"/>
          </p:cNvSpPr>
          <p:nvPr/>
        </p:nvSpPr>
        <p:spPr bwMode="auto">
          <a:xfrm>
            <a:off x="6781800" y="3657600"/>
            <a:ext cx="762000" cy="762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3801" name="Oval 9"/>
          <p:cNvSpPr>
            <a:spLocks noChangeArrowheads="1"/>
          </p:cNvSpPr>
          <p:nvPr/>
        </p:nvSpPr>
        <p:spPr bwMode="auto">
          <a:xfrm>
            <a:off x="8839200" y="2133600"/>
            <a:ext cx="762000" cy="762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3802" name="Oval 10"/>
          <p:cNvSpPr>
            <a:spLocks noChangeArrowheads="1"/>
          </p:cNvSpPr>
          <p:nvPr/>
        </p:nvSpPr>
        <p:spPr bwMode="auto">
          <a:xfrm>
            <a:off x="8839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3803" name="Text Box 11"/>
          <p:cNvSpPr txBox="1">
            <a:spLocks noChangeArrowheads="1"/>
          </p:cNvSpPr>
          <p:nvPr/>
        </p:nvSpPr>
        <p:spPr bwMode="auto">
          <a:xfrm>
            <a:off x="2906714" y="1676401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33804" name="Text Box 12"/>
          <p:cNvSpPr txBox="1">
            <a:spLocks noChangeArrowheads="1"/>
          </p:cNvSpPr>
          <p:nvPr/>
        </p:nvSpPr>
        <p:spPr bwMode="auto">
          <a:xfrm>
            <a:off x="4953001" y="1676401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33805" name="Text Box 13"/>
          <p:cNvSpPr txBox="1">
            <a:spLocks noChangeArrowheads="1"/>
          </p:cNvSpPr>
          <p:nvPr/>
        </p:nvSpPr>
        <p:spPr bwMode="auto">
          <a:xfrm>
            <a:off x="7013575" y="1676401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3806" name="Text Box 14"/>
          <p:cNvSpPr txBox="1">
            <a:spLocks noChangeArrowheads="1"/>
          </p:cNvSpPr>
          <p:nvPr/>
        </p:nvSpPr>
        <p:spPr bwMode="auto">
          <a:xfrm>
            <a:off x="9024939" y="1676401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33807" name="Text Box 15"/>
          <p:cNvSpPr txBox="1">
            <a:spLocks noChangeArrowheads="1"/>
          </p:cNvSpPr>
          <p:nvPr/>
        </p:nvSpPr>
        <p:spPr bwMode="auto">
          <a:xfrm>
            <a:off x="2889251" y="4419601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33808" name="Text Box 16"/>
          <p:cNvSpPr txBox="1">
            <a:spLocks noChangeArrowheads="1"/>
          </p:cNvSpPr>
          <p:nvPr/>
        </p:nvSpPr>
        <p:spPr bwMode="auto">
          <a:xfrm>
            <a:off x="4940301" y="4419601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33809" name="Text Box 17"/>
          <p:cNvSpPr txBox="1">
            <a:spLocks noChangeArrowheads="1"/>
          </p:cNvSpPr>
          <p:nvPr/>
        </p:nvSpPr>
        <p:spPr bwMode="auto">
          <a:xfrm>
            <a:off x="7040563" y="4419601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3810" name="Text Box 18"/>
          <p:cNvSpPr txBox="1">
            <a:spLocks noChangeArrowheads="1"/>
          </p:cNvSpPr>
          <p:nvPr/>
        </p:nvSpPr>
        <p:spPr bwMode="auto">
          <a:xfrm>
            <a:off x="9128126" y="4419601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33811" name="AutoShape 19"/>
          <p:cNvCxnSpPr>
            <a:cxnSpLocks noChangeShapeType="1"/>
            <a:stCxn id="33796" idx="0"/>
            <a:endCxn id="33795" idx="4"/>
          </p:cNvCxnSpPr>
          <p:nvPr/>
        </p:nvCxnSpPr>
        <p:spPr bwMode="auto">
          <a:xfrm flipV="1">
            <a:off x="30480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2" name="AutoShape 20"/>
          <p:cNvCxnSpPr>
            <a:cxnSpLocks noChangeShapeType="1"/>
            <a:stCxn id="33795" idx="6"/>
            <a:endCxn id="33797" idx="2"/>
          </p:cNvCxnSpPr>
          <p:nvPr/>
        </p:nvCxnSpPr>
        <p:spPr bwMode="auto">
          <a:xfrm>
            <a:off x="34432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3" name="AutoShape 21"/>
          <p:cNvCxnSpPr>
            <a:cxnSpLocks noChangeShapeType="1"/>
            <a:stCxn id="33797" idx="4"/>
            <a:endCxn id="33798" idx="0"/>
          </p:cNvCxnSpPr>
          <p:nvPr/>
        </p:nvCxnSpPr>
        <p:spPr bwMode="auto">
          <a:xfrm>
            <a:off x="51054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4" name="AutoShape 22"/>
          <p:cNvCxnSpPr>
            <a:cxnSpLocks noChangeShapeType="1"/>
            <a:stCxn id="33798" idx="7"/>
            <a:endCxn id="33799" idx="3"/>
          </p:cNvCxnSpPr>
          <p:nvPr/>
        </p:nvCxnSpPr>
        <p:spPr bwMode="auto">
          <a:xfrm flipV="1">
            <a:off x="5375275" y="2798764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5" name="AutoShape 23"/>
          <p:cNvCxnSpPr>
            <a:cxnSpLocks noChangeShapeType="1"/>
            <a:stCxn id="33798" idx="6"/>
            <a:endCxn id="33800" idx="2"/>
          </p:cNvCxnSpPr>
          <p:nvPr/>
        </p:nvCxnSpPr>
        <p:spPr bwMode="auto">
          <a:xfrm>
            <a:off x="55006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6" name="AutoShape 24"/>
          <p:cNvCxnSpPr>
            <a:cxnSpLocks noChangeShapeType="1"/>
            <a:stCxn id="33800" idx="0"/>
            <a:endCxn id="33799" idx="4"/>
          </p:cNvCxnSpPr>
          <p:nvPr/>
        </p:nvCxnSpPr>
        <p:spPr bwMode="auto">
          <a:xfrm flipV="1">
            <a:off x="71628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7" name="AutoShape 25"/>
          <p:cNvCxnSpPr>
            <a:cxnSpLocks noChangeShapeType="1"/>
            <a:stCxn id="33799" idx="6"/>
            <a:endCxn id="33801" idx="2"/>
          </p:cNvCxnSpPr>
          <p:nvPr/>
        </p:nvCxnSpPr>
        <p:spPr bwMode="auto">
          <a:xfrm>
            <a:off x="75580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8" name="AutoShape 26"/>
          <p:cNvCxnSpPr>
            <a:cxnSpLocks noChangeShapeType="1"/>
            <a:stCxn id="33800" idx="6"/>
            <a:endCxn id="33802" idx="2"/>
          </p:cNvCxnSpPr>
          <p:nvPr/>
        </p:nvCxnSpPr>
        <p:spPr bwMode="auto">
          <a:xfrm>
            <a:off x="7558089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9" name="AutoShape 27"/>
          <p:cNvCxnSpPr>
            <a:cxnSpLocks noChangeShapeType="1"/>
            <a:stCxn id="33802" idx="0"/>
            <a:endCxn id="33801" idx="4"/>
          </p:cNvCxnSpPr>
          <p:nvPr/>
        </p:nvCxnSpPr>
        <p:spPr bwMode="auto">
          <a:xfrm flipV="1">
            <a:off x="92202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820" name="Rectangle 28"/>
          <p:cNvSpPr>
            <a:spLocks noChangeArrowheads="1"/>
          </p:cNvSpPr>
          <p:nvPr/>
        </p:nvSpPr>
        <p:spPr bwMode="auto">
          <a:xfrm>
            <a:off x="3352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3200" i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33821" name="Rectangle 29"/>
          <p:cNvSpPr>
            <a:spLocks noChangeArrowheads="1"/>
          </p:cNvSpPr>
          <p:nvPr/>
        </p:nvSpPr>
        <p:spPr bwMode="auto">
          <a:xfrm>
            <a:off x="4038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3822" name="Rectangle 30"/>
          <p:cNvSpPr>
            <a:spLocks noChangeArrowheads="1"/>
          </p:cNvSpPr>
          <p:nvPr/>
        </p:nvSpPr>
        <p:spPr bwMode="auto">
          <a:xfrm>
            <a:off x="4724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33823" name="Rectangle 31"/>
          <p:cNvSpPr>
            <a:spLocks noChangeArrowheads="1"/>
          </p:cNvSpPr>
          <p:nvPr/>
        </p:nvSpPr>
        <p:spPr bwMode="auto">
          <a:xfrm>
            <a:off x="54102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3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8040"/>
            <a:ext cx="10515600" cy="636361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BFS - Example</a:t>
            </a:r>
          </a:p>
        </p:txBody>
      </p:sp>
    </p:spTree>
    <p:extLst>
      <p:ext uri="{BB962C8B-B14F-4D97-AF65-F5344CB8AC3E}">
        <p14:creationId xmlns:p14="http://schemas.microsoft.com/office/powerpoint/2010/main" val="894725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Oval 3"/>
          <p:cNvSpPr>
            <a:spLocks noChangeArrowheads="1"/>
          </p:cNvSpPr>
          <p:nvPr/>
        </p:nvSpPr>
        <p:spPr bwMode="auto">
          <a:xfrm>
            <a:off x="2667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b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4" name="Oval 4"/>
          <p:cNvSpPr>
            <a:spLocks noChangeArrowheads="1"/>
          </p:cNvSpPr>
          <p:nvPr/>
        </p:nvSpPr>
        <p:spPr bwMode="auto">
          <a:xfrm>
            <a:off x="2667000" y="3657600"/>
            <a:ext cx="762000" cy="762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5845" name="Oval 5"/>
          <p:cNvSpPr>
            <a:spLocks noChangeArrowheads="1"/>
          </p:cNvSpPr>
          <p:nvPr/>
        </p:nvSpPr>
        <p:spPr bwMode="auto">
          <a:xfrm>
            <a:off x="4724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35846" name="Oval 6"/>
          <p:cNvSpPr>
            <a:spLocks noChangeArrowheads="1"/>
          </p:cNvSpPr>
          <p:nvPr/>
        </p:nvSpPr>
        <p:spPr bwMode="auto">
          <a:xfrm>
            <a:off x="4724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35847" name="Oval 7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5848" name="Oval 8"/>
          <p:cNvSpPr>
            <a:spLocks noChangeArrowheads="1"/>
          </p:cNvSpPr>
          <p:nvPr/>
        </p:nvSpPr>
        <p:spPr bwMode="auto">
          <a:xfrm>
            <a:off x="67818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5849" name="Oval 9"/>
          <p:cNvSpPr>
            <a:spLocks noChangeArrowheads="1"/>
          </p:cNvSpPr>
          <p:nvPr/>
        </p:nvSpPr>
        <p:spPr bwMode="auto">
          <a:xfrm>
            <a:off x="8839200" y="2133600"/>
            <a:ext cx="762000" cy="762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5850" name="Oval 10"/>
          <p:cNvSpPr>
            <a:spLocks noChangeArrowheads="1"/>
          </p:cNvSpPr>
          <p:nvPr/>
        </p:nvSpPr>
        <p:spPr bwMode="auto">
          <a:xfrm>
            <a:off x="8839200" y="3657600"/>
            <a:ext cx="762000" cy="762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5851" name="Text Box 11"/>
          <p:cNvSpPr txBox="1">
            <a:spLocks noChangeArrowheads="1"/>
          </p:cNvSpPr>
          <p:nvPr/>
        </p:nvSpPr>
        <p:spPr bwMode="auto">
          <a:xfrm>
            <a:off x="2906714" y="1676401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35852" name="Text Box 12"/>
          <p:cNvSpPr txBox="1">
            <a:spLocks noChangeArrowheads="1"/>
          </p:cNvSpPr>
          <p:nvPr/>
        </p:nvSpPr>
        <p:spPr bwMode="auto">
          <a:xfrm>
            <a:off x="4953001" y="1676401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35853" name="Text Box 13"/>
          <p:cNvSpPr txBox="1">
            <a:spLocks noChangeArrowheads="1"/>
          </p:cNvSpPr>
          <p:nvPr/>
        </p:nvSpPr>
        <p:spPr bwMode="auto">
          <a:xfrm>
            <a:off x="7013575" y="1676401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5854" name="Text Box 14"/>
          <p:cNvSpPr txBox="1">
            <a:spLocks noChangeArrowheads="1"/>
          </p:cNvSpPr>
          <p:nvPr/>
        </p:nvSpPr>
        <p:spPr bwMode="auto">
          <a:xfrm>
            <a:off x="9024939" y="1676401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35855" name="Text Box 15"/>
          <p:cNvSpPr txBox="1">
            <a:spLocks noChangeArrowheads="1"/>
          </p:cNvSpPr>
          <p:nvPr/>
        </p:nvSpPr>
        <p:spPr bwMode="auto">
          <a:xfrm>
            <a:off x="2889251" y="4419601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35856" name="Text Box 16"/>
          <p:cNvSpPr txBox="1">
            <a:spLocks noChangeArrowheads="1"/>
          </p:cNvSpPr>
          <p:nvPr/>
        </p:nvSpPr>
        <p:spPr bwMode="auto">
          <a:xfrm>
            <a:off x="4940301" y="4419601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35857" name="Text Box 17"/>
          <p:cNvSpPr txBox="1">
            <a:spLocks noChangeArrowheads="1"/>
          </p:cNvSpPr>
          <p:nvPr/>
        </p:nvSpPr>
        <p:spPr bwMode="auto">
          <a:xfrm>
            <a:off x="7040563" y="4419601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5858" name="Text Box 18"/>
          <p:cNvSpPr txBox="1">
            <a:spLocks noChangeArrowheads="1"/>
          </p:cNvSpPr>
          <p:nvPr/>
        </p:nvSpPr>
        <p:spPr bwMode="auto">
          <a:xfrm>
            <a:off x="9128126" y="4419601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35859" name="AutoShape 19"/>
          <p:cNvCxnSpPr>
            <a:cxnSpLocks noChangeShapeType="1"/>
            <a:stCxn id="35844" idx="0"/>
            <a:endCxn id="35843" idx="4"/>
          </p:cNvCxnSpPr>
          <p:nvPr/>
        </p:nvCxnSpPr>
        <p:spPr bwMode="auto">
          <a:xfrm flipV="1">
            <a:off x="30480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0" name="AutoShape 20"/>
          <p:cNvCxnSpPr>
            <a:cxnSpLocks noChangeShapeType="1"/>
            <a:stCxn id="35843" idx="6"/>
            <a:endCxn id="35845" idx="2"/>
          </p:cNvCxnSpPr>
          <p:nvPr/>
        </p:nvCxnSpPr>
        <p:spPr bwMode="auto">
          <a:xfrm>
            <a:off x="34432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1" name="AutoShape 21"/>
          <p:cNvCxnSpPr>
            <a:cxnSpLocks noChangeShapeType="1"/>
            <a:stCxn id="35845" idx="4"/>
            <a:endCxn id="35846" idx="0"/>
          </p:cNvCxnSpPr>
          <p:nvPr/>
        </p:nvCxnSpPr>
        <p:spPr bwMode="auto">
          <a:xfrm>
            <a:off x="51054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2" name="AutoShape 22"/>
          <p:cNvCxnSpPr>
            <a:cxnSpLocks noChangeShapeType="1"/>
            <a:stCxn id="35846" idx="7"/>
            <a:endCxn id="35847" idx="3"/>
          </p:cNvCxnSpPr>
          <p:nvPr/>
        </p:nvCxnSpPr>
        <p:spPr bwMode="auto">
          <a:xfrm flipV="1">
            <a:off x="5375275" y="2798764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3" name="AutoShape 23"/>
          <p:cNvCxnSpPr>
            <a:cxnSpLocks noChangeShapeType="1"/>
            <a:stCxn id="35846" idx="6"/>
            <a:endCxn id="35848" idx="2"/>
          </p:cNvCxnSpPr>
          <p:nvPr/>
        </p:nvCxnSpPr>
        <p:spPr bwMode="auto">
          <a:xfrm>
            <a:off x="55006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4" name="AutoShape 24"/>
          <p:cNvCxnSpPr>
            <a:cxnSpLocks noChangeShapeType="1"/>
            <a:stCxn id="35848" idx="0"/>
            <a:endCxn id="35847" idx="4"/>
          </p:cNvCxnSpPr>
          <p:nvPr/>
        </p:nvCxnSpPr>
        <p:spPr bwMode="auto">
          <a:xfrm flipV="1">
            <a:off x="71628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5" name="AutoShape 25"/>
          <p:cNvCxnSpPr>
            <a:cxnSpLocks noChangeShapeType="1"/>
            <a:stCxn id="35847" idx="6"/>
            <a:endCxn id="35849" idx="2"/>
          </p:cNvCxnSpPr>
          <p:nvPr/>
        </p:nvCxnSpPr>
        <p:spPr bwMode="auto">
          <a:xfrm>
            <a:off x="75580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6" name="AutoShape 26"/>
          <p:cNvCxnSpPr>
            <a:cxnSpLocks noChangeShapeType="1"/>
            <a:stCxn id="35848" idx="6"/>
            <a:endCxn id="35850" idx="2"/>
          </p:cNvCxnSpPr>
          <p:nvPr/>
        </p:nvCxnSpPr>
        <p:spPr bwMode="auto">
          <a:xfrm>
            <a:off x="75580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7" name="AutoShape 27"/>
          <p:cNvCxnSpPr>
            <a:cxnSpLocks noChangeShapeType="1"/>
            <a:stCxn id="35850" idx="0"/>
            <a:endCxn id="35849" idx="4"/>
          </p:cNvCxnSpPr>
          <p:nvPr/>
        </p:nvCxnSpPr>
        <p:spPr bwMode="auto">
          <a:xfrm flipV="1">
            <a:off x="92202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868" name="Rectangle 28"/>
          <p:cNvSpPr>
            <a:spLocks noChangeArrowheads="1"/>
          </p:cNvSpPr>
          <p:nvPr/>
        </p:nvSpPr>
        <p:spPr bwMode="auto">
          <a:xfrm>
            <a:off x="3352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3200" i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35869" name="Rectangle 29"/>
          <p:cNvSpPr>
            <a:spLocks noChangeArrowheads="1"/>
          </p:cNvSpPr>
          <p:nvPr/>
        </p:nvSpPr>
        <p:spPr bwMode="auto">
          <a:xfrm>
            <a:off x="4038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35870" name="Rectangle 30"/>
          <p:cNvSpPr>
            <a:spLocks noChangeArrowheads="1"/>
          </p:cNvSpPr>
          <p:nvPr/>
        </p:nvSpPr>
        <p:spPr bwMode="auto">
          <a:xfrm>
            <a:off x="4724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35871" name="Rectangle 31"/>
          <p:cNvSpPr>
            <a:spLocks noChangeArrowheads="1"/>
          </p:cNvSpPr>
          <p:nvPr/>
        </p:nvSpPr>
        <p:spPr bwMode="auto">
          <a:xfrm>
            <a:off x="54102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3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8040"/>
            <a:ext cx="10515600" cy="636361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BFS - Example</a:t>
            </a:r>
          </a:p>
        </p:txBody>
      </p:sp>
    </p:spTree>
    <p:extLst>
      <p:ext uri="{BB962C8B-B14F-4D97-AF65-F5344CB8AC3E}">
        <p14:creationId xmlns:p14="http://schemas.microsoft.com/office/powerpoint/2010/main" val="1405016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Oval 3"/>
          <p:cNvSpPr>
            <a:spLocks noChangeArrowheads="1"/>
          </p:cNvSpPr>
          <p:nvPr/>
        </p:nvSpPr>
        <p:spPr bwMode="auto">
          <a:xfrm>
            <a:off x="2667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b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2" name="Oval 4"/>
          <p:cNvSpPr>
            <a:spLocks noChangeArrowheads="1"/>
          </p:cNvSpPr>
          <p:nvPr/>
        </p:nvSpPr>
        <p:spPr bwMode="auto">
          <a:xfrm>
            <a:off x="26670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7893" name="Oval 5"/>
          <p:cNvSpPr>
            <a:spLocks noChangeArrowheads="1"/>
          </p:cNvSpPr>
          <p:nvPr/>
        </p:nvSpPr>
        <p:spPr bwMode="auto">
          <a:xfrm>
            <a:off x="4724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37894" name="Oval 6"/>
          <p:cNvSpPr>
            <a:spLocks noChangeArrowheads="1"/>
          </p:cNvSpPr>
          <p:nvPr/>
        </p:nvSpPr>
        <p:spPr bwMode="auto">
          <a:xfrm>
            <a:off x="4724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37895" name="Oval 7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7896" name="Oval 8"/>
          <p:cNvSpPr>
            <a:spLocks noChangeArrowheads="1"/>
          </p:cNvSpPr>
          <p:nvPr/>
        </p:nvSpPr>
        <p:spPr bwMode="auto">
          <a:xfrm>
            <a:off x="67818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7897" name="Oval 9"/>
          <p:cNvSpPr>
            <a:spLocks noChangeArrowheads="1"/>
          </p:cNvSpPr>
          <p:nvPr/>
        </p:nvSpPr>
        <p:spPr bwMode="auto">
          <a:xfrm>
            <a:off x="8839200" y="2133600"/>
            <a:ext cx="762000" cy="762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7898" name="Oval 10"/>
          <p:cNvSpPr>
            <a:spLocks noChangeArrowheads="1"/>
          </p:cNvSpPr>
          <p:nvPr/>
        </p:nvSpPr>
        <p:spPr bwMode="auto">
          <a:xfrm>
            <a:off x="8839200" y="3657600"/>
            <a:ext cx="762000" cy="762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7899" name="Text Box 11"/>
          <p:cNvSpPr txBox="1">
            <a:spLocks noChangeArrowheads="1"/>
          </p:cNvSpPr>
          <p:nvPr/>
        </p:nvSpPr>
        <p:spPr bwMode="auto">
          <a:xfrm>
            <a:off x="2906714" y="1676401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37900" name="Text Box 12"/>
          <p:cNvSpPr txBox="1">
            <a:spLocks noChangeArrowheads="1"/>
          </p:cNvSpPr>
          <p:nvPr/>
        </p:nvSpPr>
        <p:spPr bwMode="auto">
          <a:xfrm>
            <a:off x="4953001" y="1676401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37901" name="Text Box 13"/>
          <p:cNvSpPr txBox="1">
            <a:spLocks noChangeArrowheads="1"/>
          </p:cNvSpPr>
          <p:nvPr/>
        </p:nvSpPr>
        <p:spPr bwMode="auto">
          <a:xfrm>
            <a:off x="7013575" y="1676401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7902" name="Text Box 14"/>
          <p:cNvSpPr txBox="1">
            <a:spLocks noChangeArrowheads="1"/>
          </p:cNvSpPr>
          <p:nvPr/>
        </p:nvSpPr>
        <p:spPr bwMode="auto">
          <a:xfrm>
            <a:off x="9024939" y="1676401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37903" name="Text Box 15"/>
          <p:cNvSpPr txBox="1">
            <a:spLocks noChangeArrowheads="1"/>
          </p:cNvSpPr>
          <p:nvPr/>
        </p:nvSpPr>
        <p:spPr bwMode="auto">
          <a:xfrm>
            <a:off x="2889251" y="4419601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37904" name="Text Box 16"/>
          <p:cNvSpPr txBox="1">
            <a:spLocks noChangeArrowheads="1"/>
          </p:cNvSpPr>
          <p:nvPr/>
        </p:nvSpPr>
        <p:spPr bwMode="auto">
          <a:xfrm>
            <a:off x="4940301" y="4419601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37905" name="Text Box 17"/>
          <p:cNvSpPr txBox="1">
            <a:spLocks noChangeArrowheads="1"/>
          </p:cNvSpPr>
          <p:nvPr/>
        </p:nvSpPr>
        <p:spPr bwMode="auto">
          <a:xfrm>
            <a:off x="7040563" y="4419601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7906" name="Text Box 18"/>
          <p:cNvSpPr txBox="1">
            <a:spLocks noChangeArrowheads="1"/>
          </p:cNvSpPr>
          <p:nvPr/>
        </p:nvSpPr>
        <p:spPr bwMode="auto">
          <a:xfrm>
            <a:off x="9128126" y="4419601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37907" name="AutoShape 19"/>
          <p:cNvCxnSpPr>
            <a:cxnSpLocks noChangeShapeType="1"/>
            <a:stCxn id="37892" idx="0"/>
            <a:endCxn id="37891" idx="4"/>
          </p:cNvCxnSpPr>
          <p:nvPr/>
        </p:nvCxnSpPr>
        <p:spPr bwMode="auto">
          <a:xfrm flipV="1">
            <a:off x="30480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8" name="AutoShape 20"/>
          <p:cNvCxnSpPr>
            <a:cxnSpLocks noChangeShapeType="1"/>
            <a:stCxn id="37891" idx="6"/>
            <a:endCxn id="37893" idx="2"/>
          </p:cNvCxnSpPr>
          <p:nvPr/>
        </p:nvCxnSpPr>
        <p:spPr bwMode="auto">
          <a:xfrm>
            <a:off x="34432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9" name="AutoShape 21"/>
          <p:cNvCxnSpPr>
            <a:cxnSpLocks noChangeShapeType="1"/>
            <a:stCxn id="37893" idx="4"/>
            <a:endCxn id="37894" idx="0"/>
          </p:cNvCxnSpPr>
          <p:nvPr/>
        </p:nvCxnSpPr>
        <p:spPr bwMode="auto">
          <a:xfrm>
            <a:off x="51054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10" name="AutoShape 22"/>
          <p:cNvCxnSpPr>
            <a:cxnSpLocks noChangeShapeType="1"/>
            <a:stCxn id="37894" idx="7"/>
            <a:endCxn id="37895" idx="3"/>
          </p:cNvCxnSpPr>
          <p:nvPr/>
        </p:nvCxnSpPr>
        <p:spPr bwMode="auto">
          <a:xfrm flipV="1">
            <a:off x="5375275" y="2798764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11" name="AutoShape 23"/>
          <p:cNvCxnSpPr>
            <a:cxnSpLocks noChangeShapeType="1"/>
            <a:stCxn id="37894" idx="6"/>
            <a:endCxn id="37896" idx="2"/>
          </p:cNvCxnSpPr>
          <p:nvPr/>
        </p:nvCxnSpPr>
        <p:spPr bwMode="auto">
          <a:xfrm>
            <a:off x="55006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12" name="AutoShape 24"/>
          <p:cNvCxnSpPr>
            <a:cxnSpLocks noChangeShapeType="1"/>
            <a:stCxn id="37896" idx="0"/>
            <a:endCxn id="37895" idx="4"/>
          </p:cNvCxnSpPr>
          <p:nvPr/>
        </p:nvCxnSpPr>
        <p:spPr bwMode="auto">
          <a:xfrm flipV="1">
            <a:off x="71628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13" name="AutoShape 25"/>
          <p:cNvCxnSpPr>
            <a:cxnSpLocks noChangeShapeType="1"/>
            <a:stCxn id="37895" idx="6"/>
            <a:endCxn id="37897" idx="2"/>
          </p:cNvCxnSpPr>
          <p:nvPr/>
        </p:nvCxnSpPr>
        <p:spPr bwMode="auto">
          <a:xfrm>
            <a:off x="75580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14" name="AutoShape 26"/>
          <p:cNvCxnSpPr>
            <a:cxnSpLocks noChangeShapeType="1"/>
            <a:stCxn id="37896" idx="6"/>
            <a:endCxn id="37898" idx="2"/>
          </p:cNvCxnSpPr>
          <p:nvPr/>
        </p:nvCxnSpPr>
        <p:spPr bwMode="auto">
          <a:xfrm>
            <a:off x="75580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15" name="AutoShape 27"/>
          <p:cNvCxnSpPr>
            <a:cxnSpLocks noChangeShapeType="1"/>
            <a:stCxn id="37898" idx="0"/>
            <a:endCxn id="37897" idx="4"/>
          </p:cNvCxnSpPr>
          <p:nvPr/>
        </p:nvCxnSpPr>
        <p:spPr bwMode="auto">
          <a:xfrm flipV="1">
            <a:off x="92202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16" name="Rectangle 28"/>
          <p:cNvSpPr>
            <a:spLocks noChangeArrowheads="1"/>
          </p:cNvSpPr>
          <p:nvPr/>
        </p:nvSpPr>
        <p:spPr bwMode="auto">
          <a:xfrm>
            <a:off x="3352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3200" i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37917" name="Rectangle 29"/>
          <p:cNvSpPr>
            <a:spLocks noChangeArrowheads="1"/>
          </p:cNvSpPr>
          <p:nvPr/>
        </p:nvSpPr>
        <p:spPr bwMode="auto">
          <a:xfrm>
            <a:off x="4038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37918" name="Rectangle 30"/>
          <p:cNvSpPr>
            <a:spLocks noChangeArrowheads="1"/>
          </p:cNvSpPr>
          <p:nvPr/>
        </p:nvSpPr>
        <p:spPr bwMode="auto">
          <a:xfrm>
            <a:off x="4724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8040"/>
            <a:ext cx="10515600" cy="636361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BFS - Example</a:t>
            </a:r>
          </a:p>
        </p:txBody>
      </p:sp>
    </p:spTree>
    <p:extLst>
      <p:ext uri="{BB962C8B-B14F-4D97-AF65-F5344CB8AC3E}">
        <p14:creationId xmlns:p14="http://schemas.microsoft.com/office/powerpoint/2010/main" val="1603880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Oval 3"/>
          <p:cNvSpPr>
            <a:spLocks noChangeArrowheads="1"/>
          </p:cNvSpPr>
          <p:nvPr/>
        </p:nvSpPr>
        <p:spPr bwMode="auto">
          <a:xfrm>
            <a:off x="2667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b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0" name="Oval 4"/>
          <p:cNvSpPr>
            <a:spLocks noChangeArrowheads="1"/>
          </p:cNvSpPr>
          <p:nvPr/>
        </p:nvSpPr>
        <p:spPr bwMode="auto">
          <a:xfrm>
            <a:off x="26670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9941" name="Oval 5"/>
          <p:cNvSpPr>
            <a:spLocks noChangeArrowheads="1"/>
          </p:cNvSpPr>
          <p:nvPr/>
        </p:nvSpPr>
        <p:spPr bwMode="auto">
          <a:xfrm>
            <a:off x="4724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39942" name="Oval 6"/>
          <p:cNvSpPr>
            <a:spLocks noChangeArrowheads="1"/>
          </p:cNvSpPr>
          <p:nvPr/>
        </p:nvSpPr>
        <p:spPr bwMode="auto">
          <a:xfrm>
            <a:off x="4724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39943" name="Oval 7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9944" name="Oval 8"/>
          <p:cNvSpPr>
            <a:spLocks noChangeArrowheads="1"/>
          </p:cNvSpPr>
          <p:nvPr/>
        </p:nvSpPr>
        <p:spPr bwMode="auto">
          <a:xfrm>
            <a:off x="67818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9945" name="Oval 9"/>
          <p:cNvSpPr>
            <a:spLocks noChangeArrowheads="1"/>
          </p:cNvSpPr>
          <p:nvPr/>
        </p:nvSpPr>
        <p:spPr bwMode="auto">
          <a:xfrm>
            <a:off x="88392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9946" name="Oval 10"/>
          <p:cNvSpPr>
            <a:spLocks noChangeArrowheads="1"/>
          </p:cNvSpPr>
          <p:nvPr/>
        </p:nvSpPr>
        <p:spPr bwMode="auto">
          <a:xfrm>
            <a:off x="8839200" y="3657600"/>
            <a:ext cx="762000" cy="762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9947" name="Text Box 11"/>
          <p:cNvSpPr txBox="1">
            <a:spLocks noChangeArrowheads="1"/>
          </p:cNvSpPr>
          <p:nvPr/>
        </p:nvSpPr>
        <p:spPr bwMode="auto">
          <a:xfrm>
            <a:off x="2906714" y="1676401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39948" name="Text Box 12"/>
          <p:cNvSpPr txBox="1">
            <a:spLocks noChangeArrowheads="1"/>
          </p:cNvSpPr>
          <p:nvPr/>
        </p:nvSpPr>
        <p:spPr bwMode="auto">
          <a:xfrm>
            <a:off x="4953001" y="1676401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39949" name="Text Box 13"/>
          <p:cNvSpPr txBox="1">
            <a:spLocks noChangeArrowheads="1"/>
          </p:cNvSpPr>
          <p:nvPr/>
        </p:nvSpPr>
        <p:spPr bwMode="auto">
          <a:xfrm>
            <a:off x="7013575" y="1676401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9950" name="Text Box 14"/>
          <p:cNvSpPr txBox="1">
            <a:spLocks noChangeArrowheads="1"/>
          </p:cNvSpPr>
          <p:nvPr/>
        </p:nvSpPr>
        <p:spPr bwMode="auto">
          <a:xfrm>
            <a:off x="9024939" y="1676401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39951" name="Text Box 15"/>
          <p:cNvSpPr txBox="1">
            <a:spLocks noChangeArrowheads="1"/>
          </p:cNvSpPr>
          <p:nvPr/>
        </p:nvSpPr>
        <p:spPr bwMode="auto">
          <a:xfrm>
            <a:off x="2889251" y="4419601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39952" name="Text Box 16"/>
          <p:cNvSpPr txBox="1">
            <a:spLocks noChangeArrowheads="1"/>
          </p:cNvSpPr>
          <p:nvPr/>
        </p:nvSpPr>
        <p:spPr bwMode="auto">
          <a:xfrm>
            <a:off x="4940301" y="4419601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39953" name="Text Box 17"/>
          <p:cNvSpPr txBox="1">
            <a:spLocks noChangeArrowheads="1"/>
          </p:cNvSpPr>
          <p:nvPr/>
        </p:nvSpPr>
        <p:spPr bwMode="auto">
          <a:xfrm>
            <a:off x="7040563" y="4419601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9954" name="Text Box 18"/>
          <p:cNvSpPr txBox="1">
            <a:spLocks noChangeArrowheads="1"/>
          </p:cNvSpPr>
          <p:nvPr/>
        </p:nvSpPr>
        <p:spPr bwMode="auto">
          <a:xfrm>
            <a:off x="9128126" y="4419601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39955" name="AutoShape 19"/>
          <p:cNvCxnSpPr>
            <a:cxnSpLocks noChangeShapeType="1"/>
            <a:stCxn id="39940" idx="0"/>
            <a:endCxn id="39939" idx="4"/>
          </p:cNvCxnSpPr>
          <p:nvPr/>
        </p:nvCxnSpPr>
        <p:spPr bwMode="auto">
          <a:xfrm flipV="1">
            <a:off x="30480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6" name="AutoShape 20"/>
          <p:cNvCxnSpPr>
            <a:cxnSpLocks noChangeShapeType="1"/>
            <a:stCxn id="39939" idx="6"/>
            <a:endCxn id="39941" idx="2"/>
          </p:cNvCxnSpPr>
          <p:nvPr/>
        </p:nvCxnSpPr>
        <p:spPr bwMode="auto">
          <a:xfrm>
            <a:off x="34432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7" name="AutoShape 21"/>
          <p:cNvCxnSpPr>
            <a:cxnSpLocks noChangeShapeType="1"/>
            <a:stCxn id="39941" idx="4"/>
            <a:endCxn id="39942" idx="0"/>
          </p:cNvCxnSpPr>
          <p:nvPr/>
        </p:nvCxnSpPr>
        <p:spPr bwMode="auto">
          <a:xfrm>
            <a:off x="51054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8" name="AutoShape 22"/>
          <p:cNvCxnSpPr>
            <a:cxnSpLocks noChangeShapeType="1"/>
            <a:stCxn id="39942" idx="7"/>
            <a:endCxn id="39943" idx="3"/>
          </p:cNvCxnSpPr>
          <p:nvPr/>
        </p:nvCxnSpPr>
        <p:spPr bwMode="auto">
          <a:xfrm flipV="1">
            <a:off x="5375275" y="2798764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9" name="AutoShape 23"/>
          <p:cNvCxnSpPr>
            <a:cxnSpLocks noChangeShapeType="1"/>
            <a:stCxn id="39942" idx="6"/>
            <a:endCxn id="39944" idx="2"/>
          </p:cNvCxnSpPr>
          <p:nvPr/>
        </p:nvCxnSpPr>
        <p:spPr bwMode="auto">
          <a:xfrm>
            <a:off x="55006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60" name="AutoShape 24"/>
          <p:cNvCxnSpPr>
            <a:cxnSpLocks noChangeShapeType="1"/>
            <a:stCxn id="39944" idx="0"/>
            <a:endCxn id="39943" idx="4"/>
          </p:cNvCxnSpPr>
          <p:nvPr/>
        </p:nvCxnSpPr>
        <p:spPr bwMode="auto">
          <a:xfrm flipV="1">
            <a:off x="71628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61" name="AutoShape 25"/>
          <p:cNvCxnSpPr>
            <a:cxnSpLocks noChangeShapeType="1"/>
            <a:stCxn id="39943" idx="6"/>
            <a:endCxn id="39945" idx="2"/>
          </p:cNvCxnSpPr>
          <p:nvPr/>
        </p:nvCxnSpPr>
        <p:spPr bwMode="auto">
          <a:xfrm>
            <a:off x="75580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62" name="AutoShape 26"/>
          <p:cNvCxnSpPr>
            <a:cxnSpLocks noChangeShapeType="1"/>
            <a:stCxn id="39944" idx="6"/>
            <a:endCxn id="39946" idx="2"/>
          </p:cNvCxnSpPr>
          <p:nvPr/>
        </p:nvCxnSpPr>
        <p:spPr bwMode="auto">
          <a:xfrm>
            <a:off x="75580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63" name="AutoShape 27"/>
          <p:cNvCxnSpPr>
            <a:cxnSpLocks noChangeShapeType="1"/>
            <a:stCxn id="39946" idx="0"/>
            <a:endCxn id="39945" idx="4"/>
          </p:cNvCxnSpPr>
          <p:nvPr/>
        </p:nvCxnSpPr>
        <p:spPr bwMode="auto">
          <a:xfrm flipV="1">
            <a:off x="92202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64" name="Rectangle 28"/>
          <p:cNvSpPr>
            <a:spLocks noChangeArrowheads="1"/>
          </p:cNvSpPr>
          <p:nvPr/>
        </p:nvSpPr>
        <p:spPr bwMode="auto">
          <a:xfrm>
            <a:off x="3352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3200" i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39965" name="Rectangle 29"/>
          <p:cNvSpPr>
            <a:spLocks noChangeArrowheads="1"/>
          </p:cNvSpPr>
          <p:nvPr/>
        </p:nvSpPr>
        <p:spPr bwMode="auto">
          <a:xfrm>
            <a:off x="4038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3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8040"/>
            <a:ext cx="10515600" cy="636361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BFS - Example</a:t>
            </a:r>
          </a:p>
        </p:txBody>
      </p:sp>
    </p:spTree>
    <p:extLst>
      <p:ext uri="{BB962C8B-B14F-4D97-AF65-F5344CB8AC3E}">
        <p14:creationId xmlns:p14="http://schemas.microsoft.com/office/powerpoint/2010/main" val="21646480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Oval 3"/>
          <p:cNvSpPr>
            <a:spLocks noChangeArrowheads="1"/>
          </p:cNvSpPr>
          <p:nvPr/>
        </p:nvSpPr>
        <p:spPr bwMode="auto">
          <a:xfrm>
            <a:off x="2667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b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8" name="Oval 4"/>
          <p:cNvSpPr>
            <a:spLocks noChangeArrowheads="1"/>
          </p:cNvSpPr>
          <p:nvPr/>
        </p:nvSpPr>
        <p:spPr bwMode="auto">
          <a:xfrm>
            <a:off x="26670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41989" name="Oval 5"/>
          <p:cNvSpPr>
            <a:spLocks noChangeArrowheads="1"/>
          </p:cNvSpPr>
          <p:nvPr/>
        </p:nvSpPr>
        <p:spPr bwMode="auto">
          <a:xfrm>
            <a:off x="4724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41990" name="Oval 6"/>
          <p:cNvSpPr>
            <a:spLocks noChangeArrowheads="1"/>
          </p:cNvSpPr>
          <p:nvPr/>
        </p:nvSpPr>
        <p:spPr bwMode="auto">
          <a:xfrm>
            <a:off x="4724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41991" name="Oval 7"/>
          <p:cNvSpPr>
            <a:spLocks noChangeArrowheads="1"/>
          </p:cNvSpPr>
          <p:nvPr/>
        </p:nvSpPr>
        <p:spPr bwMode="auto">
          <a:xfrm>
            <a:off x="67818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41992" name="Oval 8"/>
          <p:cNvSpPr>
            <a:spLocks noChangeArrowheads="1"/>
          </p:cNvSpPr>
          <p:nvPr/>
        </p:nvSpPr>
        <p:spPr bwMode="auto">
          <a:xfrm>
            <a:off x="67818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41993" name="Oval 9"/>
          <p:cNvSpPr>
            <a:spLocks noChangeArrowheads="1"/>
          </p:cNvSpPr>
          <p:nvPr/>
        </p:nvSpPr>
        <p:spPr bwMode="auto">
          <a:xfrm>
            <a:off x="88392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41994" name="Oval 10"/>
          <p:cNvSpPr>
            <a:spLocks noChangeArrowheads="1"/>
          </p:cNvSpPr>
          <p:nvPr/>
        </p:nvSpPr>
        <p:spPr bwMode="auto">
          <a:xfrm>
            <a:off x="88392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4000" b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41995" name="Text Box 11"/>
          <p:cNvSpPr txBox="1">
            <a:spLocks noChangeArrowheads="1"/>
          </p:cNvSpPr>
          <p:nvPr/>
        </p:nvSpPr>
        <p:spPr bwMode="auto">
          <a:xfrm>
            <a:off x="2906714" y="1676401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1996" name="Text Box 12"/>
          <p:cNvSpPr txBox="1">
            <a:spLocks noChangeArrowheads="1"/>
          </p:cNvSpPr>
          <p:nvPr/>
        </p:nvSpPr>
        <p:spPr bwMode="auto">
          <a:xfrm>
            <a:off x="4953001" y="1676401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41997" name="Text Box 13"/>
          <p:cNvSpPr txBox="1">
            <a:spLocks noChangeArrowheads="1"/>
          </p:cNvSpPr>
          <p:nvPr/>
        </p:nvSpPr>
        <p:spPr bwMode="auto">
          <a:xfrm>
            <a:off x="7013575" y="1676401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1998" name="Text Box 14"/>
          <p:cNvSpPr txBox="1">
            <a:spLocks noChangeArrowheads="1"/>
          </p:cNvSpPr>
          <p:nvPr/>
        </p:nvSpPr>
        <p:spPr bwMode="auto">
          <a:xfrm>
            <a:off x="9024939" y="1676401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41999" name="Text Box 15"/>
          <p:cNvSpPr txBox="1">
            <a:spLocks noChangeArrowheads="1"/>
          </p:cNvSpPr>
          <p:nvPr/>
        </p:nvSpPr>
        <p:spPr bwMode="auto">
          <a:xfrm>
            <a:off x="2889251" y="4419601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42000" name="Text Box 16"/>
          <p:cNvSpPr txBox="1">
            <a:spLocks noChangeArrowheads="1"/>
          </p:cNvSpPr>
          <p:nvPr/>
        </p:nvSpPr>
        <p:spPr bwMode="auto">
          <a:xfrm>
            <a:off x="4940301" y="4419601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42001" name="Text Box 17"/>
          <p:cNvSpPr txBox="1">
            <a:spLocks noChangeArrowheads="1"/>
          </p:cNvSpPr>
          <p:nvPr/>
        </p:nvSpPr>
        <p:spPr bwMode="auto">
          <a:xfrm>
            <a:off x="7040563" y="4419601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2002" name="Text Box 18"/>
          <p:cNvSpPr txBox="1">
            <a:spLocks noChangeArrowheads="1"/>
          </p:cNvSpPr>
          <p:nvPr/>
        </p:nvSpPr>
        <p:spPr bwMode="auto">
          <a:xfrm>
            <a:off x="9128126" y="4419601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42003" name="AutoShape 19"/>
          <p:cNvCxnSpPr>
            <a:cxnSpLocks noChangeShapeType="1"/>
            <a:stCxn id="41988" idx="0"/>
            <a:endCxn id="41987" idx="4"/>
          </p:cNvCxnSpPr>
          <p:nvPr/>
        </p:nvCxnSpPr>
        <p:spPr bwMode="auto">
          <a:xfrm flipV="1">
            <a:off x="30480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4" name="AutoShape 20"/>
          <p:cNvCxnSpPr>
            <a:cxnSpLocks noChangeShapeType="1"/>
            <a:stCxn id="41987" idx="6"/>
            <a:endCxn id="41989" idx="2"/>
          </p:cNvCxnSpPr>
          <p:nvPr/>
        </p:nvCxnSpPr>
        <p:spPr bwMode="auto">
          <a:xfrm>
            <a:off x="34432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5" name="AutoShape 21"/>
          <p:cNvCxnSpPr>
            <a:cxnSpLocks noChangeShapeType="1"/>
            <a:stCxn id="41989" idx="4"/>
            <a:endCxn id="41990" idx="0"/>
          </p:cNvCxnSpPr>
          <p:nvPr/>
        </p:nvCxnSpPr>
        <p:spPr bwMode="auto">
          <a:xfrm>
            <a:off x="5105400" y="2909889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6" name="AutoShape 22"/>
          <p:cNvCxnSpPr>
            <a:cxnSpLocks noChangeShapeType="1"/>
            <a:stCxn id="41990" idx="7"/>
            <a:endCxn id="41991" idx="3"/>
          </p:cNvCxnSpPr>
          <p:nvPr/>
        </p:nvCxnSpPr>
        <p:spPr bwMode="auto">
          <a:xfrm flipV="1">
            <a:off x="5375275" y="2798764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7" name="AutoShape 23"/>
          <p:cNvCxnSpPr>
            <a:cxnSpLocks noChangeShapeType="1"/>
            <a:stCxn id="41990" idx="6"/>
            <a:endCxn id="41992" idx="2"/>
          </p:cNvCxnSpPr>
          <p:nvPr/>
        </p:nvCxnSpPr>
        <p:spPr bwMode="auto">
          <a:xfrm>
            <a:off x="55006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8" name="AutoShape 24"/>
          <p:cNvCxnSpPr>
            <a:cxnSpLocks noChangeShapeType="1"/>
            <a:stCxn id="41992" idx="0"/>
            <a:endCxn id="41991" idx="4"/>
          </p:cNvCxnSpPr>
          <p:nvPr/>
        </p:nvCxnSpPr>
        <p:spPr bwMode="auto">
          <a:xfrm flipV="1">
            <a:off x="71628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9" name="AutoShape 25"/>
          <p:cNvCxnSpPr>
            <a:cxnSpLocks noChangeShapeType="1"/>
            <a:stCxn id="41991" idx="6"/>
            <a:endCxn id="41993" idx="2"/>
          </p:cNvCxnSpPr>
          <p:nvPr/>
        </p:nvCxnSpPr>
        <p:spPr bwMode="auto">
          <a:xfrm>
            <a:off x="7558089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10" name="AutoShape 26"/>
          <p:cNvCxnSpPr>
            <a:cxnSpLocks noChangeShapeType="1"/>
            <a:stCxn id="41992" idx="6"/>
            <a:endCxn id="41994" idx="2"/>
          </p:cNvCxnSpPr>
          <p:nvPr/>
        </p:nvCxnSpPr>
        <p:spPr bwMode="auto">
          <a:xfrm>
            <a:off x="7558089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11" name="AutoShape 27"/>
          <p:cNvCxnSpPr>
            <a:cxnSpLocks noChangeShapeType="1"/>
            <a:stCxn id="41994" idx="0"/>
            <a:endCxn id="41993" idx="4"/>
          </p:cNvCxnSpPr>
          <p:nvPr/>
        </p:nvCxnSpPr>
        <p:spPr bwMode="auto">
          <a:xfrm flipV="1">
            <a:off x="9220200" y="2909889"/>
            <a:ext cx="0" cy="733425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12" name="Rectangle 28"/>
          <p:cNvSpPr>
            <a:spLocks noChangeArrowheads="1"/>
          </p:cNvSpPr>
          <p:nvPr/>
        </p:nvSpPr>
        <p:spPr bwMode="auto">
          <a:xfrm>
            <a:off x="3352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3200" i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42013" name="Rectangle 29"/>
          <p:cNvSpPr>
            <a:spLocks noChangeArrowheads="1"/>
          </p:cNvSpPr>
          <p:nvPr/>
        </p:nvSpPr>
        <p:spPr bwMode="auto">
          <a:xfrm>
            <a:off x="40386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Ø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8040"/>
            <a:ext cx="10515600" cy="636361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BFS - Example</a:t>
            </a:r>
          </a:p>
        </p:txBody>
      </p:sp>
    </p:spTree>
    <p:extLst>
      <p:ext uri="{BB962C8B-B14F-4D97-AF65-F5344CB8AC3E}">
        <p14:creationId xmlns:p14="http://schemas.microsoft.com/office/powerpoint/2010/main" val="2857978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4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50902"/>
            <a:ext cx="10515600" cy="636361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BFS: Time complexity</a:t>
            </a:r>
          </a:p>
        </p:txBody>
      </p:sp>
      <p:sp>
        <p:nvSpPr>
          <p:cNvPr id="1468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73946"/>
            <a:ext cx="10515600" cy="6454776"/>
          </a:xfrm>
        </p:spPr>
        <p:txBody>
          <a:bodyPr>
            <a:noAutofit/>
          </a:bodyPr>
          <a:lstStyle/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</a:rPr>
              <a:t>BFS(G, s) {</a:t>
            </a:r>
          </a:p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</a:rPr>
              <a:t>    // initialize vertices</a:t>
            </a:r>
          </a:p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</a:rPr>
              <a:t>    for each u </a:t>
            </a:r>
            <a:r>
              <a:rPr lang="en-US" sz="1400" b="1" dirty="0">
                <a:latin typeface="Courier New" panose="02070309020205020404" pitchFamily="49" charset="0"/>
                <a:sym typeface="Symbol" panose="05050102010706020507" pitchFamily="18" charset="2"/>
              </a:rPr>
              <a:t> V(G) – {s}{</a:t>
            </a:r>
            <a:endParaRPr lang="en-US" sz="1400" b="1" dirty="0">
              <a:latin typeface="Courier New" panose="02070309020205020404" pitchFamily="49" charset="0"/>
            </a:endParaRPr>
          </a:p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</a:rPr>
              <a:t>		do color[u] = WHITE</a:t>
            </a:r>
          </a:p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</a:rPr>
              <a:t>		   d[u] = </a:t>
            </a:r>
            <a:r>
              <a:rPr lang="en-US" sz="1400" b="1" dirty="0">
                <a:latin typeface="Courier New" panose="02070309020205020404" pitchFamily="49" charset="0"/>
                <a:sym typeface="Symbol" panose="05050102010706020507" pitchFamily="18" charset="2"/>
              </a:rPr>
              <a:t>		</a:t>
            </a:r>
          </a:p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  <a:sym typeface="Symbol" panose="05050102010706020507" pitchFamily="18" charset="2"/>
              </a:rPr>
              <a:t>		   p[u] = NIL		</a:t>
            </a:r>
          </a:p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  <a:sym typeface="Symbol" panose="05050102010706020507" pitchFamily="18" charset="2"/>
              </a:rPr>
              <a:t>    }</a:t>
            </a:r>
          </a:p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  <a:sym typeface="Symbol" panose="05050102010706020507" pitchFamily="18" charset="2"/>
              </a:rPr>
              <a:t>	 color[s] = GRAY;</a:t>
            </a:r>
          </a:p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  <a:sym typeface="Symbol" panose="05050102010706020507" pitchFamily="18" charset="2"/>
              </a:rPr>
              <a:t>	 d[s] = 0;</a:t>
            </a:r>
          </a:p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  <a:sym typeface="Symbol" panose="05050102010706020507" pitchFamily="18" charset="2"/>
              </a:rPr>
              <a:t>	 p[s] = NIL;</a:t>
            </a:r>
          </a:p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  <a:sym typeface="Symbol" panose="05050102010706020507" pitchFamily="18" charset="2"/>
              </a:rPr>
              <a:t>	 Q = Empty;</a:t>
            </a:r>
          </a:p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</a:rPr>
              <a:t>	 Enqueue (Q,s);		</a:t>
            </a:r>
            <a:endParaRPr lang="en-US" sz="1400" b="1" i="1" dirty="0">
              <a:latin typeface="Courier New" panose="02070309020205020404" pitchFamily="49" charset="0"/>
            </a:endParaRPr>
          </a:p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</a:rPr>
              <a:t>    while (Q not empty) {    </a:t>
            </a:r>
          </a:p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</a:rPr>
              <a:t>        u = </a:t>
            </a:r>
            <a:r>
              <a:rPr lang="en-US" sz="1400" b="1" dirty="0" err="1">
                <a:latin typeface="Courier New" panose="02070309020205020404" pitchFamily="49" charset="0"/>
              </a:rPr>
              <a:t>Dequeue</a:t>
            </a:r>
            <a:r>
              <a:rPr lang="en-US" sz="1400" b="1" dirty="0">
                <a:latin typeface="Courier New" panose="02070309020205020404" pitchFamily="49" charset="0"/>
              </a:rPr>
              <a:t>(Q);</a:t>
            </a:r>
          </a:p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</a:rPr>
              <a:t>        for each v </a:t>
            </a:r>
            <a:r>
              <a:rPr lang="en-US" sz="1400" b="1" dirty="0">
                <a:latin typeface="Courier New" panose="02070309020205020404" pitchFamily="49" charset="0"/>
                <a:sym typeface="Symbol" panose="05050102010706020507" pitchFamily="18" charset="2"/>
              </a:rPr>
              <a:t> </a:t>
            </a:r>
            <a:r>
              <a:rPr lang="en-US" sz="14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adj</a:t>
            </a:r>
            <a:r>
              <a:rPr lang="en-US" sz="1400" b="1" dirty="0">
                <a:latin typeface="Courier New" panose="02070309020205020404" pitchFamily="49" charset="0"/>
                <a:sym typeface="Symbol" panose="05050102010706020507" pitchFamily="18" charset="2"/>
              </a:rPr>
              <a:t>[u] {</a:t>
            </a:r>
          </a:p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   if (color[v] == WHITE)</a:t>
            </a:r>
          </a:p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       color[v] = GRAY;</a:t>
            </a:r>
          </a:p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       d[v] = d[u] + 1;</a:t>
            </a:r>
          </a:p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       Enqueue(Q, v);        }</a:t>
            </a:r>
          </a:p>
          <a:p>
            <a:pPr marL="342900" indent="-342900">
              <a:lnSpc>
                <a:spcPct val="79000"/>
              </a:lnSpc>
              <a:buNone/>
              <a:defRPr/>
            </a:pPr>
            <a:r>
              <a:rPr lang="en-US" sz="14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color[u] = BLACK;    }  }</a:t>
            </a:r>
          </a:p>
        </p:txBody>
      </p:sp>
      <p:sp>
        <p:nvSpPr>
          <p:cNvPr id="1468420" name="Text Box 4"/>
          <p:cNvSpPr txBox="1">
            <a:spLocks noChangeArrowheads="1"/>
          </p:cNvSpPr>
          <p:nvPr/>
        </p:nvSpPr>
        <p:spPr bwMode="auto">
          <a:xfrm>
            <a:off x="7490310" y="5358890"/>
            <a:ext cx="31534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r>
              <a:rPr lang="en-US" altLang="en-US" sz="1800" i="1" dirty="0">
                <a:solidFill>
                  <a:srgbClr val="A50021"/>
                </a:solidFill>
                <a:latin typeface="Times New Roman" panose="02020603050405020304" pitchFamily="18" charset="0"/>
              </a:rPr>
              <a:t>What will be the running time?</a:t>
            </a:r>
          </a:p>
        </p:txBody>
      </p:sp>
      <p:grpSp>
        <p:nvGrpSpPr>
          <p:cNvPr id="1468421" name="Group 5"/>
          <p:cNvGrpSpPr>
            <a:grpSpLocks/>
          </p:cNvGrpSpPr>
          <p:nvPr/>
        </p:nvGrpSpPr>
        <p:grpSpPr bwMode="auto">
          <a:xfrm>
            <a:off x="3287319" y="1607936"/>
            <a:ext cx="6511926" cy="307975"/>
            <a:chOff x="565" y="1201"/>
            <a:chExt cx="4102" cy="194"/>
          </a:xfrm>
        </p:grpSpPr>
        <p:sp>
          <p:nvSpPr>
            <p:cNvPr id="44048" name="Text Box 6"/>
            <p:cNvSpPr txBox="1">
              <a:spLocks noChangeArrowheads="1"/>
            </p:cNvSpPr>
            <p:nvPr/>
          </p:nvSpPr>
          <p:spPr bwMode="auto">
            <a:xfrm>
              <a:off x="3376" y="1201"/>
              <a:ext cx="1291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r>
                <a:rPr lang="en-US" altLang="en-US" sz="1400" i="1" dirty="0">
                  <a:solidFill>
                    <a:srgbClr val="0070C0"/>
                  </a:solidFill>
                  <a:latin typeface="Times New Roman" panose="02020603050405020304" pitchFamily="18" charset="0"/>
                </a:rPr>
                <a:t>Touch every vertex: O(V)</a:t>
              </a:r>
            </a:p>
          </p:txBody>
        </p:sp>
        <p:sp>
          <p:nvSpPr>
            <p:cNvPr id="44049" name="Line 7"/>
            <p:cNvSpPr>
              <a:spLocks noChangeShapeType="1"/>
            </p:cNvSpPr>
            <p:nvPr/>
          </p:nvSpPr>
          <p:spPr bwMode="auto">
            <a:xfrm flipH="1">
              <a:off x="565" y="1298"/>
              <a:ext cx="2777" cy="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468424" name="Group 8"/>
          <p:cNvGrpSpPr>
            <a:grpSpLocks/>
          </p:cNvGrpSpPr>
          <p:nvPr/>
        </p:nvGrpSpPr>
        <p:grpSpPr bwMode="auto">
          <a:xfrm>
            <a:off x="2838143" y="4454526"/>
            <a:ext cx="7362976" cy="523875"/>
            <a:chOff x="2549" y="1788"/>
            <a:chExt cx="2335" cy="330"/>
          </a:xfrm>
        </p:grpSpPr>
        <p:sp>
          <p:nvSpPr>
            <p:cNvPr id="44046" name="Text Box 9"/>
            <p:cNvSpPr txBox="1">
              <a:spLocks noChangeArrowheads="1"/>
            </p:cNvSpPr>
            <p:nvPr/>
          </p:nvSpPr>
          <p:spPr bwMode="auto">
            <a:xfrm>
              <a:off x="4107" y="1788"/>
              <a:ext cx="77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r>
                <a:rPr lang="en-US" altLang="en-US" sz="1400" i="1" dirty="0">
                  <a:solidFill>
                    <a:srgbClr val="0070C0"/>
                  </a:solidFill>
                  <a:latin typeface="Times New Roman" panose="02020603050405020304" pitchFamily="18" charset="0"/>
                </a:rPr>
                <a:t>u = every vertex, but only once</a:t>
              </a:r>
              <a:br>
                <a:rPr lang="en-US" altLang="en-US" sz="1400" i="1" dirty="0">
                  <a:solidFill>
                    <a:srgbClr val="0070C0"/>
                  </a:solidFill>
                  <a:latin typeface="Times New Roman" panose="02020603050405020304" pitchFamily="18" charset="0"/>
                </a:rPr>
              </a:br>
              <a:endParaRPr lang="en-US" altLang="en-US" sz="1400" i="1" dirty="0">
                <a:solidFill>
                  <a:srgbClr val="0070C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47" name="Line 10"/>
            <p:cNvSpPr>
              <a:spLocks noChangeShapeType="1"/>
            </p:cNvSpPr>
            <p:nvPr/>
          </p:nvSpPr>
          <p:spPr bwMode="auto">
            <a:xfrm flipH="1">
              <a:off x="2549" y="1898"/>
              <a:ext cx="1546" cy="39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468427" name="Group 11"/>
          <p:cNvGrpSpPr>
            <a:grpSpLocks/>
          </p:cNvGrpSpPr>
          <p:nvPr/>
        </p:nvGrpSpPr>
        <p:grpSpPr bwMode="auto">
          <a:xfrm>
            <a:off x="27502" y="5078413"/>
            <a:ext cx="2181726" cy="1241425"/>
            <a:chOff x="597" y="2160"/>
            <a:chExt cx="1428" cy="782"/>
          </a:xfrm>
        </p:grpSpPr>
        <p:sp>
          <p:nvSpPr>
            <p:cNvPr id="44044" name="Text Box 12"/>
            <p:cNvSpPr txBox="1">
              <a:spLocks noChangeArrowheads="1"/>
            </p:cNvSpPr>
            <p:nvPr/>
          </p:nvSpPr>
          <p:spPr bwMode="auto">
            <a:xfrm>
              <a:off x="597" y="2205"/>
              <a:ext cx="912" cy="7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r>
                <a:rPr lang="en-US" altLang="en-US" sz="1400" i="1" dirty="0">
                  <a:solidFill>
                    <a:srgbClr val="0070C0"/>
                  </a:solidFill>
                  <a:latin typeface="Times New Roman" panose="02020603050405020304" pitchFamily="18" charset="0"/>
                </a:rPr>
                <a:t>So v = every vertex that appears in some other </a:t>
              </a:r>
              <a:r>
                <a:rPr lang="en-US" altLang="en-US" sz="1400" i="1" dirty="0" err="1">
                  <a:solidFill>
                    <a:srgbClr val="0070C0"/>
                  </a:solidFill>
                  <a:latin typeface="Times New Roman" panose="02020603050405020304" pitchFamily="18" charset="0"/>
                </a:rPr>
                <a:t>vert’s</a:t>
              </a:r>
              <a:r>
                <a:rPr lang="en-US" altLang="en-US" sz="1400" i="1" dirty="0">
                  <a:solidFill>
                    <a:srgbClr val="0070C0"/>
                  </a:solidFill>
                  <a:latin typeface="Times New Roman" panose="02020603050405020304" pitchFamily="18" charset="0"/>
                </a:rPr>
                <a:t> adjacency list</a:t>
              </a:r>
            </a:p>
          </p:txBody>
        </p:sp>
        <p:sp>
          <p:nvSpPr>
            <p:cNvPr id="44045" name="Line 13"/>
            <p:cNvSpPr>
              <a:spLocks noChangeShapeType="1"/>
            </p:cNvSpPr>
            <p:nvPr/>
          </p:nvSpPr>
          <p:spPr bwMode="auto">
            <a:xfrm flipV="1">
              <a:off x="1342" y="2160"/>
              <a:ext cx="683" cy="161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468430" name="Text Box 14"/>
          <p:cNvSpPr txBox="1">
            <a:spLocks noChangeArrowheads="1"/>
          </p:cNvSpPr>
          <p:nvPr/>
        </p:nvSpPr>
        <p:spPr bwMode="auto">
          <a:xfrm>
            <a:off x="7694415" y="5780099"/>
            <a:ext cx="262802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r>
              <a:rPr lang="en-US" altLang="en-US" sz="1600" dirty="0">
                <a:solidFill>
                  <a:srgbClr val="0070C0"/>
                </a:solidFill>
                <a:latin typeface="Times New Roman" panose="02020603050405020304" pitchFamily="18" charset="0"/>
              </a:rPr>
              <a:t>Total running time: </a:t>
            </a:r>
            <a:r>
              <a:rPr lang="en-US" altLang="en-US" sz="1600" i="1" dirty="0">
                <a:solidFill>
                  <a:srgbClr val="0070C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1600" dirty="0">
                <a:solidFill>
                  <a:srgbClr val="0070C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600" i="1" dirty="0">
                <a:solidFill>
                  <a:srgbClr val="0070C0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600" dirty="0">
                <a:solidFill>
                  <a:srgbClr val="0070C0"/>
                </a:solidFill>
                <a:latin typeface="Times New Roman" panose="02020603050405020304" pitchFamily="18" charset="0"/>
              </a:rPr>
              <a:t>+</a:t>
            </a:r>
            <a:r>
              <a:rPr lang="en-US" altLang="en-US" sz="1600" i="1" dirty="0">
                <a:solidFill>
                  <a:srgbClr val="0070C0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600" dirty="0">
                <a:solidFill>
                  <a:srgbClr val="0070C0"/>
                </a:solidFill>
                <a:latin typeface="Times New Roman" panose="02020603050405020304" pitchFamily="18" charset="0"/>
              </a:rPr>
              <a:t>)</a:t>
            </a:r>
          </a:p>
        </p:txBody>
      </p:sp>
      <p:grpSp>
        <p:nvGrpSpPr>
          <p:cNvPr id="1468431" name="Group 15"/>
          <p:cNvGrpSpPr>
            <a:grpSpLocks/>
          </p:cNvGrpSpPr>
          <p:nvPr/>
        </p:nvGrpSpPr>
        <p:grpSpPr bwMode="auto">
          <a:xfrm>
            <a:off x="3769002" y="5411737"/>
            <a:ext cx="2786305" cy="308499"/>
            <a:chOff x="2151" y="1169"/>
            <a:chExt cx="2963" cy="139"/>
          </a:xfrm>
        </p:grpSpPr>
        <p:sp>
          <p:nvSpPr>
            <p:cNvPr id="44042" name="Text Box 16"/>
            <p:cNvSpPr txBox="1">
              <a:spLocks noChangeArrowheads="1"/>
            </p:cNvSpPr>
            <p:nvPr/>
          </p:nvSpPr>
          <p:spPr bwMode="auto">
            <a:xfrm>
              <a:off x="2989" y="1169"/>
              <a:ext cx="2125" cy="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Monospac821 BT" pitchFamily="49" charset="0"/>
                </a:defRPr>
              </a:lvl9pPr>
            </a:lstStyle>
            <a:p>
              <a:r>
                <a:rPr lang="en-US" altLang="en-US" sz="1400" i="1" dirty="0">
                  <a:solidFill>
                    <a:srgbClr val="0070C0"/>
                  </a:solidFill>
                  <a:latin typeface="Times New Roman" panose="02020603050405020304" pitchFamily="18" charset="0"/>
                </a:rPr>
                <a:t>O(E)</a:t>
              </a:r>
            </a:p>
          </p:txBody>
        </p:sp>
        <p:sp>
          <p:nvSpPr>
            <p:cNvPr id="44043" name="Line 17"/>
            <p:cNvSpPr>
              <a:spLocks noChangeShapeType="1"/>
            </p:cNvSpPr>
            <p:nvPr/>
          </p:nvSpPr>
          <p:spPr bwMode="auto">
            <a:xfrm flipH="1">
              <a:off x="2151" y="1227"/>
              <a:ext cx="838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5606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8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8420" grpId="0" autoUpdateAnimBg="0"/>
      <p:bldP spid="1468430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BFS: Time Complexity</a:t>
            </a:r>
          </a:p>
        </p:txBody>
      </p:sp>
      <p:sp>
        <p:nvSpPr>
          <p:cNvPr id="1470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8567" y="1600200"/>
            <a:ext cx="10515600" cy="4351338"/>
          </a:xfrm>
        </p:spPr>
        <p:txBody>
          <a:bodyPr/>
          <a:lstStyle/>
          <a:p>
            <a:pPr eaLnBrk="1" hangingPunct="1">
              <a:buClr>
                <a:srgbClr val="002060"/>
              </a:buClr>
              <a:buFont typeface="Wingdings" panose="05000000000000000000" pitchFamily="2" charset="2"/>
              <a:buChar char="q"/>
              <a:defRPr/>
            </a:pPr>
            <a:r>
              <a:rPr lang="da-DK" dirty="0"/>
              <a:t>  </a:t>
            </a:r>
            <a:r>
              <a:rPr lang="da-DK" dirty="0">
                <a:solidFill>
                  <a:srgbClr val="0070C0"/>
                </a:solidFill>
              </a:rPr>
              <a:t>Given a graph </a:t>
            </a:r>
            <a:r>
              <a:rPr lang="da-DK" i="1" dirty="0">
                <a:solidFill>
                  <a:srgbClr val="0070C0"/>
                </a:solidFill>
              </a:rPr>
              <a:t>G</a:t>
            </a:r>
            <a:r>
              <a:rPr lang="da-DK" dirty="0">
                <a:solidFill>
                  <a:srgbClr val="0070C0"/>
                </a:solidFill>
              </a:rPr>
              <a:t> = (</a:t>
            </a:r>
            <a:r>
              <a:rPr lang="da-DK" i="1" dirty="0">
                <a:solidFill>
                  <a:srgbClr val="0070C0"/>
                </a:solidFill>
              </a:rPr>
              <a:t>V</a:t>
            </a:r>
            <a:r>
              <a:rPr lang="da-DK" dirty="0">
                <a:solidFill>
                  <a:srgbClr val="0070C0"/>
                </a:solidFill>
              </a:rPr>
              <a:t>, </a:t>
            </a:r>
            <a:r>
              <a:rPr lang="da-DK" i="1" dirty="0">
                <a:solidFill>
                  <a:srgbClr val="0070C0"/>
                </a:solidFill>
              </a:rPr>
              <a:t>E</a:t>
            </a:r>
            <a:r>
              <a:rPr lang="da-DK" dirty="0">
                <a:solidFill>
                  <a:srgbClr val="0070C0"/>
                </a:solidFill>
              </a:rPr>
              <a:t>)</a:t>
            </a:r>
          </a:p>
          <a:p>
            <a:pPr lvl="1" eaLnBrk="1" hangingPunct="1">
              <a:buFont typeface="Wingdings" panose="05000000000000000000" pitchFamily="2" charset="2"/>
              <a:buChar char="§"/>
              <a:defRPr/>
            </a:pPr>
            <a:r>
              <a:rPr lang="da-DK" dirty="0"/>
              <a:t> Vertices are enqueued if there color is white</a:t>
            </a:r>
          </a:p>
          <a:p>
            <a:pPr lvl="1" eaLnBrk="1" hangingPunct="1">
              <a:buFont typeface="Wingdings" panose="05000000000000000000" pitchFamily="2" charset="2"/>
              <a:buChar char="§"/>
              <a:defRPr/>
            </a:pPr>
            <a:r>
              <a:rPr lang="da-DK" dirty="0"/>
              <a:t> Assuming that en- and dequeuing takes </a:t>
            </a:r>
            <a:r>
              <a:rPr lang="da-DK" i="1" dirty="0"/>
              <a:t>O</a:t>
            </a:r>
            <a:r>
              <a:rPr lang="da-DK" dirty="0"/>
              <a:t>(1) time the total cost of this operation is </a:t>
            </a:r>
            <a:r>
              <a:rPr lang="da-DK" i="1" dirty="0"/>
              <a:t>O</a:t>
            </a:r>
            <a:r>
              <a:rPr lang="da-DK" dirty="0"/>
              <a:t>(</a:t>
            </a:r>
            <a:r>
              <a:rPr lang="da-DK" i="1" dirty="0"/>
              <a:t>V</a:t>
            </a:r>
            <a:r>
              <a:rPr lang="da-DK" dirty="0"/>
              <a:t>)</a:t>
            </a:r>
          </a:p>
          <a:p>
            <a:pPr lvl="1" eaLnBrk="1" hangingPunct="1">
              <a:buFont typeface="Wingdings" panose="05000000000000000000" pitchFamily="2" charset="2"/>
              <a:buChar char="§"/>
              <a:defRPr/>
            </a:pPr>
            <a:r>
              <a:rPr lang="da-DK" dirty="0"/>
              <a:t> Adjacency list of a vertex is scanned when the vertex is dequeued (and at most once)</a:t>
            </a:r>
          </a:p>
          <a:p>
            <a:pPr lvl="1" eaLnBrk="1" hangingPunct="1">
              <a:buFont typeface="Wingdings" panose="05000000000000000000" pitchFamily="2" charset="2"/>
              <a:buChar char="§"/>
              <a:defRPr/>
            </a:pPr>
            <a:r>
              <a:rPr lang="da-DK" dirty="0"/>
              <a:t> The sum of the lengths of all lists is </a:t>
            </a:r>
            <a:r>
              <a:rPr lang="en-US" i="1" dirty="0">
                <a:latin typeface="Symbol" panose="05050102010706020507" pitchFamily="18" charset="2"/>
              </a:rPr>
              <a:t>O</a:t>
            </a:r>
            <a:r>
              <a:rPr lang="da-DK" dirty="0"/>
              <a:t>(</a:t>
            </a:r>
            <a:r>
              <a:rPr lang="da-DK" i="1" dirty="0"/>
              <a:t>E</a:t>
            </a:r>
            <a:r>
              <a:rPr lang="da-DK" dirty="0"/>
              <a:t>). Consequently, </a:t>
            </a:r>
            <a:r>
              <a:rPr lang="da-DK" i="1" dirty="0"/>
              <a:t>O</a:t>
            </a:r>
            <a:r>
              <a:rPr lang="da-DK" dirty="0"/>
              <a:t>(</a:t>
            </a:r>
            <a:r>
              <a:rPr lang="da-DK" i="1" dirty="0"/>
              <a:t>E</a:t>
            </a:r>
            <a:r>
              <a:rPr lang="da-DK" dirty="0"/>
              <a:t>) time is spent on scanning them</a:t>
            </a:r>
          </a:p>
          <a:p>
            <a:pPr lvl="1" eaLnBrk="1" hangingPunct="1">
              <a:buFont typeface="Wingdings" panose="05000000000000000000" pitchFamily="2" charset="2"/>
              <a:buChar char="§"/>
              <a:defRPr/>
            </a:pPr>
            <a:r>
              <a:rPr lang="da-DK" dirty="0"/>
              <a:t> Initializing the algorithm takes </a:t>
            </a:r>
            <a:r>
              <a:rPr lang="da-DK" i="1" dirty="0"/>
              <a:t>O</a:t>
            </a:r>
            <a:r>
              <a:rPr lang="da-DK" dirty="0"/>
              <a:t>(</a:t>
            </a:r>
            <a:r>
              <a:rPr lang="da-DK" i="1" dirty="0"/>
              <a:t>V</a:t>
            </a:r>
            <a:r>
              <a:rPr lang="da-DK" dirty="0"/>
              <a:t>)</a:t>
            </a:r>
          </a:p>
          <a:p>
            <a:pPr marL="342900" lvl="1" indent="0" eaLnBrk="1" hangingPunct="1">
              <a:buNone/>
              <a:defRPr/>
            </a:pPr>
            <a:endParaRPr lang="da-DK" b="1" dirty="0"/>
          </a:p>
          <a:p>
            <a:pPr eaLnBrk="1" hangingPunct="1">
              <a:buClr>
                <a:srgbClr val="002060"/>
              </a:buClr>
              <a:buFont typeface="Wingdings" panose="05000000000000000000" pitchFamily="2" charset="2"/>
              <a:buChar char="q"/>
              <a:defRPr/>
            </a:pPr>
            <a:r>
              <a:rPr lang="da-DK" b="1" dirty="0"/>
              <a:t>   </a:t>
            </a:r>
            <a:r>
              <a:rPr lang="da-DK" b="1" dirty="0">
                <a:solidFill>
                  <a:srgbClr val="0070C0"/>
                </a:solidFill>
              </a:rPr>
              <a:t>Total running time </a:t>
            </a:r>
            <a:r>
              <a:rPr lang="da-DK" b="1" i="1" dirty="0">
                <a:solidFill>
                  <a:srgbClr val="0070C0"/>
                </a:solidFill>
              </a:rPr>
              <a:t>O</a:t>
            </a:r>
            <a:r>
              <a:rPr lang="da-DK" b="1" dirty="0">
                <a:solidFill>
                  <a:srgbClr val="0070C0"/>
                </a:solidFill>
              </a:rPr>
              <a:t>(</a:t>
            </a:r>
            <a:r>
              <a:rPr lang="da-DK" b="1" i="1" dirty="0">
                <a:solidFill>
                  <a:srgbClr val="0070C0"/>
                </a:solidFill>
              </a:rPr>
              <a:t>V</a:t>
            </a:r>
            <a:r>
              <a:rPr lang="da-DK" b="1" dirty="0">
                <a:solidFill>
                  <a:srgbClr val="0070C0"/>
                </a:solidFill>
              </a:rPr>
              <a:t>+</a:t>
            </a:r>
            <a:r>
              <a:rPr lang="da-DK" b="1" i="1" dirty="0">
                <a:solidFill>
                  <a:srgbClr val="0070C0"/>
                </a:solidFill>
              </a:rPr>
              <a:t>E</a:t>
            </a:r>
            <a:r>
              <a:rPr lang="da-DK" b="1" dirty="0">
                <a:solidFill>
                  <a:srgbClr val="0070C0"/>
                </a:solidFill>
              </a:rPr>
              <a:t>)</a:t>
            </a:r>
          </a:p>
          <a:p>
            <a:pPr lvl="1" eaLnBrk="1" hangingPunct="1">
              <a:defRPr/>
            </a:pPr>
            <a:r>
              <a:rPr lang="da-DK" dirty="0"/>
              <a:t>linear in the size of the adjacency list representation of </a:t>
            </a:r>
            <a:r>
              <a:rPr lang="da-DK" i="1" dirty="0"/>
              <a:t>G</a:t>
            </a:r>
            <a:endParaRPr lang="en-US" i="1" dirty="0"/>
          </a:p>
        </p:txBody>
      </p:sp>
      <p:sp>
        <p:nvSpPr>
          <p:cNvPr id="2" name="Rectangle 1"/>
          <p:cNvSpPr/>
          <p:nvPr/>
        </p:nvSpPr>
        <p:spPr>
          <a:xfrm>
            <a:off x="-914400" y="4911546"/>
            <a:ext cx="10286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i="1" dirty="0">
                <a:solidFill>
                  <a:srgbClr val="0070C0"/>
                </a:solidFill>
                <a:latin typeface="Times New Roman" panose="02020603050405020304" pitchFamily="18" charset="0"/>
              </a:rPr>
              <a:t>What will be the storage cost in addition to storing the tree?</a:t>
            </a:r>
          </a:p>
        </p:txBody>
      </p:sp>
      <p:pic>
        <p:nvPicPr>
          <p:cNvPr id="71682" name="Picture 2" descr="Thinking Face png images | PNGEg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4516089"/>
            <a:ext cx="2035332" cy="1420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9464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Depth-First Search (DFS)</a:t>
            </a:r>
          </a:p>
        </p:txBody>
      </p:sp>
      <p:sp>
        <p:nvSpPr>
          <p:cNvPr id="1828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8566" y="1184048"/>
            <a:ext cx="11388633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rgbClr val="002060"/>
                </a:solidFill>
              </a:rPr>
              <a:t>   DFS </a:t>
            </a:r>
            <a:r>
              <a:rPr lang="en-US" sz="2000" dirty="0"/>
              <a:t>is another strategy for exploring a graph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rgbClr val="002060"/>
                </a:solidFill>
              </a:rPr>
              <a:t>   Idea: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Explore “</a:t>
            </a:r>
            <a:r>
              <a:rPr lang="en-US" sz="2000" dirty="0">
                <a:solidFill>
                  <a:srgbClr val="0070C0"/>
                </a:solidFill>
              </a:rPr>
              <a:t>deeper</a:t>
            </a:r>
            <a:r>
              <a:rPr lang="en-US" sz="2000" dirty="0"/>
              <a:t>” in the graph whenever possible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Edges are explored out of the most recently discovered vertex v that still has unexplored edges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When all of v’s edges have been explored, backtrack to the vertex from which v was discovered</a:t>
            </a:r>
          </a:p>
          <a:p>
            <a:pPr marL="457200" indent="-342900"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rgbClr val="002060"/>
                </a:solidFill>
              </a:rPr>
              <a:t>Work Strategy:</a:t>
            </a:r>
          </a:p>
          <a:p>
            <a:pPr marL="742950" lvl="1" indent="-285750">
              <a:buNone/>
              <a:defRPr/>
            </a:pPr>
            <a:endParaRPr lang="en-US" sz="2000" dirty="0"/>
          </a:p>
        </p:txBody>
      </p:sp>
      <p:sp>
        <p:nvSpPr>
          <p:cNvPr id="2" name="Rectangle 1"/>
          <p:cNvSpPr/>
          <p:nvPr/>
        </p:nvSpPr>
        <p:spPr>
          <a:xfrm>
            <a:off x="609599" y="3231958"/>
            <a:ext cx="11277599" cy="3413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79000"/>
              </a:lnSpc>
              <a:buClr>
                <a:srgbClr val="002060"/>
              </a:buClr>
              <a:buFont typeface="Courier New" panose="02070309020205020404" pitchFamily="49" charset="0"/>
              <a:buChar char="o"/>
            </a:pPr>
            <a:r>
              <a:rPr lang="da-DK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</a:t>
            </a:r>
          </a:p>
          <a:p>
            <a:pPr>
              <a:lnSpc>
                <a:spcPct val="79000"/>
              </a:lnSpc>
            </a:pPr>
            <a:endParaRPr lang="da-DK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70000"/>
              </a:lnSpc>
              <a:buFont typeface="Wingdings" panose="05000000000000000000" pitchFamily="2" charset="2"/>
              <a:buChar char="§"/>
            </a:pPr>
            <a:r>
              <a:rPr lang="da-DK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a-DK" alt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 all vertices white</a:t>
            </a:r>
          </a:p>
          <a:p>
            <a:pPr lvl="1">
              <a:lnSpc>
                <a:spcPct val="70000"/>
              </a:lnSpc>
            </a:pPr>
            <a:endParaRPr lang="da-DK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79000"/>
              </a:lnSpc>
              <a:buClr>
                <a:srgbClr val="002060"/>
              </a:buClr>
              <a:buFont typeface="Courier New" panose="02070309020205020404" pitchFamily="49" charset="0"/>
              <a:buChar char="o"/>
            </a:pPr>
            <a:r>
              <a:rPr lang="da-DK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 each and every white vertex using </a:t>
            </a:r>
            <a:r>
              <a:rPr lang="da-DK" alt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DFS-Visit</a:t>
            </a:r>
          </a:p>
          <a:p>
            <a:pPr marL="342900" indent="-342900">
              <a:lnSpc>
                <a:spcPct val="79000"/>
              </a:lnSpc>
              <a:buClr>
                <a:srgbClr val="002060"/>
              </a:buClr>
              <a:buFont typeface="Courier New" panose="02070309020205020404" pitchFamily="49" charset="0"/>
              <a:buChar char="o"/>
            </a:pPr>
            <a:endParaRPr lang="da-DK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79000"/>
              </a:lnSpc>
              <a:buClr>
                <a:srgbClr val="002060"/>
              </a:buClr>
              <a:buFont typeface="Courier New" panose="02070309020205020404" pitchFamily="49" charset="0"/>
              <a:buChar char="o"/>
            </a:pPr>
            <a:r>
              <a:rPr lang="da-DK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call to </a:t>
            </a:r>
            <a:r>
              <a:rPr lang="da-DK" alt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DFS-Visit(u)</a:t>
            </a:r>
            <a:r>
              <a:rPr lang="da-DK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roots a new tree of the depth-first forest at </a:t>
            </a:r>
            <a:r>
              <a:rPr lang="da-DK" alt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vertex u</a:t>
            </a:r>
          </a:p>
          <a:p>
            <a:pPr marL="1257300" lvl="2" indent="-342900">
              <a:lnSpc>
                <a:spcPct val="70000"/>
              </a:lnSpc>
              <a:buClr>
                <a:srgbClr val="002060"/>
              </a:buClr>
              <a:buFont typeface="Courier New" panose="02070309020205020404" pitchFamily="49" charset="0"/>
              <a:buChar char="o"/>
            </a:pPr>
            <a:endParaRPr lang="da-DK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79000"/>
              </a:lnSpc>
              <a:buClr>
                <a:srgbClr val="002060"/>
              </a:buClr>
              <a:buFont typeface="Courier New" panose="02070309020205020404" pitchFamily="49" charset="0"/>
              <a:buChar char="o"/>
            </a:pPr>
            <a:r>
              <a:rPr lang="da-DK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vertex is </a:t>
            </a:r>
            <a:r>
              <a:rPr lang="da-DK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</a:t>
            </a:r>
            <a:r>
              <a:rPr lang="da-DK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it is undiscovered</a:t>
            </a:r>
          </a:p>
          <a:p>
            <a:pPr marL="342900" indent="-342900">
              <a:lnSpc>
                <a:spcPct val="79000"/>
              </a:lnSpc>
              <a:buClr>
                <a:srgbClr val="002060"/>
              </a:buClr>
              <a:buFont typeface="Courier New" panose="02070309020205020404" pitchFamily="49" charset="0"/>
              <a:buChar char="o"/>
            </a:pPr>
            <a:endParaRPr lang="da-DK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79000"/>
              </a:lnSpc>
              <a:buClr>
                <a:srgbClr val="002060"/>
              </a:buClr>
              <a:buFont typeface="Courier New" panose="02070309020205020404" pitchFamily="49" charset="0"/>
              <a:buChar char="o"/>
            </a:pPr>
            <a:r>
              <a:rPr lang="da-DK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vertex is </a:t>
            </a:r>
            <a:r>
              <a:rPr lang="da-DK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da-DK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it has been discovered but not all of its edges have been discovered</a:t>
            </a:r>
          </a:p>
          <a:p>
            <a:pPr marL="342900" indent="-342900">
              <a:lnSpc>
                <a:spcPct val="79000"/>
              </a:lnSpc>
              <a:buClr>
                <a:srgbClr val="002060"/>
              </a:buClr>
              <a:buFont typeface="Courier New" panose="02070309020205020404" pitchFamily="49" charset="0"/>
              <a:buChar char="o"/>
            </a:pPr>
            <a:endParaRPr lang="da-DK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79000"/>
              </a:lnSpc>
              <a:buClr>
                <a:srgbClr val="002060"/>
              </a:buClr>
              <a:buFont typeface="Courier New" panose="02070309020205020404" pitchFamily="49" charset="0"/>
              <a:buChar char="o"/>
            </a:pPr>
            <a:r>
              <a:rPr lang="da-DK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vertex is </a:t>
            </a:r>
            <a:r>
              <a:rPr lang="da-DK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da-DK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all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da-DK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adjacent vertices have been discovered (the adj. list was examined completely)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0284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dirty="0"/>
              <a:t>DFS - Code</a:t>
            </a:r>
          </a:p>
        </p:txBody>
      </p:sp>
      <p:sp>
        <p:nvSpPr>
          <p:cNvPr id="19804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6673" y="1219200"/>
            <a:ext cx="3963988" cy="5324475"/>
          </a:xfrm>
        </p:spPr>
        <p:txBody>
          <a:bodyPr/>
          <a:lstStyle/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latin typeface="Courier New" panose="02070309020205020404" pitchFamily="49" charset="0"/>
              </a:rPr>
              <a:t>DFS(G)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latin typeface="Courier New" panose="02070309020205020404" pitchFamily="49" charset="0"/>
              </a:rPr>
              <a:t>{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solidFill>
                  <a:srgbClr val="FF3300"/>
                </a:solidFill>
                <a:latin typeface="Courier New" panose="02070309020205020404" pitchFamily="49" charset="0"/>
              </a:rPr>
              <a:t>   for each vertex u </a:t>
            </a:r>
            <a:r>
              <a:rPr lang="en-US" sz="1600" b="1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 V[G]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{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   color[u] = WHITE;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   p[u] = NIL;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}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time = 0;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for each vertex 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u 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 V[G]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{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   if (color[u] == WHITE)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      DFS_Visit(u);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}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  <a:endParaRPr 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198042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618507" y="1236785"/>
            <a:ext cx="3963987" cy="5324475"/>
          </a:xfrm>
        </p:spPr>
        <p:txBody>
          <a:bodyPr/>
          <a:lstStyle/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</a:rPr>
              <a:t>DFS_Visit(u)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</a:rPr>
              <a:t>{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</a:rPr>
              <a:t>   color[u] = GRAY;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</a:rPr>
              <a:t>   time = time+1;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</a:rPr>
              <a:t>   d[u] = time;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for each v </a:t>
            </a: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 Adj[u]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{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   if (color[v] == WHITE)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		  p[v] = u;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		  DFS_Visit(v);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solidFill>
                  <a:schemeClr val="accent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}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color[u] = BLACK;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time = time+1;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f[u] = time;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</a:p>
        </p:txBody>
      </p:sp>
      <p:sp>
        <p:nvSpPr>
          <p:cNvPr id="107525" name="Line 5"/>
          <p:cNvSpPr>
            <a:spLocks noChangeShapeType="1"/>
          </p:cNvSpPr>
          <p:nvPr/>
        </p:nvSpPr>
        <p:spPr bwMode="auto">
          <a:xfrm flipV="1">
            <a:off x="6019800" y="1219200"/>
            <a:ext cx="0" cy="480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3503624" y="2336477"/>
            <a:ext cx="23839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a-DK" altLang="en-US" sz="1400" b="0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</a:rPr>
              <a:t>// Initialize all vertices</a:t>
            </a:r>
            <a:endParaRPr lang="en-US" altLang="en-US" sz="1400" b="0" dirty="0">
              <a:solidFill>
                <a:schemeClr val="accent6">
                  <a:lumMod val="75000"/>
                </a:schemeClr>
              </a:solidFill>
              <a:latin typeface="Tahoma" panose="020B0604030504040204" pitchFamily="34" charset="0"/>
            </a:endParaRPr>
          </a:p>
        </p:txBody>
      </p:sp>
      <p:sp>
        <p:nvSpPr>
          <p:cNvPr id="107527" name="Text Box 7"/>
          <p:cNvSpPr txBox="1">
            <a:spLocks noChangeArrowheads="1"/>
          </p:cNvSpPr>
          <p:nvPr/>
        </p:nvSpPr>
        <p:spPr bwMode="auto">
          <a:xfrm>
            <a:off x="1959428" y="6150999"/>
            <a:ext cx="36576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da-DK" altLang="en-US" sz="1400" b="0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</a:rPr>
              <a:t>// Visit all children recursively</a:t>
            </a:r>
            <a:endParaRPr lang="en-US" altLang="en-US" sz="1400" b="0" dirty="0">
              <a:solidFill>
                <a:schemeClr val="accent6">
                  <a:lumMod val="75000"/>
                </a:schemeClr>
              </a:solidFill>
              <a:latin typeface="Tahoma" panose="020B0604030504040204" pitchFamily="34" charset="0"/>
            </a:endParaRPr>
          </a:p>
        </p:txBody>
      </p:sp>
      <p:sp>
        <p:nvSpPr>
          <p:cNvPr id="107528" name="Line 8"/>
          <p:cNvSpPr>
            <a:spLocks noChangeShapeType="1"/>
          </p:cNvSpPr>
          <p:nvPr/>
        </p:nvSpPr>
        <p:spPr bwMode="auto">
          <a:xfrm flipH="1" flipV="1">
            <a:off x="2285999" y="4762500"/>
            <a:ext cx="1162653" cy="1257300"/>
          </a:xfrm>
          <a:prstGeom prst="line">
            <a:avLst/>
          </a:prstGeom>
          <a:ln w="28575"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07529" name="Line 9"/>
          <p:cNvSpPr>
            <a:spLocks noChangeShapeType="1"/>
          </p:cNvSpPr>
          <p:nvPr/>
        </p:nvSpPr>
        <p:spPr bwMode="auto">
          <a:xfrm flipV="1">
            <a:off x="3580855" y="5029199"/>
            <a:ext cx="3275200" cy="1039793"/>
          </a:xfrm>
          <a:prstGeom prst="line">
            <a:avLst/>
          </a:prstGeom>
          <a:ln w="28575"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94266" y="1154114"/>
            <a:ext cx="5760310" cy="440848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6152004" y="1120725"/>
            <a:ext cx="4896995" cy="50668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313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62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4" y="238035"/>
            <a:ext cx="10515600" cy="636361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/>
              <a:t>DFS - Example</a:t>
            </a:r>
          </a:p>
        </p:txBody>
      </p:sp>
      <p:sp>
        <p:nvSpPr>
          <p:cNvPr id="119811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endParaRPr lang="en-GB" altLang="en-US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9812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endParaRPr lang="en-GB" altLang="en-US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9813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endParaRPr lang="en-GB" altLang="en-US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9814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endParaRPr lang="en-GB" altLang="en-US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9815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endParaRPr lang="en-GB" altLang="en-US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9816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endParaRPr lang="en-GB" altLang="en-US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9817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endParaRPr lang="en-GB" altLang="en-US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9818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endParaRPr lang="en-GB" altLang="en-US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19819" name="AutoShape 11"/>
          <p:cNvCxnSpPr>
            <a:cxnSpLocks noChangeShapeType="1"/>
            <a:stCxn id="119811" idx="3"/>
            <a:endCxn id="119817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9820" name="AutoShape 12"/>
          <p:cNvCxnSpPr>
            <a:cxnSpLocks noChangeShapeType="1"/>
            <a:stCxn id="119817" idx="5"/>
            <a:endCxn id="119816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9821" name="AutoShape 13"/>
          <p:cNvCxnSpPr>
            <a:cxnSpLocks noChangeShapeType="1"/>
            <a:stCxn id="119817" idx="6"/>
            <a:endCxn id="119815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9822" name="AutoShape 14"/>
          <p:cNvCxnSpPr>
            <a:cxnSpLocks noChangeShapeType="1"/>
            <a:stCxn id="119815" idx="2"/>
            <a:endCxn id="119816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9823" name="AutoShape 15"/>
          <p:cNvCxnSpPr>
            <a:cxnSpLocks noChangeShapeType="1"/>
            <a:stCxn id="119816" idx="0"/>
            <a:endCxn id="119811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9824" name="AutoShape 16"/>
          <p:cNvCxnSpPr>
            <a:cxnSpLocks noChangeShapeType="1"/>
            <a:stCxn id="119811" idx="5"/>
            <a:endCxn id="119815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9825" name="AutoShape 17"/>
          <p:cNvCxnSpPr>
            <a:cxnSpLocks noChangeShapeType="1"/>
            <a:stCxn id="119812" idx="4"/>
            <a:endCxn id="119815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9826" name="AutoShape 18"/>
          <p:cNvCxnSpPr>
            <a:cxnSpLocks noChangeShapeType="1"/>
            <a:stCxn id="119811" idx="6"/>
            <a:endCxn id="119812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9827" name="AutoShape 19"/>
          <p:cNvCxnSpPr>
            <a:cxnSpLocks noChangeShapeType="1"/>
            <a:stCxn id="119813" idx="2"/>
            <a:endCxn id="119812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9828" name="AutoShape 20"/>
          <p:cNvCxnSpPr>
            <a:cxnSpLocks noChangeShapeType="1"/>
            <a:stCxn id="119812" idx="5"/>
            <a:endCxn id="119818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9829" name="AutoShape 21"/>
          <p:cNvCxnSpPr>
            <a:cxnSpLocks noChangeShapeType="1"/>
            <a:stCxn id="119813" idx="3"/>
            <a:endCxn id="119818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9830" name="AutoShape 22"/>
          <p:cNvCxnSpPr>
            <a:cxnSpLocks noChangeShapeType="1"/>
            <a:stCxn id="119813" idx="4"/>
            <a:endCxn id="119814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9831" name="AutoShape 23"/>
          <p:cNvCxnSpPr>
            <a:cxnSpLocks noChangeShapeType="1"/>
            <a:stCxn id="119814" idx="2"/>
            <a:endCxn id="119815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9832" name="AutoShape 24"/>
          <p:cNvCxnSpPr>
            <a:cxnSpLocks noChangeShapeType="1"/>
            <a:stCxn id="119818" idx="3"/>
            <a:endCxn id="119815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9833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9834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</a:br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vertex</a:t>
            </a:r>
          </a:p>
        </p:txBody>
      </p:sp>
    </p:spTree>
    <p:extLst>
      <p:ext uri="{BB962C8B-B14F-4D97-AF65-F5344CB8AC3E}">
        <p14:creationId xmlns:p14="http://schemas.microsoft.com/office/powerpoint/2010/main" val="30743351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DFS Example</a:t>
            </a:r>
          </a:p>
        </p:txBody>
      </p:sp>
      <p:sp>
        <p:nvSpPr>
          <p:cNvPr id="121859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dirty="0">
                <a:solidFill>
                  <a:srgbClr val="A5002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121860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21861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21862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21863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| </a:t>
            </a:r>
          </a:p>
        </p:txBody>
      </p:sp>
      <p:sp>
        <p:nvSpPr>
          <p:cNvPr id="121864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|  </a:t>
            </a:r>
          </a:p>
        </p:txBody>
      </p:sp>
      <p:sp>
        <p:nvSpPr>
          <p:cNvPr id="121865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21866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121867" name="AutoShape 11"/>
          <p:cNvCxnSpPr>
            <a:cxnSpLocks noChangeShapeType="1"/>
            <a:stCxn id="121859" idx="3"/>
            <a:endCxn id="121865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1868" name="AutoShape 12"/>
          <p:cNvCxnSpPr>
            <a:cxnSpLocks noChangeShapeType="1"/>
            <a:stCxn id="121865" idx="5"/>
            <a:endCxn id="121864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1869" name="AutoShape 13"/>
          <p:cNvCxnSpPr>
            <a:cxnSpLocks noChangeShapeType="1"/>
            <a:stCxn id="121865" idx="6"/>
            <a:endCxn id="121863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1870" name="AutoShape 14"/>
          <p:cNvCxnSpPr>
            <a:cxnSpLocks noChangeShapeType="1"/>
            <a:stCxn id="121863" idx="2"/>
            <a:endCxn id="121864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1871" name="AutoShape 15"/>
          <p:cNvCxnSpPr>
            <a:cxnSpLocks noChangeShapeType="1"/>
            <a:stCxn id="121864" idx="0"/>
            <a:endCxn id="121859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1872" name="AutoShape 16"/>
          <p:cNvCxnSpPr>
            <a:cxnSpLocks noChangeShapeType="1"/>
            <a:stCxn id="121859" idx="5"/>
            <a:endCxn id="121863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1873" name="AutoShape 17"/>
          <p:cNvCxnSpPr>
            <a:cxnSpLocks noChangeShapeType="1"/>
            <a:stCxn id="121860" idx="4"/>
            <a:endCxn id="121863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1874" name="AutoShape 18"/>
          <p:cNvCxnSpPr>
            <a:cxnSpLocks noChangeShapeType="1"/>
            <a:stCxn id="121859" idx="6"/>
            <a:endCxn id="121860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1875" name="AutoShape 19"/>
          <p:cNvCxnSpPr>
            <a:cxnSpLocks noChangeShapeType="1"/>
            <a:stCxn id="121861" idx="2"/>
            <a:endCxn id="121860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1876" name="AutoShape 20"/>
          <p:cNvCxnSpPr>
            <a:cxnSpLocks noChangeShapeType="1"/>
            <a:stCxn id="121860" idx="5"/>
            <a:endCxn id="121866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1877" name="AutoShape 21"/>
          <p:cNvCxnSpPr>
            <a:cxnSpLocks noChangeShapeType="1"/>
            <a:stCxn id="121861" idx="3"/>
            <a:endCxn id="121866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1878" name="AutoShape 22"/>
          <p:cNvCxnSpPr>
            <a:cxnSpLocks noChangeShapeType="1"/>
            <a:stCxn id="121861" idx="4"/>
            <a:endCxn id="121862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1879" name="AutoShape 23"/>
          <p:cNvCxnSpPr>
            <a:cxnSpLocks noChangeShapeType="1"/>
            <a:stCxn id="121862" idx="2"/>
            <a:endCxn id="121863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1880" name="AutoShape 24"/>
          <p:cNvCxnSpPr>
            <a:cxnSpLocks noChangeShapeType="1"/>
            <a:stCxn id="121866" idx="3"/>
            <a:endCxn id="121863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1881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82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</a:br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121883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i="1">
                <a:latin typeface="Times New Roman" panose="02020603050405020304" pitchFamily="18" charset="0"/>
              </a:rPr>
              <a:t>d      f</a:t>
            </a:r>
          </a:p>
        </p:txBody>
      </p:sp>
    </p:spTree>
    <p:extLst>
      <p:ext uri="{BB962C8B-B14F-4D97-AF65-F5344CB8AC3E}">
        <p14:creationId xmlns:p14="http://schemas.microsoft.com/office/powerpoint/2010/main" val="38196535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DFS Example</a:t>
            </a:r>
          </a:p>
        </p:txBody>
      </p:sp>
      <p:sp>
        <p:nvSpPr>
          <p:cNvPr id="123907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123908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23909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23910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23911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| </a:t>
            </a:r>
          </a:p>
        </p:txBody>
      </p:sp>
      <p:sp>
        <p:nvSpPr>
          <p:cNvPr id="123912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|  </a:t>
            </a:r>
          </a:p>
        </p:txBody>
      </p:sp>
      <p:sp>
        <p:nvSpPr>
          <p:cNvPr id="123913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2 |  </a:t>
            </a:r>
          </a:p>
        </p:txBody>
      </p:sp>
      <p:sp>
        <p:nvSpPr>
          <p:cNvPr id="123914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123915" name="AutoShape 11"/>
          <p:cNvCxnSpPr>
            <a:cxnSpLocks noChangeShapeType="1"/>
            <a:stCxn id="123907" idx="3"/>
            <a:endCxn id="123913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16" name="AutoShape 12"/>
          <p:cNvCxnSpPr>
            <a:cxnSpLocks noChangeShapeType="1"/>
            <a:stCxn id="123913" idx="5"/>
            <a:endCxn id="123912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17" name="AutoShape 13"/>
          <p:cNvCxnSpPr>
            <a:cxnSpLocks noChangeShapeType="1"/>
            <a:stCxn id="123913" idx="6"/>
            <a:endCxn id="123911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18" name="AutoShape 14"/>
          <p:cNvCxnSpPr>
            <a:cxnSpLocks noChangeShapeType="1"/>
            <a:stCxn id="123911" idx="2"/>
            <a:endCxn id="123912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19" name="AutoShape 15"/>
          <p:cNvCxnSpPr>
            <a:cxnSpLocks noChangeShapeType="1"/>
            <a:stCxn id="123912" idx="0"/>
            <a:endCxn id="123907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20" name="AutoShape 16"/>
          <p:cNvCxnSpPr>
            <a:cxnSpLocks noChangeShapeType="1"/>
            <a:stCxn id="123907" idx="5"/>
            <a:endCxn id="123911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21" name="AutoShape 17"/>
          <p:cNvCxnSpPr>
            <a:cxnSpLocks noChangeShapeType="1"/>
            <a:stCxn id="123908" idx="4"/>
            <a:endCxn id="123911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22" name="AutoShape 18"/>
          <p:cNvCxnSpPr>
            <a:cxnSpLocks noChangeShapeType="1"/>
            <a:stCxn id="123907" idx="6"/>
            <a:endCxn id="123908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23" name="AutoShape 19"/>
          <p:cNvCxnSpPr>
            <a:cxnSpLocks noChangeShapeType="1"/>
            <a:stCxn id="123909" idx="2"/>
            <a:endCxn id="123908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24" name="AutoShape 20"/>
          <p:cNvCxnSpPr>
            <a:cxnSpLocks noChangeShapeType="1"/>
            <a:stCxn id="123908" idx="5"/>
            <a:endCxn id="123914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25" name="AutoShape 21"/>
          <p:cNvCxnSpPr>
            <a:cxnSpLocks noChangeShapeType="1"/>
            <a:stCxn id="123909" idx="3"/>
            <a:endCxn id="123914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26" name="AutoShape 22"/>
          <p:cNvCxnSpPr>
            <a:cxnSpLocks noChangeShapeType="1"/>
            <a:stCxn id="123909" idx="4"/>
            <a:endCxn id="123910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27" name="AutoShape 23"/>
          <p:cNvCxnSpPr>
            <a:cxnSpLocks noChangeShapeType="1"/>
            <a:stCxn id="123910" idx="2"/>
            <a:endCxn id="123911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928" name="AutoShape 24"/>
          <p:cNvCxnSpPr>
            <a:cxnSpLocks noChangeShapeType="1"/>
            <a:stCxn id="123914" idx="3"/>
            <a:endCxn id="123911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3929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930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</a:br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123931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i="1">
                <a:latin typeface="Times New Roman" panose="02020603050405020304" pitchFamily="18" charset="0"/>
              </a:rPr>
              <a:t>d      f</a:t>
            </a:r>
          </a:p>
        </p:txBody>
      </p:sp>
    </p:spTree>
    <p:extLst>
      <p:ext uri="{BB962C8B-B14F-4D97-AF65-F5344CB8AC3E}">
        <p14:creationId xmlns:p14="http://schemas.microsoft.com/office/powerpoint/2010/main" val="2466733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DFS Example</a:t>
            </a:r>
          </a:p>
        </p:txBody>
      </p:sp>
      <p:sp>
        <p:nvSpPr>
          <p:cNvPr id="125955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dirty="0">
                <a:solidFill>
                  <a:srgbClr val="A5002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125956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25957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25958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25959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| </a:t>
            </a:r>
          </a:p>
        </p:txBody>
      </p:sp>
      <p:sp>
        <p:nvSpPr>
          <p:cNvPr id="125960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3 |  </a:t>
            </a:r>
          </a:p>
        </p:txBody>
      </p:sp>
      <p:sp>
        <p:nvSpPr>
          <p:cNvPr id="125961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2 |  </a:t>
            </a:r>
          </a:p>
        </p:txBody>
      </p:sp>
      <p:sp>
        <p:nvSpPr>
          <p:cNvPr id="125962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125963" name="AutoShape 11"/>
          <p:cNvCxnSpPr>
            <a:cxnSpLocks noChangeShapeType="1"/>
            <a:stCxn id="125955" idx="3"/>
            <a:endCxn id="125961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964" name="AutoShape 12"/>
          <p:cNvCxnSpPr>
            <a:cxnSpLocks noChangeShapeType="1"/>
            <a:stCxn id="125961" idx="5"/>
            <a:endCxn id="125960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965" name="AutoShape 13"/>
          <p:cNvCxnSpPr>
            <a:cxnSpLocks noChangeShapeType="1"/>
            <a:stCxn id="125961" idx="6"/>
            <a:endCxn id="125959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966" name="AutoShape 14"/>
          <p:cNvCxnSpPr>
            <a:cxnSpLocks noChangeShapeType="1"/>
            <a:stCxn id="125959" idx="2"/>
            <a:endCxn id="125960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967" name="AutoShape 15"/>
          <p:cNvCxnSpPr>
            <a:cxnSpLocks noChangeShapeType="1"/>
            <a:stCxn id="125960" idx="0"/>
            <a:endCxn id="125955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968" name="AutoShape 16"/>
          <p:cNvCxnSpPr>
            <a:cxnSpLocks noChangeShapeType="1"/>
            <a:stCxn id="125955" idx="5"/>
            <a:endCxn id="125959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969" name="AutoShape 17"/>
          <p:cNvCxnSpPr>
            <a:cxnSpLocks noChangeShapeType="1"/>
            <a:stCxn id="125956" idx="4"/>
            <a:endCxn id="125959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970" name="AutoShape 18"/>
          <p:cNvCxnSpPr>
            <a:cxnSpLocks noChangeShapeType="1"/>
            <a:stCxn id="125955" idx="6"/>
            <a:endCxn id="125956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971" name="AutoShape 19"/>
          <p:cNvCxnSpPr>
            <a:cxnSpLocks noChangeShapeType="1"/>
            <a:stCxn id="125957" idx="2"/>
            <a:endCxn id="125956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972" name="AutoShape 20"/>
          <p:cNvCxnSpPr>
            <a:cxnSpLocks noChangeShapeType="1"/>
            <a:stCxn id="125956" idx="5"/>
            <a:endCxn id="125962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973" name="AutoShape 21"/>
          <p:cNvCxnSpPr>
            <a:cxnSpLocks noChangeShapeType="1"/>
            <a:stCxn id="125957" idx="3"/>
            <a:endCxn id="125962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974" name="AutoShape 22"/>
          <p:cNvCxnSpPr>
            <a:cxnSpLocks noChangeShapeType="1"/>
            <a:stCxn id="125957" idx="4"/>
            <a:endCxn id="125958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975" name="AutoShape 23"/>
          <p:cNvCxnSpPr>
            <a:cxnSpLocks noChangeShapeType="1"/>
            <a:stCxn id="125958" idx="2"/>
            <a:endCxn id="125959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976" name="AutoShape 24"/>
          <p:cNvCxnSpPr>
            <a:cxnSpLocks noChangeShapeType="1"/>
            <a:stCxn id="125962" idx="3"/>
            <a:endCxn id="125959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5977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978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</a:br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125979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i="1">
                <a:latin typeface="Times New Roman" panose="02020603050405020304" pitchFamily="18" charset="0"/>
              </a:rPr>
              <a:t>d      f</a:t>
            </a:r>
          </a:p>
        </p:txBody>
      </p:sp>
    </p:spTree>
    <p:extLst>
      <p:ext uri="{BB962C8B-B14F-4D97-AF65-F5344CB8AC3E}">
        <p14:creationId xmlns:p14="http://schemas.microsoft.com/office/powerpoint/2010/main" val="1014420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DFS Example</a:t>
            </a:r>
          </a:p>
        </p:txBody>
      </p:sp>
      <p:sp>
        <p:nvSpPr>
          <p:cNvPr id="128003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dirty="0">
                <a:solidFill>
                  <a:srgbClr val="A5002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128004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28005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28006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28007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| </a:t>
            </a:r>
          </a:p>
        </p:txBody>
      </p:sp>
      <p:sp>
        <p:nvSpPr>
          <p:cNvPr id="128008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128009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2 |  </a:t>
            </a:r>
          </a:p>
        </p:txBody>
      </p:sp>
      <p:sp>
        <p:nvSpPr>
          <p:cNvPr id="128010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128011" name="AutoShape 11"/>
          <p:cNvCxnSpPr>
            <a:cxnSpLocks noChangeShapeType="1"/>
            <a:stCxn id="128003" idx="3"/>
            <a:endCxn id="128009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8012" name="AutoShape 12"/>
          <p:cNvCxnSpPr>
            <a:cxnSpLocks noChangeShapeType="1"/>
            <a:stCxn id="128009" idx="5"/>
            <a:endCxn id="128008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8013" name="AutoShape 13"/>
          <p:cNvCxnSpPr>
            <a:cxnSpLocks noChangeShapeType="1"/>
            <a:stCxn id="128009" idx="6"/>
            <a:endCxn id="128007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8014" name="AutoShape 14"/>
          <p:cNvCxnSpPr>
            <a:cxnSpLocks noChangeShapeType="1"/>
            <a:stCxn id="128007" idx="2"/>
            <a:endCxn id="128008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8015" name="AutoShape 15"/>
          <p:cNvCxnSpPr>
            <a:cxnSpLocks noChangeShapeType="1"/>
            <a:stCxn id="128008" idx="0"/>
            <a:endCxn id="128003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8016" name="AutoShape 16"/>
          <p:cNvCxnSpPr>
            <a:cxnSpLocks noChangeShapeType="1"/>
            <a:stCxn id="128003" idx="5"/>
            <a:endCxn id="128007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8017" name="AutoShape 17"/>
          <p:cNvCxnSpPr>
            <a:cxnSpLocks noChangeShapeType="1"/>
            <a:stCxn id="128004" idx="4"/>
            <a:endCxn id="128007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8018" name="AutoShape 18"/>
          <p:cNvCxnSpPr>
            <a:cxnSpLocks noChangeShapeType="1"/>
            <a:stCxn id="128003" idx="6"/>
            <a:endCxn id="128004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8019" name="AutoShape 19"/>
          <p:cNvCxnSpPr>
            <a:cxnSpLocks noChangeShapeType="1"/>
            <a:stCxn id="128005" idx="2"/>
            <a:endCxn id="128004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8020" name="AutoShape 20"/>
          <p:cNvCxnSpPr>
            <a:cxnSpLocks noChangeShapeType="1"/>
            <a:stCxn id="128004" idx="5"/>
            <a:endCxn id="128010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8021" name="AutoShape 21"/>
          <p:cNvCxnSpPr>
            <a:cxnSpLocks noChangeShapeType="1"/>
            <a:stCxn id="128005" idx="3"/>
            <a:endCxn id="128010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8022" name="AutoShape 22"/>
          <p:cNvCxnSpPr>
            <a:cxnSpLocks noChangeShapeType="1"/>
            <a:stCxn id="128005" idx="4"/>
            <a:endCxn id="128006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8023" name="AutoShape 23"/>
          <p:cNvCxnSpPr>
            <a:cxnSpLocks noChangeShapeType="1"/>
            <a:stCxn id="128006" idx="2"/>
            <a:endCxn id="128007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8024" name="AutoShape 24"/>
          <p:cNvCxnSpPr>
            <a:cxnSpLocks noChangeShapeType="1"/>
            <a:stCxn id="128010" idx="3"/>
            <a:endCxn id="128007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8025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8026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</a:br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128027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i="1">
                <a:latin typeface="Times New Roman" panose="02020603050405020304" pitchFamily="18" charset="0"/>
              </a:rPr>
              <a:t>d      f</a:t>
            </a:r>
          </a:p>
        </p:txBody>
      </p:sp>
    </p:spTree>
    <p:extLst>
      <p:ext uri="{BB962C8B-B14F-4D97-AF65-F5344CB8AC3E}">
        <p14:creationId xmlns:p14="http://schemas.microsoft.com/office/powerpoint/2010/main" val="23118644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DFS Example</a:t>
            </a:r>
          </a:p>
        </p:txBody>
      </p:sp>
      <p:sp>
        <p:nvSpPr>
          <p:cNvPr id="130051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dirty="0">
                <a:solidFill>
                  <a:srgbClr val="A5002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130052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30053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30054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30055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5 |  </a:t>
            </a:r>
          </a:p>
        </p:txBody>
      </p:sp>
      <p:sp>
        <p:nvSpPr>
          <p:cNvPr id="130056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130057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2 |  </a:t>
            </a:r>
          </a:p>
        </p:txBody>
      </p:sp>
      <p:sp>
        <p:nvSpPr>
          <p:cNvPr id="130058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130059" name="AutoShape 11"/>
          <p:cNvCxnSpPr>
            <a:cxnSpLocks noChangeShapeType="1"/>
            <a:stCxn id="130051" idx="3"/>
            <a:endCxn id="130057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060" name="AutoShape 12"/>
          <p:cNvCxnSpPr>
            <a:cxnSpLocks noChangeShapeType="1"/>
            <a:stCxn id="130057" idx="5"/>
            <a:endCxn id="130056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061" name="AutoShape 13"/>
          <p:cNvCxnSpPr>
            <a:cxnSpLocks noChangeShapeType="1"/>
            <a:stCxn id="130057" idx="6"/>
            <a:endCxn id="130055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062" name="AutoShape 14"/>
          <p:cNvCxnSpPr>
            <a:cxnSpLocks noChangeShapeType="1"/>
            <a:stCxn id="130055" idx="2"/>
            <a:endCxn id="130056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063" name="AutoShape 15"/>
          <p:cNvCxnSpPr>
            <a:cxnSpLocks noChangeShapeType="1"/>
            <a:stCxn id="130056" idx="0"/>
            <a:endCxn id="130051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064" name="AutoShape 16"/>
          <p:cNvCxnSpPr>
            <a:cxnSpLocks noChangeShapeType="1"/>
            <a:stCxn id="130051" idx="5"/>
            <a:endCxn id="130055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065" name="AutoShape 17"/>
          <p:cNvCxnSpPr>
            <a:cxnSpLocks noChangeShapeType="1"/>
            <a:stCxn id="130052" idx="4"/>
            <a:endCxn id="130055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066" name="AutoShape 18"/>
          <p:cNvCxnSpPr>
            <a:cxnSpLocks noChangeShapeType="1"/>
            <a:stCxn id="130051" idx="6"/>
            <a:endCxn id="130052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067" name="AutoShape 19"/>
          <p:cNvCxnSpPr>
            <a:cxnSpLocks noChangeShapeType="1"/>
            <a:stCxn id="130053" idx="2"/>
            <a:endCxn id="130052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068" name="AutoShape 20"/>
          <p:cNvCxnSpPr>
            <a:cxnSpLocks noChangeShapeType="1"/>
            <a:stCxn id="130052" idx="5"/>
            <a:endCxn id="130058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069" name="AutoShape 21"/>
          <p:cNvCxnSpPr>
            <a:cxnSpLocks noChangeShapeType="1"/>
            <a:stCxn id="130053" idx="3"/>
            <a:endCxn id="130058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070" name="AutoShape 22"/>
          <p:cNvCxnSpPr>
            <a:cxnSpLocks noChangeShapeType="1"/>
            <a:stCxn id="130053" idx="4"/>
            <a:endCxn id="130054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071" name="AutoShape 23"/>
          <p:cNvCxnSpPr>
            <a:cxnSpLocks noChangeShapeType="1"/>
            <a:stCxn id="130054" idx="2"/>
            <a:endCxn id="130055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072" name="AutoShape 24"/>
          <p:cNvCxnSpPr>
            <a:cxnSpLocks noChangeShapeType="1"/>
            <a:stCxn id="130058" idx="3"/>
            <a:endCxn id="130055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0073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74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</a:br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130075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i="1">
                <a:latin typeface="Times New Roman" panose="02020603050405020304" pitchFamily="18" charset="0"/>
              </a:rPr>
              <a:t>d      f</a:t>
            </a:r>
          </a:p>
        </p:txBody>
      </p:sp>
    </p:spTree>
    <p:extLst>
      <p:ext uri="{BB962C8B-B14F-4D97-AF65-F5344CB8AC3E}">
        <p14:creationId xmlns:p14="http://schemas.microsoft.com/office/powerpoint/2010/main" val="20302517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DFS Example</a:t>
            </a:r>
          </a:p>
        </p:txBody>
      </p:sp>
      <p:sp>
        <p:nvSpPr>
          <p:cNvPr id="132099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dirty="0">
                <a:solidFill>
                  <a:srgbClr val="A5002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132100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32101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32102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32103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132104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132105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2 |  </a:t>
            </a:r>
          </a:p>
        </p:txBody>
      </p:sp>
      <p:sp>
        <p:nvSpPr>
          <p:cNvPr id="132106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132107" name="AutoShape 11"/>
          <p:cNvCxnSpPr>
            <a:cxnSpLocks noChangeShapeType="1"/>
            <a:stCxn id="132099" idx="3"/>
            <a:endCxn id="132105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108" name="AutoShape 12"/>
          <p:cNvCxnSpPr>
            <a:cxnSpLocks noChangeShapeType="1"/>
            <a:stCxn id="132105" idx="5"/>
            <a:endCxn id="132104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109" name="AutoShape 13"/>
          <p:cNvCxnSpPr>
            <a:cxnSpLocks noChangeShapeType="1"/>
            <a:stCxn id="132105" idx="6"/>
            <a:endCxn id="132103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110" name="AutoShape 14"/>
          <p:cNvCxnSpPr>
            <a:cxnSpLocks noChangeShapeType="1"/>
            <a:stCxn id="132103" idx="2"/>
            <a:endCxn id="132104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111" name="AutoShape 15"/>
          <p:cNvCxnSpPr>
            <a:cxnSpLocks noChangeShapeType="1"/>
            <a:stCxn id="132104" idx="0"/>
            <a:endCxn id="132099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112" name="AutoShape 16"/>
          <p:cNvCxnSpPr>
            <a:cxnSpLocks noChangeShapeType="1"/>
            <a:stCxn id="132099" idx="5"/>
            <a:endCxn id="132103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113" name="AutoShape 17"/>
          <p:cNvCxnSpPr>
            <a:cxnSpLocks noChangeShapeType="1"/>
            <a:stCxn id="132100" idx="4"/>
            <a:endCxn id="132103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114" name="AutoShape 18"/>
          <p:cNvCxnSpPr>
            <a:cxnSpLocks noChangeShapeType="1"/>
            <a:stCxn id="132099" idx="6"/>
            <a:endCxn id="132100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115" name="AutoShape 19"/>
          <p:cNvCxnSpPr>
            <a:cxnSpLocks noChangeShapeType="1"/>
            <a:stCxn id="132101" idx="2"/>
            <a:endCxn id="132100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116" name="AutoShape 20"/>
          <p:cNvCxnSpPr>
            <a:cxnSpLocks noChangeShapeType="1"/>
            <a:stCxn id="132100" idx="5"/>
            <a:endCxn id="132106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117" name="AutoShape 21"/>
          <p:cNvCxnSpPr>
            <a:cxnSpLocks noChangeShapeType="1"/>
            <a:stCxn id="132101" idx="3"/>
            <a:endCxn id="132106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118" name="AutoShape 22"/>
          <p:cNvCxnSpPr>
            <a:cxnSpLocks noChangeShapeType="1"/>
            <a:stCxn id="132101" idx="4"/>
            <a:endCxn id="132102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119" name="AutoShape 23"/>
          <p:cNvCxnSpPr>
            <a:cxnSpLocks noChangeShapeType="1"/>
            <a:stCxn id="132102" idx="2"/>
            <a:endCxn id="132103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120" name="AutoShape 24"/>
          <p:cNvCxnSpPr>
            <a:cxnSpLocks noChangeShapeType="1"/>
            <a:stCxn id="132106" idx="3"/>
            <a:endCxn id="132103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121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2122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</a:br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132123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i="1">
                <a:latin typeface="Times New Roman" panose="02020603050405020304" pitchFamily="18" charset="0"/>
              </a:rPr>
              <a:t>d      f</a:t>
            </a:r>
          </a:p>
        </p:txBody>
      </p:sp>
    </p:spTree>
    <p:extLst>
      <p:ext uri="{BB962C8B-B14F-4D97-AF65-F5344CB8AC3E}">
        <p14:creationId xmlns:p14="http://schemas.microsoft.com/office/powerpoint/2010/main" val="17156536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DFS Example</a:t>
            </a:r>
          </a:p>
        </p:txBody>
      </p:sp>
      <p:sp>
        <p:nvSpPr>
          <p:cNvPr id="134147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dirty="0">
                <a:solidFill>
                  <a:srgbClr val="A5002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134148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8 |  </a:t>
            </a:r>
          </a:p>
        </p:txBody>
      </p:sp>
      <p:sp>
        <p:nvSpPr>
          <p:cNvPr id="134149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34150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34151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134152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134153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134154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134155" name="AutoShape 11"/>
          <p:cNvCxnSpPr>
            <a:cxnSpLocks noChangeShapeType="1"/>
            <a:stCxn id="134147" idx="3"/>
            <a:endCxn id="134153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156" name="AutoShape 12"/>
          <p:cNvCxnSpPr>
            <a:cxnSpLocks noChangeShapeType="1"/>
            <a:stCxn id="134153" idx="5"/>
            <a:endCxn id="134152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157" name="AutoShape 13"/>
          <p:cNvCxnSpPr>
            <a:cxnSpLocks noChangeShapeType="1"/>
            <a:stCxn id="134153" idx="6"/>
            <a:endCxn id="134151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158" name="AutoShape 14"/>
          <p:cNvCxnSpPr>
            <a:cxnSpLocks noChangeShapeType="1"/>
            <a:stCxn id="134151" idx="2"/>
            <a:endCxn id="134152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159" name="AutoShape 15"/>
          <p:cNvCxnSpPr>
            <a:cxnSpLocks noChangeShapeType="1"/>
            <a:stCxn id="134152" idx="0"/>
            <a:endCxn id="134147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160" name="AutoShape 16"/>
          <p:cNvCxnSpPr>
            <a:cxnSpLocks noChangeShapeType="1"/>
            <a:stCxn id="134147" idx="5"/>
            <a:endCxn id="134151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161" name="AutoShape 17"/>
          <p:cNvCxnSpPr>
            <a:cxnSpLocks noChangeShapeType="1"/>
            <a:stCxn id="134148" idx="4"/>
            <a:endCxn id="134151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162" name="AutoShape 18"/>
          <p:cNvCxnSpPr>
            <a:cxnSpLocks noChangeShapeType="1"/>
            <a:stCxn id="134147" idx="6"/>
            <a:endCxn id="134148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163" name="AutoShape 19"/>
          <p:cNvCxnSpPr>
            <a:cxnSpLocks noChangeShapeType="1"/>
            <a:stCxn id="134149" idx="2"/>
            <a:endCxn id="134148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164" name="AutoShape 20"/>
          <p:cNvCxnSpPr>
            <a:cxnSpLocks noChangeShapeType="1"/>
            <a:stCxn id="134148" idx="5"/>
            <a:endCxn id="134154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165" name="AutoShape 21"/>
          <p:cNvCxnSpPr>
            <a:cxnSpLocks noChangeShapeType="1"/>
            <a:stCxn id="134149" idx="3"/>
            <a:endCxn id="134154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166" name="AutoShape 22"/>
          <p:cNvCxnSpPr>
            <a:cxnSpLocks noChangeShapeType="1"/>
            <a:stCxn id="134149" idx="4"/>
            <a:endCxn id="134150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167" name="AutoShape 23"/>
          <p:cNvCxnSpPr>
            <a:cxnSpLocks noChangeShapeType="1"/>
            <a:stCxn id="134150" idx="2"/>
            <a:endCxn id="134151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168" name="AutoShape 24"/>
          <p:cNvCxnSpPr>
            <a:cxnSpLocks noChangeShapeType="1"/>
            <a:stCxn id="134154" idx="3"/>
            <a:endCxn id="134151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4169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4170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</a:br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134171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i="1">
                <a:latin typeface="Times New Roman" panose="02020603050405020304" pitchFamily="18" charset="0"/>
              </a:rPr>
              <a:t>d      f</a:t>
            </a:r>
          </a:p>
        </p:txBody>
      </p:sp>
    </p:spTree>
    <p:extLst>
      <p:ext uri="{BB962C8B-B14F-4D97-AF65-F5344CB8AC3E}">
        <p14:creationId xmlns:p14="http://schemas.microsoft.com/office/powerpoint/2010/main" val="25622589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DFS Example</a:t>
            </a:r>
          </a:p>
        </p:txBody>
      </p:sp>
      <p:sp>
        <p:nvSpPr>
          <p:cNvPr id="136195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dirty="0">
                <a:solidFill>
                  <a:srgbClr val="A5002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136196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dirty="0">
                <a:solidFill>
                  <a:srgbClr val="A50021"/>
                </a:solidFill>
                <a:latin typeface="Courier New" panose="02070309020205020404" pitchFamily="49" charset="0"/>
              </a:rPr>
              <a:t>8 |  </a:t>
            </a:r>
          </a:p>
        </p:txBody>
      </p:sp>
      <p:sp>
        <p:nvSpPr>
          <p:cNvPr id="136197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36198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36199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136200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136201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136202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dirty="0">
                <a:solidFill>
                  <a:srgbClr val="A50021"/>
                </a:solidFill>
                <a:latin typeface="Courier New" panose="02070309020205020404" pitchFamily="49" charset="0"/>
              </a:rPr>
              <a:t>9 |  </a:t>
            </a:r>
          </a:p>
        </p:txBody>
      </p:sp>
      <p:cxnSp>
        <p:nvCxnSpPr>
          <p:cNvPr id="136203" name="AutoShape 11"/>
          <p:cNvCxnSpPr>
            <a:cxnSpLocks noChangeShapeType="1"/>
            <a:stCxn id="136195" idx="3"/>
            <a:endCxn id="136201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204" name="AutoShape 12"/>
          <p:cNvCxnSpPr>
            <a:cxnSpLocks noChangeShapeType="1"/>
            <a:stCxn id="136201" idx="5"/>
            <a:endCxn id="136200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205" name="AutoShape 13"/>
          <p:cNvCxnSpPr>
            <a:cxnSpLocks noChangeShapeType="1"/>
            <a:stCxn id="136201" idx="6"/>
            <a:endCxn id="136199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206" name="AutoShape 14"/>
          <p:cNvCxnSpPr>
            <a:cxnSpLocks noChangeShapeType="1"/>
            <a:stCxn id="136199" idx="2"/>
            <a:endCxn id="136200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207" name="AutoShape 15"/>
          <p:cNvCxnSpPr>
            <a:cxnSpLocks noChangeShapeType="1"/>
            <a:stCxn id="136200" idx="0"/>
            <a:endCxn id="136195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208" name="AutoShape 16"/>
          <p:cNvCxnSpPr>
            <a:cxnSpLocks noChangeShapeType="1"/>
            <a:stCxn id="136195" idx="5"/>
            <a:endCxn id="136199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209" name="AutoShape 17"/>
          <p:cNvCxnSpPr>
            <a:cxnSpLocks noChangeShapeType="1"/>
            <a:stCxn id="136196" idx="4"/>
            <a:endCxn id="136199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210" name="AutoShape 18"/>
          <p:cNvCxnSpPr>
            <a:cxnSpLocks noChangeShapeType="1"/>
            <a:stCxn id="136195" idx="6"/>
            <a:endCxn id="136196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211" name="AutoShape 19"/>
          <p:cNvCxnSpPr>
            <a:cxnSpLocks noChangeShapeType="1"/>
            <a:stCxn id="136197" idx="2"/>
            <a:endCxn id="136196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212" name="AutoShape 20"/>
          <p:cNvCxnSpPr>
            <a:cxnSpLocks noChangeShapeType="1"/>
            <a:stCxn id="136196" idx="5"/>
            <a:endCxn id="136202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213" name="AutoShape 21"/>
          <p:cNvCxnSpPr>
            <a:cxnSpLocks noChangeShapeType="1"/>
            <a:stCxn id="136197" idx="3"/>
            <a:endCxn id="136202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214" name="AutoShape 22"/>
          <p:cNvCxnSpPr>
            <a:cxnSpLocks noChangeShapeType="1"/>
            <a:stCxn id="136197" idx="4"/>
            <a:endCxn id="136198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215" name="AutoShape 23"/>
          <p:cNvCxnSpPr>
            <a:cxnSpLocks noChangeShapeType="1"/>
            <a:stCxn id="136198" idx="2"/>
            <a:endCxn id="136199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216" name="AutoShape 24"/>
          <p:cNvCxnSpPr>
            <a:cxnSpLocks noChangeShapeType="1"/>
            <a:stCxn id="136202" idx="3"/>
            <a:endCxn id="136199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6217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6218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</a:br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136219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i="1">
                <a:latin typeface="Times New Roman" panose="02020603050405020304" pitchFamily="18" charset="0"/>
              </a:rPr>
              <a:t>d      f</a:t>
            </a:r>
          </a:p>
        </p:txBody>
      </p:sp>
      <p:sp>
        <p:nvSpPr>
          <p:cNvPr id="1900572" name="Text Box 28"/>
          <p:cNvSpPr txBox="1">
            <a:spLocks noChangeArrowheads="1"/>
          </p:cNvSpPr>
          <p:nvPr/>
        </p:nvSpPr>
        <p:spPr bwMode="auto">
          <a:xfrm>
            <a:off x="3459568" y="5603876"/>
            <a:ext cx="562846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i="1">
                <a:solidFill>
                  <a:srgbClr val="A50021"/>
                </a:solidFill>
                <a:latin typeface="Times New Roman" panose="02020603050405020304" pitchFamily="18" charset="0"/>
              </a:rPr>
              <a:t>What is the structure of the gray vertices?  </a:t>
            </a:r>
            <a:br>
              <a:rPr lang="en-US" altLang="en-US" sz="2400" i="1">
                <a:solidFill>
                  <a:srgbClr val="A50021"/>
                </a:solidFill>
                <a:latin typeface="Times New Roman" panose="02020603050405020304" pitchFamily="18" charset="0"/>
              </a:rPr>
            </a:br>
            <a:r>
              <a:rPr lang="en-US" altLang="en-US" sz="2400" i="1">
                <a:solidFill>
                  <a:srgbClr val="A50021"/>
                </a:solidFill>
                <a:latin typeface="Times New Roman" panose="02020603050405020304" pitchFamily="18" charset="0"/>
              </a:rPr>
              <a:t>What do they represent?</a:t>
            </a:r>
          </a:p>
        </p:txBody>
      </p:sp>
    </p:spTree>
    <p:extLst>
      <p:ext uri="{BB962C8B-B14F-4D97-AF65-F5344CB8AC3E}">
        <p14:creationId xmlns:p14="http://schemas.microsoft.com/office/powerpoint/2010/main" val="415671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0572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DFS Example</a:t>
            </a:r>
          </a:p>
        </p:txBody>
      </p:sp>
      <p:sp>
        <p:nvSpPr>
          <p:cNvPr id="138243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dirty="0">
                <a:solidFill>
                  <a:srgbClr val="A5002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138244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8 |  </a:t>
            </a:r>
          </a:p>
        </p:txBody>
      </p:sp>
      <p:sp>
        <p:nvSpPr>
          <p:cNvPr id="138245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38246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38247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138248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138249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138250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138251" name="AutoShape 11"/>
          <p:cNvCxnSpPr>
            <a:cxnSpLocks noChangeShapeType="1"/>
            <a:stCxn id="138243" idx="3"/>
            <a:endCxn id="138249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252" name="AutoShape 12"/>
          <p:cNvCxnSpPr>
            <a:cxnSpLocks noChangeShapeType="1"/>
            <a:stCxn id="138249" idx="5"/>
            <a:endCxn id="138248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253" name="AutoShape 13"/>
          <p:cNvCxnSpPr>
            <a:cxnSpLocks noChangeShapeType="1"/>
            <a:stCxn id="138249" idx="6"/>
            <a:endCxn id="138247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254" name="AutoShape 14"/>
          <p:cNvCxnSpPr>
            <a:cxnSpLocks noChangeShapeType="1"/>
            <a:stCxn id="138247" idx="2"/>
            <a:endCxn id="138248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255" name="AutoShape 15"/>
          <p:cNvCxnSpPr>
            <a:cxnSpLocks noChangeShapeType="1"/>
            <a:stCxn id="138248" idx="0"/>
            <a:endCxn id="138243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256" name="AutoShape 16"/>
          <p:cNvCxnSpPr>
            <a:cxnSpLocks noChangeShapeType="1"/>
            <a:stCxn id="138243" idx="5"/>
            <a:endCxn id="138247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257" name="AutoShape 17"/>
          <p:cNvCxnSpPr>
            <a:cxnSpLocks noChangeShapeType="1"/>
            <a:stCxn id="138244" idx="4"/>
            <a:endCxn id="138247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258" name="AutoShape 18"/>
          <p:cNvCxnSpPr>
            <a:cxnSpLocks noChangeShapeType="1"/>
            <a:stCxn id="138243" idx="6"/>
            <a:endCxn id="138244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259" name="AutoShape 19"/>
          <p:cNvCxnSpPr>
            <a:cxnSpLocks noChangeShapeType="1"/>
            <a:stCxn id="138245" idx="2"/>
            <a:endCxn id="138244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260" name="AutoShape 20"/>
          <p:cNvCxnSpPr>
            <a:cxnSpLocks noChangeShapeType="1"/>
            <a:stCxn id="138244" idx="5"/>
            <a:endCxn id="138250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261" name="AutoShape 21"/>
          <p:cNvCxnSpPr>
            <a:cxnSpLocks noChangeShapeType="1"/>
            <a:stCxn id="138245" idx="3"/>
            <a:endCxn id="138250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262" name="AutoShape 22"/>
          <p:cNvCxnSpPr>
            <a:cxnSpLocks noChangeShapeType="1"/>
            <a:stCxn id="138245" idx="4"/>
            <a:endCxn id="138246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263" name="AutoShape 23"/>
          <p:cNvCxnSpPr>
            <a:cxnSpLocks noChangeShapeType="1"/>
            <a:stCxn id="138246" idx="2"/>
            <a:endCxn id="138247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264" name="AutoShape 24"/>
          <p:cNvCxnSpPr>
            <a:cxnSpLocks noChangeShapeType="1"/>
            <a:stCxn id="138250" idx="3"/>
            <a:endCxn id="138247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8265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266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solidFill>
                  <a:srgbClr val="A5002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i="1">
                <a:solidFill>
                  <a:srgbClr val="A50021"/>
                </a:solidFill>
                <a:latin typeface="Times New Roman" panose="02020603050405020304" pitchFamily="18" charset="0"/>
              </a:rPr>
            </a:br>
            <a:r>
              <a:rPr lang="en-US" altLang="en-US" sz="2000" i="1">
                <a:solidFill>
                  <a:srgbClr val="A5002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138267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i="1">
                <a:latin typeface="Times New Roman" panose="02020603050405020304" pitchFamily="18" charset="0"/>
              </a:rPr>
              <a:t>d      f</a:t>
            </a:r>
          </a:p>
        </p:txBody>
      </p:sp>
    </p:spTree>
    <p:extLst>
      <p:ext uri="{BB962C8B-B14F-4D97-AF65-F5344CB8AC3E}">
        <p14:creationId xmlns:p14="http://schemas.microsoft.com/office/powerpoint/2010/main" val="13011394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DFS Example</a:t>
            </a:r>
          </a:p>
        </p:txBody>
      </p:sp>
      <p:sp>
        <p:nvSpPr>
          <p:cNvPr id="140291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140292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8 |11</a:t>
            </a:r>
          </a:p>
        </p:txBody>
      </p:sp>
      <p:sp>
        <p:nvSpPr>
          <p:cNvPr id="140293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40294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40295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140296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140297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140298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140299" name="AutoShape 11"/>
          <p:cNvCxnSpPr>
            <a:cxnSpLocks noChangeShapeType="1"/>
            <a:stCxn id="140291" idx="3"/>
            <a:endCxn id="140297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300" name="AutoShape 12"/>
          <p:cNvCxnSpPr>
            <a:cxnSpLocks noChangeShapeType="1"/>
            <a:stCxn id="140297" idx="5"/>
            <a:endCxn id="140296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301" name="AutoShape 13"/>
          <p:cNvCxnSpPr>
            <a:cxnSpLocks noChangeShapeType="1"/>
            <a:stCxn id="140297" idx="6"/>
            <a:endCxn id="140295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302" name="AutoShape 14"/>
          <p:cNvCxnSpPr>
            <a:cxnSpLocks noChangeShapeType="1"/>
            <a:stCxn id="140295" idx="2"/>
            <a:endCxn id="140296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303" name="AutoShape 15"/>
          <p:cNvCxnSpPr>
            <a:cxnSpLocks noChangeShapeType="1"/>
            <a:stCxn id="140296" idx="0"/>
            <a:endCxn id="140291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304" name="AutoShape 16"/>
          <p:cNvCxnSpPr>
            <a:cxnSpLocks noChangeShapeType="1"/>
            <a:stCxn id="140291" idx="5"/>
            <a:endCxn id="140295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305" name="AutoShape 17"/>
          <p:cNvCxnSpPr>
            <a:cxnSpLocks noChangeShapeType="1"/>
            <a:stCxn id="140292" idx="4"/>
            <a:endCxn id="140295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306" name="AutoShape 18"/>
          <p:cNvCxnSpPr>
            <a:cxnSpLocks noChangeShapeType="1"/>
            <a:stCxn id="140291" idx="6"/>
            <a:endCxn id="140292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307" name="AutoShape 19"/>
          <p:cNvCxnSpPr>
            <a:cxnSpLocks noChangeShapeType="1"/>
            <a:stCxn id="140293" idx="2"/>
            <a:endCxn id="140292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308" name="AutoShape 20"/>
          <p:cNvCxnSpPr>
            <a:cxnSpLocks noChangeShapeType="1"/>
            <a:stCxn id="140292" idx="5"/>
            <a:endCxn id="140298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309" name="AutoShape 21"/>
          <p:cNvCxnSpPr>
            <a:cxnSpLocks noChangeShapeType="1"/>
            <a:stCxn id="140293" idx="3"/>
            <a:endCxn id="140298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310" name="AutoShape 22"/>
          <p:cNvCxnSpPr>
            <a:cxnSpLocks noChangeShapeType="1"/>
            <a:stCxn id="140293" idx="4"/>
            <a:endCxn id="140294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311" name="AutoShape 23"/>
          <p:cNvCxnSpPr>
            <a:cxnSpLocks noChangeShapeType="1"/>
            <a:stCxn id="140294" idx="2"/>
            <a:endCxn id="140295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312" name="AutoShape 24"/>
          <p:cNvCxnSpPr>
            <a:cxnSpLocks noChangeShapeType="1"/>
            <a:stCxn id="140298" idx="3"/>
            <a:endCxn id="140295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0313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0314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solidFill>
                  <a:srgbClr val="A5002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i="1">
                <a:solidFill>
                  <a:srgbClr val="A50021"/>
                </a:solidFill>
                <a:latin typeface="Times New Roman" panose="02020603050405020304" pitchFamily="18" charset="0"/>
              </a:rPr>
            </a:br>
            <a:r>
              <a:rPr lang="en-US" altLang="en-US" sz="2000" i="1">
                <a:solidFill>
                  <a:srgbClr val="A5002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140315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i="1">
                <a:latin typeface="Times New Roman" panose="02020603050405020304" pitchFamily="18" charset="0"/>
              </a:rPr>
              <a:t>d      f</a:t>
            </a:r>
          </a:p>
        </p:txBody>
      </p:sp>
    </p:spTree>
    <p:extLst>
      <p:ext uri="{BB962C8B-B14F-4D97-AF65-F5344CB8AC3E}">
        <p14:creationId xmlns:p14="http://schemas.microsoft.com/office/powerpoint/2010/main" val="12240340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DFS Example</a:t>
            </a:r>
          </a:p>
        </p:txBody>
      </p:sp>
      <p:sp>
        <p:nvSpPr>
          <p:cNvPr id="142339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1 |12</a:t>
            </a:r>
          </a:p>
        </p:txBody>
      </p:sp>
      <p:sp>
        <p:nvSpPr>
          <p:cNvPr id="142340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8 |11</a:t>
            </a:r>
          </a:p>
        </p:txBody>
      </p:sp>
      <p:sp>
        <p:nvSpPr>
          <p:cNvPr id="142341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42342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42343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142344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142345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142346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142347" name="AutoShape 11"/>
          <p:cNvCxnSpPr>
            <a:cxnSpLocks noChangeShapeType="1"/>
            <a:stCxn id="142339" idx="3"/>
            <a:endCxn id="142345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348" name="AutoShape 12"/>
          <p:cNvCxnSpPr>
            <a:cxnSpLocks noChangeShapeType="1"/>
            <a:stCxn id="142345" idx="5"/>
            <a:endCxn id="142344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349" name="AutoShape 13"/>
          <p:cNvCxnSpPr>
            <a:cxnSpLocks noChangeShapeType="1"/>
            <a:stCxn id="142345" idx="6"/>
            <a:endCxn id="142343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350" name="AutoShape 14"/>
          <p:cNvCxnSpPr>
            <a:cxnSpLocks noChangeShapeType="1"/>
            <a:stCxn id="142343" idx="2"/>
            <a:endCxn id="142344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351" name="AutoShape 15"/>
          <p:cNvCxnSpPr>
            <a:cxnSpLocks noChangeShapeType="1"/>
            <a:stCxn id="142344" idx="0"/>
            <a:endCxn id="142339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352" name="AutoShape 16"/>
          <p:cNvCxnSpPr>
            <a:cxnSpLocks noChangeShapeType="1"/>
            <a:stCxn id="142339" idx="5"/>
            <a:endCxn id="142343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353" name="AutoShape 17"/>
          <p:cNvCxnSpPr>
            <a:cxnSpLocks noChangeShapeType="1"/>
            <a:stCxn id="142340" idx="4"/>
            <a:endCxn id="142343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354" name="AutoShape 18"/>
          <p:cNvCxnSpPr>
            <a:cxnSpLocks noChangeShapeType="1"/>
            <a:stCxn id="142339" idx="6"/>
            <a:endCxn id="142340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355" name="AutoShape 19"/>
          <p:cNvCxnSpPr>
            <a:cxnSpLocks noChangeShapeType="1"/>
            <a:stCxn id="142341" idx="2"/>
            <a:endCxn id="142340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356" name="AutoShape 20"/>
          <p:cNvCxnSpPr>
            <a:cxnSpLocks noChangeShapeType="1"/>
            <a:stCxn id="142340" idx="5"/>
            <a:endCxn id="142346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357" name="AutoShape 21"/>
          <p:cNvCxnSpPr>
            <a:cxnSpLocks noChangeShapeType="1"/>
            <a:stCxn id="142341" idx="3"/>
            <a:endCxn id="142346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358" name="AutoShape 22"/>
          <p:cNvCxnSpPr>
            <a:cxnSpLocks noChangeShapeType="1"/>
            <a:stCxn id="142341" idx="4"/>
            <a:endCxn id="142342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359" name="AutoShape 23"/>
          <p:cNvCxnSpPr>
            <a:cxnSpLocks noChangeShapeType="1"/>
            <a:stCxn id="142342" idx="2"/>
            <a:endCxn id="142343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360" name="AutoShape 24"/>
          <p:cNvCxnSpPr>
            <a:cxnSpLocks noChangeShapeType="1"/>
            <a:stCxn id="142346" idx="3"/>
            <a:endCxn id="142343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2361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2362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>
                <a:solidFill>
                  <a:srgbClr val="A5002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i="1">
                <a:solidFill>
                  <a:srgbClr val="A50021"/>
                </a:solidFill>
                <a:latin typeface="Times New Roman" panose="02020603050405020304" pitchFamily="18" charset="0"/>
              </a:rPr>
            </a:br>
            <a:r>
              <a:rPr lang="en-US" altLang="en-US" sz="2000" i="1">
                <a:solidFill>
                  <a:srgbClr val="A5002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142363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i="1">
                <a:latin typeface="Times New Roman" panose="02020603050405020304" pitchFamily="18" charset="0"/>
              </a:rPr>
              <a:t>d      f</a:t>
            </a:r>
          </a:p>
        </p:txBody>
      </p:sp>
    </p:spTree>
    <p:extLst>
      <p:ext uri="{BB962C8B-B14F-4D97-AF65-F5344CB8AC3E}">
        <p14:creationId xmlns:p14="http://schemas.microsoft.com/office/powerpoint/2010/main" val="16923600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DFS Example</a:t>
            </a:r>
          </a:p>
        </p:txBody>
      </p:sp>
      <p:sp>
        <p:nvSpPr>
          <p:cNvPr id="146435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1 |12</a:t>
            </a:r>
          </a:p>
        </p:txBody>
      </p:sp>
      <p:sp>
        <p:nvSpPr>
          <p:cNvPr id="146436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8 |11</a:t>
            </a:r>
          </a:p>
        </p:txBody>
      </p:sp>
      <p:sp>
        <p:nvSpPr>
          <p:cNvPr id="146437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13|  </a:t>
            </a:r>
          </a:p>
        </p:txBody>
      </p:sp>
      <p:sp>
        <p:nvSpPr>
          <p:cNvPr id="146438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146439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146440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146441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146442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146443" name="AutoShape 11"/>
          <p:cNvCxnSpPr>
            <a:cxnSpLocks noChangeShapeType="1"/>
            <a:stCxn id="146435" idx="3"/>
            <a:endCxn id="146441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444" name="AutoShape 12"/>
          <p:cNvCxnSpPr>
            <a:cxnSpLocks noChangeShapeType="1"/>
            <a:stCxn id="146441" idx="5"/>
            <a:endCxn id="146440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445" name="AutoShape 13"/>
          <p:cNvCxnSpPr>
            <a:cxnSpLocks noChangeShapeType="1"/>
            <a:stCxn id="146441" idx="6"/>
            <a:endCxn id="146439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446" name="AutoShape 14"/>
          <p:cNvCxnSpPr>
            <a:cxnSpLocks noChangeShapeType="1"/>
            <a:stCxn id="146439" idx="2"/>
            <a:endCxn id="146440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447" name="AutoShape 15"/>
          <p:cNvCxnSpPr>
            <a:cxnSpLocks noChangeShapeType="1"/>
            <a:stCxn id="146440" idx="0"/>
            <a:endCxn id="146435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448" name="AutoShape 16"/>
          <p:cNvCxnSpPr>
            <a:cxnSpLocks noChangeShapeType="1"/>
            <a:stCxn id="146435" idx="5"/>
            <a:endCxn id="146439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449" name="AutoShape 17"/>
          <p:cNvCxnSpPr>
            <a:cxnSpLocks noChangeShapeType="1"/>
            <a:stCxn id="146436" idx="4"/>
            <a:endCxn id="146439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450" name="AutoShape 18"/>
          <p:cNvCxnSpPr>
            <a:cxnSpLocks noChangeShapeType="1"/>
            <a:stCxn id="146435" idx="6"/>
            <a:endCxn id="146436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451" name="AutoShape 19"/>
          <p:cNvCxnSpPr>
            <a:cxnSpLocks noChangeShapeType="1"/>
            <a:stCxn id="146437" idx="2"/>
            <a:endCxn id="146436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452" name="AutoShape 20"/>
          <p:cNvCxnSpPr>
            <a:cxnSpLocks noChangeShapeType="1"/>
            <a:stCxn id="146436" idx="5"/>
            <a:endCxn id="146442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453" name="AutoShape 21"/>
          <p:cNvCxnSpPr>
            <a:cxnSpLocks noChangeShapeType="1"/>
            <a:stCxn id="146437" idx="3"/>
            <a:endCxn id="146442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454" name="AutoShape 22"/>
          <p:cNvCxnSpPr>
            <a:cxnSpLocks noChangeShapeType="1"/>
            <a:stCxn id="146437" idx="4"/>
            <a:endCxn id="146438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455" name="AutoShape 23"/>
          <p:cNvCxnSpPr>
            <a:cxnSpLocks noChangeShapeType="1"/>
            <a:stCxn id="146438" idx="2"/>
            <a:endCxn id="146439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456" name="AutoShape 24"/>
          <p:cNvCxnSpPr>
            <a:cxnSpLocks noChangeShapeType="1"/>
            <a:stCxn id="146442" idx="3"/>
            <a:endCxn id="146439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6457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6458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</a:br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146459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i="1">
                <a:latin typeface="Times New Roman" panose="02020603050405020304" pitchFamily="18" charset="0"/>
              </a:rPr>
              <a:t>d      f</a:t>
            </a:r>
          </a:p>
        </p:txBody>
      </p:sp>
    </p:spTree>
    <p:extLst>
      <p:ext uri="{BB962C8B-B14F-4D97-AF65-F5344CB8AC3E}">
        <p14:creationId xmlns:p14="http://schemas.microsoft.com/office/powerpoint/2010/main" val="32703041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DFS Example</a:t>
            </a:r>
          </a:p>
        </p:txBody>
      </p:sp>
      <p:sp>
        <p:nvSpPr>
          <p:cNvPr id="148483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1 |12</a:t>
            </a:r>
          </a:p>
        </p:txBody>
      </p:sp>
      <p:sp>
        <p:nvSpPr>
          <p:cNvPr id="148484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8 |11</a:t>
            </a:r>
          </a:p>
        </p:txBody>
      </p:sp>
      <p:sp>
        <p:nvSpPr>
          <p:cNvPr id="148485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dirty="0">
                <a:solidFill>
                  <a:srgbClr val="A50021"/>
                </a:solidFill>
                <a:latin typeface="Courier New" panose="02070309020205020404" pitchFamily="49" charset="0"/>
              </a:rPr>
              <a:t>13|  </a:t>
            </a:r>
          </a:p>
        </p:txBody>
      </p:sp>
      <p:sp>
        <p:nvSpPr>
          <p:cNvPr id="148486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dirty="0">
                <a:solidFill>
                  <a:srgbClr val="A50021"/>
                </a:solidFill>
                <a:latin typeface="Courier New" panose="02070309020205020404" pitchFamily="49" charset="0"/>
              </a:rPr>
              <a:t>14|  </a:t>
            </a:r>
          </a:p>
        </p:txBody>
      </p:sp>
      <p:sp>
        <p:nvSpPr>
          <p:cNvPr id="148487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148488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148489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148490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148491" name="AutoShape 11"/>
          <p:cNvCxnSpPr>
            <a:cxnSpLocks noChangeShapeType="1"/>
            <a:stCxn id="148483" idx="3"/>
            <a:endCxn id="148489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492" name="AutoShape 12"/>
          <p:cNvCxnSpPr>
            <a:cxnSpLocks noChangeShapeType="1"/>
            <a:stCxn id="148489" idx="5"/>
            <a:endCxn id="148488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493" name="AutoShape 13"/>
          <p:cNvCxnSpPr>
            <a:cxnSpLocks noChangeShapeType="1"/>
            <a:stCxn id="148489" idx="6"/>
            <a:endCxn id="148487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494" name="AutoShape 14"/>
          <p:cNvCxnSpPr>
            <a:cxnSpLocks noChangeShapeType="1"/>
            <a:stCxn id="148487" idx="2"/>
            <a:endCxn id="148488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495" name="AutoShape 15"/>
          <p:cNvCxnSpPr>
            <a:cxnSpLocks noChangeShapeType="1"/>
            <a:stCxn id="148488" idx="0"/>
            <a:endCxn id="148483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496" name="AutoShape 16"/>
          <p:cNvCxnSpPr>
            <a:cxnSpLocks noChangeShapeType="1"/>
            <a:stCxn id="148483" idx="5"/>
            <a:endCxn id="148487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497" name="AutoShape 17"/>
          <p:cNvCxnSpPr>
            <a:cxnSpLocks noChangeShapeType="1"/>
            <a:stCxn id="148484" idx="4"/>
            <a:endCxn id="148487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498" name="AutoShape 18"/>
          <p:cNvCxnSpPr>
            <a:cxnSpLocks noChangeShapeType="1"/>
            <a:stCxn id="148483" idx="6"/>
            <a:endCxn id="148484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499" name="AutoShape 19"/>
          <p:cNvCxnSpPr>
            <a:cxnSpLocks noChangeShapeType="1"/>
            <a:stCxn id="148485" idx="2"/>
            <a:endCxn id="148484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500" name="AutoShape 20"/>
          <p:cNvCxnSpPr>
            <a:cxnSpLocks noChangeShapeType="1"/>
            <a:stCxn id="148484" idx="5"/>
            <a:endCxn id="148490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501" name="AutoShape 21"/>
          <p:cNvCxnSpPr>
            <a:cxnSpLocks noChangeShapeType="1"/>
            <a:stCxn id="148485" idx="3"/>
            <a:endCxn id="148490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502" name="AutoShape 22"/>
          <p:cNvCxnSpPr>
            <a:cxnSpLocks noChangeShapeType="1"/>
            <a:stCxn id="148485" idx="4"/>
            <a:endCxn id="148486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503" name="AutoShape 23"/>
          <p:cNvCxnSpPr>
            <a:cxnSpLocks noChangeShapeType="1"/>
            <a:stCxn id="148486" idx="2"/>
            <a:endCxn id="148487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504" name="AutoShape 24"/>
          <p:cNvCxnSpPr>
            <a:cxnSpLocks noChangeShapeType="1"/>
            <a:stCxn id="148490" idx="3"/>
            <a:endCxn id="148487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505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506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</a:br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148507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i="1">
                <a:latin typeface="Times New Roman" panose="02020603050405020304" pitchFamily="18" charset="0"/>
              </a:rPr>
              <a:t>d      f</a:t>
            </a:r>
          </a:p>
        </p:txBody>
      </p:sp>
      <p:cxnSp>
        <p:nvCxnSpPr>
          <p:cNvPr id="148508" name="AutoShape 28"/>
          <p:cNvCxnSpPr>
            <a:cxnSpLocks noChangeShapeType="1"/>
          </p:cNvCxnSpPr>
          <p:nvPr/>
        </p:nvCxnSpPr>
        <p:spPr bwMode="auto">
          <a:xfrm flipH="1">
            <a:off x="2660650" y="2952750"/>
            <a:ext cx="5397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509" name="AutoShape 29"/>
          <p:cNvCxnSpPr>
            <a:cxnSpLocks noChangeShapeType="1"/>
          </p:cNvCxnSpPr>
          <p:nvPr/>
        </p:nvCxnSpPr>
        <p:spPr bwMode="auto">
          <a:xfrm>
            <a:off x="2660650" y="4095750"/>
            <a:ext cx="539750" cy="7048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510" name="AutoShape 30"/>
          <p:cNvCxnSpPr>
            <a:cxnSpLocks noChangeShapeType="1"/>
          </p:cNvCxnSpPr>
          <p:nvPr/>
        </p:nvCxnSpPr>
        <p:spPr bwMode="auto">
          <a:xfrm>
            <a:off x="2830514" y="3838576"/>
            <a:ext cx="3036887" cy="962025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511" name="AutoShape 31"/>
          <p:cNvCxnSpPr>
            <a:cxnSpLocks noChangeShapeType="1"/>
          </p:cNvCxnSpPr>
          <p:nvPr/>
        </p:nvCxnSpPr>
        <p:spPr bwMode="auto">
          <a:xfrm>
            <a:off x="4125914" y="2695575"/>
            <a:ext cx="1571625" cy="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512" name="AutoShape 32"/>
          <p:cNvCxnSpPr>
            <a:cxnSpLocks noChangeShapeType="1"/>
          </p:cNvCxnSpPr>
          <p:nvPr/>
        </p:nvCxnSpPr>
        <p:spPr bwMode="auto">
          <a:xfrm>
            <a:off x="6623050" y="2952750"/>
            <a:ext cx="6159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634093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DFS Example</a:t>
            </a:r>
          </a:p>
        </p:txBody>
      </p:sp>
      <p:sp>
        <p:nvSpPr>
          <p:cNvPr id="150531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1 |12</a:t>
            </a:r>
          </a:p>
        </p:txBody>
      </p:sp>
      <p:sp>
        <p:nvSpPr>
          <p:cNvPr id="150532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8 |11</a:t>
            </a:r>
          </a:p>
        </p:txBody>
      </p:sp>
      <p:sp>
        <p:nvSpPr>
          <p:cNvPr id="150533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dirty="0">
                <a:solidFill>
                  <a:srgbClr val="A50021"/>
                </a:solidFill>
                <a:latin typeface="Courier New" panose="02070309020205020404" pitchFamily="49" charset="0"/>
              </a:rPr>
              <a:t>13|  </a:t>
            </a:r>
          </a:p>
        </p:txBody>
      </p:sp>
      <p:sp>
        <p:nvSpPr>
          <p:cNvPr id="150534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14|15</a:t>
            </a:r>
          </a:p>
        </p:txBody>
      </p:sp>
      <p:sp>
        <p:nvSpPr>
          <p:cNvPr id="150535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150536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150537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150538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150539" name="AutoShape 11"/>
          <p:cNvCxnSpPr>
            <a:cxnSpLocks noChangeShapeType="1"/>
            <a:stCxn id="150531" idx="3"/>
            <a:endCxn id="150537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540" name="AutoShape 12"/>
          <p:cNvCxnSpPr>
            <a:cxnSpLocks noChangeShapeType="1"/>
            <a:stCxn id="150537" idx="5"/>
            <a:endCxn id="150536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541" name="AutoShape 13"/>
          <p:cNvCxnSpPr>
            <a:cxnSpLocks noChangeShapeType="1"/>
            <a:stCxn id="150537" idx="6"/>
            <a:endCxn id="150535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542" name="AutoShape 14"/>
          <p:cNvCxnSpPr>
            <a:cxnSpLocks noChangeShapeType="1"/>
            <a:stCxn id="150535" idx="2"/>
            <a:endCxn id="150536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543" name="AutoShape 15"/>
          <p:cNvCxnSpPr>
            <a:cxnSpLocks noChangeShapeType="1"/>
            <a:stCxn id="150536" idx="0"/>
            <a:endCxn id="150531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544" name="AutoShape 16"/>
          <p:cNvCxnSpPr>
            <a:cxnSpLocks noChangeShapeType="1"/>
            <a:stCxn id="150531" idx="5"/>
            <a:endCxn id="150535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545" name="AutoShape 17"/>
          <p:cNvCxnSpPr>
            <a:cxnSpLocks noChangeShapeType="1"/>
            <a:stCxn id="150532" idx="4"/>
            <a:endCxn id="150535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546" name="AutoShape 18"/>
          <p:cNvCxnSpPr>
            <a:cxnSpLocks noChangeShapeType="1"/>
            <a:stCxn id="150531" idx="6"/>
            <a:endCxn id="150532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547" name="AutoShape 19"/>
          <p:cNvCxnSpPr>
            <a:cxnSpLocks noChangeShapeType="1"/>
            <a:stCxn id="150533" idx="2"/>
            <a:endCxn id="150532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548" name="AutoShape 20"/>
          <p:cNvCxnSpPr>
            <a:cxnSpLocks noChangeShapeType="1"/>
            <a:stCxn id="150532" idx="5"/>
            <a:endCxn id="150538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549" name="AutoShape 21"/>
          <p:cNvCxnSpPr>
            <a:cxnSpLocks noChangeShapeType="1"/>
            <a:stCxn id="150533" idx="3"/>
            <a:endCxn id="150538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550" name="AutoShape 22"/>
          <p:cNvCxnSpPr>
            <a:cxnSpLocks noChangeShapeType="1"/>
            <a:stCxn id="150533" idx="4"/>
            <a:endCxn id="150534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551" name="AutoShape 23"/>
          <p:cNvCxnSpPr>
            <a:cxnSpLocks noChangeShapeType="1"/>
            <a:stCxn id="150534" idx="2"/>
            <a:endCxn id="150535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552" name="AutoShape 24"/>
          <p:cNvCxnSpPr>
            <a:cxnSpLocks noChangeShapeType="1"/>
            <a:stCxn id="150538" idx="3"/>
            <a:endCxn id="150535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0553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0554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</a:br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150555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i="1">
                <a:latin typeface="Times New Roman" panose="02020603050405020304" pitchFamily="18" charset="0"/>
              </a:rPr>
              <a:t>d      f</a:t>
            </a:r>
          </a:p>
        </p:txBody>
      </p:sp>
      <p:cxnSp>
        <p:nvCxnSpPr>
          <p:cNvPr id="150556" name="AutoShape 28"/>
          <p:cNvCxnSpPr>
            <a:cxnSpLocks noChangeShapeType="1"/>
          </p:cNvCxnSpPr>
          <p:nvPr/>
        </p:nvCxnSpPr>
        <p:spPr bwMode="auto">
          <a:xfrm flipH="1">
            <a:off x="2660650" y="2952750"/>
            <a:ext cx="5397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557" name="AutoShape 29"/>
          <p:cNvCxnSpPr>
            <a:cxnSpLocks noChangeShapeType="1"/>
          </p:cNvCxnSpPr>
          <p:nvPr/>
        </p:nvCxnSpPr>
        <p:spPr bwMode="auto">
          <a:xfrm>
            <a:off x="2660650" y="4095750"/>
            <a:ext cx="539750" cy="7048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558" name="AutoShape 30"/>
          <p:cNvCxnSpPr>
            <a:cxnSpLocks noChangeShapeType="1"/>
          </p:cNvCxnSpPr>
          <p:nvPr/>
        </p:nvCxnSpPr>
        <p:spPr bwMode="auto">
          <a:xfrm>
            <a:off x="2830514" y="3838576"/>
            <a:ext cx="3036887" cy="962025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559" name="AutoShape 31"/>
          <p:cNvCxnSpPr>
            <a:cxnSpLocks noChangeShapeType="1"/>
          </p:cNvCxnSpPr>
          <p:nvPr/>
        </p:nvCxnSpPr>
        <p:spPr bwMode="auto">
          <a:xfrm>
            <a:off x="4125914" y="2695575"/>
            <a:ext cx="1571625" cy="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560" name="AutoShape 32"/>
          <p:cNvCxnSpPr>
            <a:cxnSpLocks noChangeShapeType="1"/>
          </p:cNvCxnSpPr>
          <p:nvPr/>
        </p:nvCxnSpPr>
        <p:spPr bwMode="auto">
          <a:xfrm>
            <a:off x="6623050" y="2952750"/>
            <a:ext cx="6159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9435146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DFS Example</a:t>
            </a:r>
          </a:p>
        </p:txBody>
      </p:sp>
      <p:sp>
        <p:nvSpPr>
          <p:cNvPr id="152579" name="Oval 3"/>
          <p:cNvSpPr>
            <a:spLocks noChangeArrowheads="1"/>
          </p:cNvSpPr>
          <p:nvPr/>
        </p:nvSpPr>
        <p:spPr bwMode="auto">
          <a:xfrm>
            <a:off x="3048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1 |12</a:t>
            </a:r>
          </a:p>
        </p:txBody>
      </p:sp>
      <p:sp>
        <p:nvSpPr>
          <p:cNvPr id="152580" name="Oval 4"/>
          <p:cNvSpPr>
            <a:spLocks noChangeArrowheads="1"/>
          </p:cNvSpPr>
          <p:nvPr/>
        </p:nvSpPr>
        <p:spPr bwMode="auto">
          <a:xfrm>
            <a:off x="5715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8 |11</a:t>
            </a:r>
          </a:p>
        </p:txBody>
      </p:sp>
      <p:sp>
        <p:nvSpPr>
          <p:cNvPr id="152581" name="Oval 5"/>
          <p:cNvSpPr>
            <a:spLocks noChangeArrowheads="1"/>
          </p:cNvSpPr>
          <p:nvPr/>
        </p:nvSpPr>
        <p:spPr bwMode="auto">
          <a:xfrm>
            <a:off x="8382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13|16</a:t>
            </a:r>
          </a:p>
        </p:txBody>
      </p:sp>
      <p:sp>
        <p:nvSpPr>
          <p:cNvPr id="152582" name="Oval 6"/>
          <p:cNvSpPr>
            <a:spLocks noChangeArrowheads="1"/>
          </p:cNvSpPr>
          <p:nvPr/>
        </p:nvSpPr>
        <p:spPr bwMode="auto">
          <a:xfrm>
            <a:off x="8382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14|15</a:t>
            </a:r>
          </a:p>
        </p:txBody>
      </p:sp>
      <p:sp>
        <p:nvSpPr>
          <p:cNvPr id="152583" name="Oval 7"/>
          <p:cNvSpPr>
            <a:spLocks noChangeArrowheads="1"/>
          </p:cNvSpPr>
          <p:nvPr/>
        </p:nvSpPr>
        <p:spPr bwMode="auto">
          <a:xfrm>
            <a:off x="5715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152584" name="Oval 8"/>
          <p:cNvSpPr>
            <a:spLocks noChangeArrowheads="1"/>
          </p:cNvSpPr>
          <p:nvPr/>
        </p:nvSpPr>
        <p:spPr bwMode="auto">
          <a:xfrm>
            <a:off x="304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152585" name="Oval 9"/>
          <p:cNvSpPr>
            <a:spLocks noChangeArrowheads="1"/>
          </p:cNvSpPr>
          <p:nvPr/>
        </p:nvSpPr>
        <p:spPr bwMode="auto">
          <a:xfrm>
            <a:off x="175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152586" name="Oval 10"/>
          <p:cNvSpPr>
            <a:spLocks noChangeArrowheads="1"/>
          </p:cNvSpPr>
          <p:nvPr/>
        </p:nvSpPr>
        <p:spPr bwMode="auto">
          <a:xfrm>
            <a:off x="7086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A5002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152587" name="AutoShape 11"/>
          <p:cNvCxnSpPr>
            <a:cxnSpLocks noChangeShapeType="1"/>
            <a:stCxn id="152579" idx="3"/>
            <a:endCxn id="152585" idx="7"/>
          </p:cNvCxnSpPr>
          <p:nvPr/>
        </p:nvCxnSpPr>
        <p:spPr bwMode="auto">
          <a:xfrm flipH="1">
            <a:off x="266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588" name="AutoShape 12"/>
          <p:cNvCxnSpPr>
            <a:cxnSpLocks noChangeShapeType="1"/>
            <a:stCxn id="152585" idx="5"/>
            <a:endCxn id="152584" idx="1"/>
          </p:cNvCxnSpPr>
          <p:nvPr/>
        </p:nvCxnSpPr>
        <p:spPr bwMode="auto">
          <a:xfrm>
            <a:off x="2663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589" name="AutoShape 13"/>
          <p:cNvCxnSpPr>
            <a:cxnSpLocks noChangeShapeType="1"/>
            <a:stCxn id="152585" idx="6"/>
            <a:endCxn id="152583" idx="1"/>
          </p:cNvCxnSpPr>
          <p:nvPr/>
        </p:nvCxnSpPr>
        <p:spPr bwMode="auto">
          <a:xfrm>
            <a:off x="2833689" y="3848101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590" name="AutoShape 14"/>
          <p:cNvCxnSpPr>
            <a:cxnSpLocks noChangeShapeType="1"/>
            <a:stCxn id="152583" idx="2"/>
            <a:endCxn id="152584" idx="6"/>
          </p:cNvCxnSpPr>
          <p:nvPr/>
        </p:nvCxnSpPr>
        <p:spPr bwMode="auto">
          <a:xfrm flipH="1">
            <a:off x="4129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591" name="AutoShape 15"/>
          <p:cNvCxnSpPr>
            <a:cxnSpLocks noChangeShapeType="1"/>
            <a:stCxn id="152584" idx="0"/>
            <a:endCxn id="152579" idx="4"/>
          </p:cNvCxnSpPr>
          <p:nvPr/>
        </p:nvCxnSpPr>
        <p:spPr bwMode="auto">
          <a:xfrm flipV="1">
            <a:off x="3581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592" name="AutoShape 16"/>
          <p:cNvCxnSpPr>
            <a:cxnSpLocks noChangeShapeType="1"/>
            <a:stCxn id="152579" idx="5"/>
            <a:endCxn id="152583" idx="1"/>
          </p:cNvCxnSpPr>
          <p:nvPr/>
        </p:nvCxnSpPr>
        <p:spPr bwMode="auto">
          <a:xfrm>
            <a:off x="3959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593" name="AutoShape 17"/>
          <p:cNvCxnSpPr>
            <a:cxnSpLocks noChangeShapeType="1"/>
            <a:stCxn id="152580" idx="4"/>
            <a:endCxn id="152583" idx="0"/>
          </p:cNvCxnSpPr>
          <p:nvPr/>
        </p:nvCxnSpPr>
        <p:spPr bwMode="auto">
          <a:xfrm>
            <a:off x="6248400" y="3062289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594" name="AutoShape 18"/>
          <p:cNvCxnSpPr>
            <a:cxnSpLocks noChangeShapeType="1"/>
            <a:stCxn id="152579" idx="6"/>
            <a:endCxn id="152580" idx="2"/>
          </p:cNvCxnSpPr>
          <p:nvPr/>
        </p:nvCxnSpPr>
        <p:spPr bwMode="auto">
          <a:xfrm>
            <a:off x="4129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595" name="AutoShape 19"/>
          <p:cNvCxnSpPr>
            <a:cxnSpLocks noChangeShapeType="1"/>
            <a:stCxn id="152581" idx="2"/>
            <a:endCxn id="152580" idx="6"/>
          </p:cNvCxnSpPr>
          <p:nvPr/>
        </p:nvCxnSpPr>
        <p:spPr bwMode="auto">
          <a:xfrm flipH="1">
            <a:off x="6796089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596" name="AutoShape 20"/>
          <p:cNvCxnSpPr>
            <a:cxnSpLocks noChangeShapeType="1"/>
            <a:stCxn id="152580" idx="5"/>
            <a:endCxn id="152586" idx="1"/>
          </p:cNvCxnSpPr>
          <p:nvPr/>
        </p:nvCxnSpPr>
        <p:spPr bwMode="auto">
          <a:xfrm>
            <a:off x="6626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597" name="AutoShape 21"/>
          <p:cNvCxnSpPr>
            <a:cxnSpLocks noChangeShapeType="1"/>
            <a:stCxn id="152581" idx="3"/>
            <a:endCxn id="152586" idx="7"/>
          </p:cNvCxnSpPr>
          <p:nvPr/>
        </p:nvCxnSpPr>
        <p:spPr bwMode="auto">
          <a:xfrm flipH="1">
            <a:off x="7997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598" name="AutoShape 22"/>
          <p:cNvCxnSpPr>
            <a:cxnSpLocks noChangeShapeType="1"/>
            <a:stCxn id="152581" idx="4"/>
            <a:endCxn id="152582" idx="0"/>
          </p:cNvCxnSpPr>
          <p:nvPr/>
        </p:nvCxnSpPr>
        <p:spPr bwMode="auto">
          <a:xfrm>
            <a:off x="8915400" y="3062289"/>
            <a:ext cx="0" cy="1647825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599" name="AutoShape 23"/>
          <p:cNvCxnSpPr>
            <a:cxnSpLocks noChangeShapeType="1"/>
            <a:stCxn id="152582" idx="2"/>
            <a:endCxn id="152583" idx="6"/>
          </p:cNvCxnSpPr>
          <p:nvPr/>
        </p:nvCxnSpPr>
        <p:spPr bwMode="auto">
          <a:xfrm flipH="1">
            <a:off x="6796089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600" name="AutoShape 24"/>
          <p:cNvCxnSpPr>
            <a:cxnSpLocks noChangeShapeType="1"/>
            <a:stCxn id="152586" idx="3"/>
            <a:endCxn id="152583" idx="7"/>
          </p:cNvCxnSpPr>
          <p:nvPr/>
        </p:nvCxnSpPr>
        <p:spPr bwMode="auto">
          <a:xfrm flipH="1">
            <a:off x="6626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2601" name="Line 25"/>
          <p:cNvSpPr>
            <a:spLocks noChangeShapeType="1"/>
          </p:cNvSpPr>
          <p:nvPr/>
        </p:nvSpPr>
        <p:spPr bwMode="auto">
          <a:xfrm>
            <a:off x="1981200" y="2133600"/>
            <a:ext cx="1066800" cy="381000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2602" name="Text Box 26"/>
          <p:cNvSpPr txBox="1">
            <a:spLocks noChangeArrowheads="1"/>
          </p:cNvSpPr>
          <p:nvPr/>
        </p:nvSpPr>
        <p:spPr bwMode="auto">
          <a:xfrm>
            <a:off x="1600201" y="1447801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</a:br>
            <a:r>
              <a:rPr lang="en-US" alt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152603" name="Oval 27"/>
          <p:cNvSpPr>
            <a:spLocks noChangeArrowheads="1"/>
          </p:cNvSpPr>
          <p:nvPr/>
        </p:nvSpPr>
        <p:spPr bwMode="auto">
          <a:xfrm>
            <a:off x="3048000" y="1828800"/>
            <a:ext cx="1066800" cy="6858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Monospac821 BT" pitchFamily="49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Monospac821 BT" pitchFamily="49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Monospac821 BT" pitchFamily="49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Monospac821 BT" pitchFamily="49" charset="0"/>
              </a:defRPr>
            </a:lvl9pPr>
          </a:lstStyle>
          <a:p>
            <a:pPr algn="ctr"/>
            <a:r>
              <a:rPr lang="en-US" altLang="en-US" sz="2400" i="1">
                <a:latin typeface="Times New Roman" panose="02020603050405020304" pitchFamily="18" charset="0"/>
              </a:rPr>
              <a:t>d      f</a:t>
            </a:r>
          </a:p>
        </p:txBody>
      </p:sp>
      <p:cxnSp>
        <p:nvCxnSpPr>
          <p:cNvPr id="152604" name="AutoShape 28"/>
          <p:cNvCxnSpPr>
            <a:cxnSpLocks noChangeShapeType="1"/>
          </p:cNvCxnSpPr>
          <p:nvPr/>
        </p:nvCxnSpPr>
        <p:spPr bwMode="auto">
          <a:xfrm flipH="1">
            <a:off x="2667000" y="2952750"/>
            <a:ext cx="5397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605" name="AutoShape 29"/>
          <p:cNvCxnSpPr>
            <a:cxnSpLocks noChangeShapeType="1"/>
          </p:cNvCxnSpPr>
          <p:nvPr/>
        </p:nvCxnSpPr>
        <p:spPr bwMode="auto">
          <a:xfrm>
            <a:off x="2667000" y="4095750"/>
            <a:ext cx="539750" cy="7048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606" name="AutoShape 30"/>
          <p:cNvCxnSpPr>
            <a:cxnSpLocks noChangeShapeType="1"/>
          </p:cNvCxnSpPr>
          <p:nvPr/>
        </p:nvCxnSpPr>
        <p:spPr bwMode="auto">
          <a:xfrm>
            <a:off x="2836864" y="3838576"/>
            <a:ext cx="3036887" cy="962025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607" name="AutoShape 31"/>
          <p:cNvCxnSpPr>
            <a:cxnSpLocks noChangeShapeType="1"/>
          </p:cNvCxnSpPr>
          <p:nvPr/>
        </p:nvCxnSpPr>
        <p:spPr bwMode="auto">
          <a:xfrm>
            <a:off x="4132264" y="2695575"/>
            <a:ext cx="1571625" cy="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608" name="AutoShape 32"/>
          <p:cNvCxnSpPr>
            <a:cxnSpLocks noChangeShapeType="1"/>
          </p:cNvCxnSpPr>
          <p:nvPr/>
        </p:nvCxnSpPr>
        <p:spPr bwMode="auto">
          <a:xfrm>
            <a:off x="6629400" y="2952750"/>
            <a:ext cx="615950" cy="628650"/>
          </a:xfrm>
          <a:prstGeom prst="straightConnector1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2323555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Depth-First Search: The Code</a:t>
            </a:r>
          </a:p>
        </p:txBody>
      </p:sp>
      <p:sp>
        <p:nvSpPr>
          <p:cNvPr id="19189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62345" y="1295400"/>
            <a:ext cx="3963988" cy="5324475"/>
          </a:xfrm>
        </p:spPr>
        <p:txBody>
          <a:bodyPr/>
          <a:lstStyle/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latin typeface="Courier New" panose="02070309020205020404" pitchFamily="49" charset="0"/>
              </a:rPr>
              <a:t>DFS(G)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latin typeface="Courier New" panose="02070309020205020404" pitchFamily="49" charset="0"/>
              </a:rPr>
              <a:t>{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2400" b="1" dirty="0">
                <a:latin typeface="Courier New" panose="02070309020205020404" pitchFamily="49" charset="0"/>
              </a:rPr>
              <a:t>   </a:t>
            </a:r>
            <a:r>
              <a:rPr lang="en-US" sz="1600" b="1" dirty="0">
                <a:latin typeface="Courier New" panose="02070309020205020404" pitchFamily="49" charset="0"/>
              </a:rPr>
              <a:t>for each vertex u </a:t>
            </a: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 V[G]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{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color[u] = WHITE;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p[u] = NIL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}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time = 0;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for each vertex </a:t>
            </a:r>
            <a:r>
              <a:rPr lang="en-US" sz="1600" b="1" dirty="0">
                <a:latin typeface="Courier New" panose="02070309020205020404" pitchFamily="49" charset="0"/>
              </a:rPr>
              <a:t>u </a:t>
            </a: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 V[G]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{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if (color[u] == WHITE)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DFS_Visit(u);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}</a:t>
            </a:r>
          </a:p>
          <a:p>
            <a:pPr marL="342900" indent="-342900">
              <a:lnSpc>
                <a:spcPct val="80000"/>
              </a:lnSpc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  <a:endParaRPr 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191898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399214" y="1154114"/>
            <a:ext cx="3963987" cy="5324475"/>
          </a:xfrm>
        </p:spPr>
        <p:txBody>
          <a:bodyPr/>
          <a:lstStyle/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</a:rPr>
              <a:t>DFS_Visit(u)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</a:rPr>
              <a:t>{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</a:rPr>
              <a:t>   color[u] = GRAY;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</a:rPr>
              <a:t>   time = time+1;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</a:rPr>
              <a:t>   d[u] = time;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</a:rPr>
              <a:t>   for each v </a:t>
            </a: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 Adj[u]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{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</a:t>
            </a:r>
            <a:r>
              <a:rPr lang="en-US" sz="1600" b="1" dirty="0">
                <a:solidFill>
                  <a:srgbClr val="A50021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if (color[v] == WHITE)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		  p[v] = u;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		  DFS_Visit(v);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}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color[u] = BLACK;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time = time+1;</a:t>
            </a:r>
          </a:p>
          <a:p>
            <a:pPr marL="342900" indent="-342900">
              <a:buNone/>
              <a:defRPr/>
            </a:pPr>
            <a:r>
              <a:rPr 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f[u] = time;     }</a:t>
            </a:r>
          </a:p>
        </p:txBody>
      </p:sp>
      <p:sp>
        <p:nvSpPr>
          <p:cNvPr id="1918981" name="Text Box 5"/>
          <p:cNvSpPr txBox="1">
            <a:spLocks noChangeArrowheads="1"/>
          </p:cNvSpPr>
          <p:nvPr/>
        </p:nvSpPr>
        <p:spPr bwMode="auto">
          <a:xfrm>
            <a:off x="944407" y="5642095"/>
            <a:ext cx="8763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many times will DFS_Visit() actually be called?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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>
              <a:defRPr/>
            </a:pPr>
            <a:r>
              <a:rPr lang="en-US" sz="20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many times will </a:t>
            </a:r>
            <a:r>
              <a:rPr lang="en-US" sz="2000" i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0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statement be executed in all </a:t>
            </a:r>
            <a:r>
              <a:rPr lang="en-US" sz="2000" i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0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DFS_Visit calls?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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56678" name="Line 6"/>
          <p:cNvSpPr>
            <a:spLocks noChangeShapeType="1"/>
          </p:cNvSpPr>
          <p:nvPr/>
        </p:nvSpPr>
        <p:spPr bwMode="auto">
          <a:xfrm>
            <a:off x="5919725" y="1295400"/>
            <a:ext cx="0" cy="41909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18983" name="AutoShape 7"/>
          <p:cNvSpPr>
            <a:spLocks noChangeArrowheads="1"/>
          </p:cNvSpPr>
          <p:nvPr/>
        </p:nvSpPr>
        <p:spPr bwMode="auto">
          <a:xfrm>
            <a:off x="155568" y="3016138"/>
            <a:ext cx="786494" cy="381000"/>
          </a:xfrm>
          <a:prstGeom prst="wedgeRectCallout">
            <a:avLst>
              <a:gd name="adj1" fmla="val 159966"/>
              <a:gd name="adj2" fmla="val -426308"/>
            </a:avLst>
          </a:prstGeom>
          <a:noFill/>
          <a:ln w="12700">
            <a:solidFill>
              <a:srgbClr val="00206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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306735" y="1125415"/>
            <a:ext cx="4419598" cy="448798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6091006" y="1125415"/>
            <a:ext cx="4272196" cy="454344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667578" y="6251695"/>
            <a:ext cx="3898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rgbClr val="A50021"/>
                </a:solidFill>
                <a:latin typeface="Times New Roman" panose="02020603050405020304" pitchFamily="18" charset="0"/>
              </a:rPr>
              <a:t>So, running time of DFS =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</a:t>
            </a:r>
            <a:r>
              <a:rPr lang="en-US" sz="2000" i="1" dirty="0">
                <a:solidFill>
                  <a:srgbClr val="002060"/>
                </a:solidFill>
                <a:latin typeface="Times New Roman" panose="02020603050405020304" pitchFamily="18" charset="0"/>
              </a:rPr>
              <a:t>(V+E)</a:t>
            </a:r>
          </a:p>
        </p:txBody>
      </p:sp>
    </p:spTree>
    <p:extLst>
      <p:ext uri="{BB962C8B-B14F-4D97-AF65-F5344CB8AC3E}">
        <p14:creationId xmlns:p14="http://schemas.microsoft.com/office/powerpoint/2010/main" val="25220467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1" y="228600"/>
            <a:ext cx="10515600" cy="636361"/>
          </a:xfrm>
        </p:spPr>
        <p:txBody>
          <a:bodyPr/>
          <a:lstStyle/>
          <a:p>
            <a:pPr eaLnBrk="1" hangingPunct="1">
              <a:defRPr/>
            </a:pPr>
            <a:r>
              <a:rPr lang="da-DK" dirty="0"/>
              <a:t>DFS: Time Complexity</a:t>
            </a:r>
            <a:endParaRPr lang="en-US" dirty="0"/>
          </a:p>
        </p:txBody>
      </p:sp>
      <p:sp>
        <p:nvSpPr>
          <p:cNvPr id="192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11125200" cy="5181600"/>
          </a:xfrm>
        </p:spPr>
        <p:txBody>
          <a:bodyPr>
            <a:normAutofit/>
          </a:bodyPr>
          <a:lstStyle/>
          <a:p>
            <a:pPr marL="342900" indent="-342900">
              <a:defRPr/>
            </a:pPr>
            <a:r>
              <a:rPr lang="da-DK" sz="2000" dirty="0"/>
              <a:t>Running time</a:t>
            </a:r>
          </a:p>
          <a:p>
            <a:pPr marL="742950" lvl="1" indent="-285750">
              <a:defRPr/>
            </a:pPr>
            <a:r>
              <a:rPr lang="da-DK" sz="2000" dirty="0"/>
              <a:t>the loops in </a:t>
            </a:r>
            <a:r>
              <a:rPr lang="da-DK" sz="2000" b="1" dirty="0">
                <a:solidFill>
                  <a:srgbClr val="002060"/>
                </a:solidFill>
              </a:rPr>
              <a:t>DFS</a:t>
            </a:r>
            <a:r>
              <a:rPr lang="da-DK" sz="2000" dirty="0"/>
              <a:t> take time </a:t>
            </a:r>
            <a:r>
              <a:rPr lang="en-US" sz="2000" dirty="0">
                <a:latin typeface="Symbol" panose="05050102010706020507" pitchFamily="18" charset="2"/>
              </a:rPr>
              <a:t>Q</a:t>
            </a:r>
            <a:r>
              <a:rPr lang="da-DK" sz="2000" dirty="0"/>
              <a:t>(</a:t>
            </a:r>
            <a:r>
              <a:rPr lang="da-DK" sz="2000" i="1" dirty="0"/>
              <a:t>V</a:t>
            </a:r>
            <a:r>
              <a:rPr lang="da-DK" sz="2000" dirty="0"/>
              <a:t>) each, </a:t>
            </a:r>
            <a:r>
              <a:rPr lang="da-DK" sz="2000" i="1" dirty="0"/>
              <a:t>excluding</a:t>
            </a:r>
            <a:r>
              <a:rPr lang="da-DK" sz="2000" dirty="0"/>
              <a:t> the time to execute </a:t>
            </a:r>
            <a:r>
              <a:rPr lang="da-DK" sz="2000" b="1" dirty="0">
                <a:solidFill>
                  <a:srgbClr val="002060"/>
                </a:solidFill>
              </a:rPr>
              <a:t>DFS-Visit</a:t>
            </a:r>
          </a:p>
          <a:p>
            <a:pPr marL="742950" lvl="1" indent="-285750">
              <a:defRPr/>
            </a:pPr>
            <a:r>
              <a:rPr lang="da-DK" sz="2000" b="1" dirty="0">
                <a:solidFill>
                  <a:srgbClr val="002060"/>
                </a:solidFill>
              </a:rPr>
              <a:t>DFS-Visit </a:t>
            </a:r>
            <a:r>
              <a:rPr lang="da-DK" sz="2000" dirty="0"/>
              <a:t>is called once for every vertex</a:t>
            </a:r>
          </a:p>
          <a:p>
            <a:pPr marL="1143000" lvl="2" indent="-228600">
              <a:defRPr/>
            </a:pPr>
            <a:r>
              <a:rPr lang="da-DK" sz="2000" dirty="0"/>
              <a:t>its only invoked on white vertices, and</a:t>
            </a:r>
          </a:p>
          <a:p>
            <a:pPr marL="1143000" lvl="2" indent="-228600">
              <a:defRPr/>
            </a:pPr>
            <a:r>
              <a:rPr lang="da-DK" sz="2000" dirty="0"/>
              <a:t>paints the vertex gray immediately</a:t>
            </a:r>
          </a:p>
          <a:p>
            <a:pPr marL="742950" lvl="1" indent="-285750">
              <a:defRPr/>
            </a:pPr>
            <a:endParaRPr lang="da-DK" sz="2000" dirty="0"/>
          </a:p>
          <a:p>
            <a:pPr marL="742950" lvl="1" indent="-285750">
              <a:defRPr/>
            </a:pPr>
            <a:r>
              <a:rPr lang="da-DK" sz="2000" dirty="0"/>
              <a:t>for each </a:t>
            </a:r>
            <a:r>
              <a:rPr lang="da-DK" sz="2000" b="1" dirty="0">
                <a:solidFill>
                  <a:srgbClr val="002060"/>
                </a:solidFill>
              </a:rPr>
              <a:t>DFS-Visit(</a:t>
            </a:r>
            <a:r>
              <a:rPr lang="da-DK" sz="2000" b="1" i="1" dirty="0">
                <a:solidFill>
                  <a:srgbClr val="002060"/>
                </a:solidFill>
              </a:rPr>
              <a:t>v</a:t>
            </a:r>
            <a:r>
              <a:rPr lang="da-DK" sz="2000" b="1" dirty="0">
                <a:solidFill>
                  <a:srgbClr val="002060"/>
                </a:solidFill>
              </a:rPr>
              <a:t>)</a:t>
            </a:r>
            <a:r>
              <a:rPr lang="da-DK" sz="2000" dirty="0"/>
              <a:t> a loop iterates over all </a:t>
            </a:r>
            <a:r>
              <a:rPr lang="da-DK" sz="2000" b="1" dirty="0">
                <a:solidFill>
                  <a:srgbClr val="002060"/>
                </a:solidFill>
              </a:rPr>
              <a:t>Adj[</a:t>
            </a:r>
            <a:r>
              <a:rPr lang="da-DK" sz="2000" b="1" i="1" dirty="0">
                <a:solidFill>
                  <a:srgbClr val="002060"/>
                </a:solidFill>
              </a:rPr>
              <a:t>v</a:t>
            </a:r>
            <a:r>
              <a:rPr lang="da-DK" sz="2000" b="1" dirty="0">
                <a:solidFill>
                  <a:srgbClr val="002060"/>
                </a:solidFill>
              </a:rPr>
              <a:t>]</a:t>
            </a:r>
            <a:r>
              <a:rPr lang="da-DK" sz="2000" dirty="0">
                <a:solidFill>
                  <a:srgbClr val="002060"/>
                </a:solidFill>
              </a:rPr>
              <a:t> </a:t>
            </a:r>
          </a:p>
          <a:p>
            <a:pPr marL="742950" lvl="1" indent="-285750">
              <a:defRPr/>
            </a:pPr>
            <a:r>
              <a:rPr lang="da-DK" sz="2000" dirty="0"/>
              <a:t>the </a:t>
            </a:r>
            <a:r>
              <a:rPr lang="da-DK" sz="2000" i="1" dirty="0"/>
              <a:t>total cost</a:t>
            </a:r>
            <a:r>
              <a:rPr lang="da-DK" sz="2000" dirty="0"/>
              <a:t> for </a:t>
            </a:r>
            <a:r>
              <a:rPr lang="da-DK" sz="2000" b="1" dirty="0">
                <a:solidFill>
                  <a:srgbClr val="002060"/>
                </a:solidFill>
              </a:rPr>
              <a:t>DFS-Visit</a:t>
            </a:r>
            <a:r>
              <a:rPr lang="da-DK" sz="2000" dirty="0">
                <a:solidFill>
                  <a:srgbClr val="002060"/>
                </a:solidFill>
              </a:rPr>
              <a:t> </a:t>
            </a:r>
            <a:r>
              <a:rPr lang="da-DK" sz="2000" dirty="0"/>
              <a:t>is </a:t>
            </a:r>
            <a:r>
              <a:rPr lang="en-US" sz="2000" dirty="0">
                <a:latin typeface="Symbol" panose="05050102010706020507" pitchFamily="18" charset="2"/>
              </a:rPr>
              <a:t>Q</a:t>
            </a:r>
            <a:r>
              <a:rPr lang="da-DK" sz="2000" dirty="0"/>
              <a:t>(</a:t>
            </a:r>
            <a:r>
              <a:rPr lang="da-DK" sz="2000" i="1" dirty="0"/>
              <a:t>E</a:t>
            </a:r>
            <a:r>
              <a:rPr lang="da-DK" sz="2000" dirty="0"/>
              <a:t>)</a:t>
            </a:r>
          </a:p>
          <a:p>
            <a:pPr marL="742950" lvl="1" indent="-285750">
              <a:defRPr/>
            </a:pPr>
            <a:endParaRPr lang="da-DK" sz="2000" dirty="0"/>
          </a:p>
          <a:p>
            <a:pPr marL="742950" lvl="1" indent="-285750">
              <a:defRPr/>
            </a:pPr>
            <a:endParaRPr lang="da-DK" sz="2000" dirty="0"/>
          </a:p>
          <a:p>
            <a:pPr marL="742950" lvl="1" indent="-285750">
              <a:defRPr/>
            </a:pPr>
            <a:endParaRPr lang="da-DK" sz="2000" dirty="0"/>
          </a:p>
          <a:p>
            <a:pPr marL="742950" lvl="1" indent="-285750">
              <a:defRPr/>
            </a:pPr>
            <a:r>
              <a:rPr lang="da-DK" sz="2000" b="1" dirty="0">
                <a:solidFill>
                  <a:srgbClr val="002060"/>
                </a:solidFill>
              </a:rPr>
              <a:t>the running time of DFS is </a:t>
            </a:r>
            <a:r>
              <a:rPr lang="en-US" sz="2000" b="1" dirty="0">
                <a:solidFill>
                  <a:srgbClr val="002060"/>
                </a:solidFill>
                <a:latin typeface="Symbol" panose="05050102010706020507" pitchFamily="18" charset="2"/>
              </a:rPr>
              <a:t>Q</a:t>
            </a:r>
            <a:r>
              <a:rPr lang="da-DK" sz="2000" b="1" dirty="0">
                <a:solidFill>
                  <a:srgbClr val="002060"/>
                </a:solidFill>
              </a:rPr>
              <a:t>(</a:t>
            </a:r>
            <a:r>
              <a:rPr lang="da-DK" sz="2000" b="1" i="1" dirty="0">
                <a:solidFill>
                  <a:srgbClr val="002060"/>
                </a:solidFill>
              </a:rPr>
              <a:t>V</a:t>
            </a:r>
            <a:r>
              <a:rPr lang="da-DK" sz="2000" b="1" dirty="0">
                <a:solidFill>
                  <a:srgbClr val="002060"/>
                </a:solidFill>
              </a:rPr>
              <a:t>+</a:t>
            </a:r>
            <a:r>
              <a:rPr lang="da-DK" sz="2000" b="1" i="1" dirty="0">
                <a:solidFill>
                  <a:srgbClr val="002060"/>
                </a:solidFill>
              </a:rPr>
              <a:t>E</a:t>
            </a:r>
            <a:r>
              <a:rPr lang="da-DK" sz="2000" b="1" dirty="0">
                <a:solidFill>
                  <a:srgbClr val="002060"/>
                </a:solidFill>
              </a:rPr>
              <a:t>) </a:t>
            </a:r>
          </a:p>
        </p:txBody>
      </p:sp>
      <p:graphicFrame>
        <p:nvGraphicFramePr>
          <p:cNvPr id="1607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568393"/>
              </p:ext>
            </p:extLst>
          </p:nvPr>
        </p:nvGraphicFramePr>
        <p:xfrm>
          <a:off x="2209800" y="3962400"/>
          <a:ext cx="2092325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Equation" r:id="rId4" imgW="1143000" imgH="342900" progId="Equation.DSMT4">
                  <p:embed/>
                </p:oleObj>
              </mc:Choice>
              <mc:Fallback>
                <p:oleObj name="Equation" r:id="rId4" imgW="1143000" imgH="342900" progId="Equation.DSMT4">
                  <p:embed/>
                  <p:pic>
                    <p:nvPicPr>
                      <p:cNvPr id="1607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962400"/>
                        <a:ext cx="2092325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4357236"/>
      </p:ext>
    </p:extLst>
  </p:cSld>
  <p:clrMapOvr>
    <a:masterClrMapping/>
  </p:clrMapOvr>
</p:sld>
</file>

<file path=ppt/theme/theme1.xml><?xml version="1.0" encoding="utf-8"?>
<a:theme xmlns:a="http://schemas.openxmlformats.org/drawingml/2006/main" name="ZU -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U - Theme" id="{25897C2A-563F-4EEE-98A8-BE7B6DDDF5FB}" vid="{7102B1C6-D57E-4303-8E16-CF7DA832BB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ZU - Theme</Template>
  <TotalTime>5649</TotalTime>
  <Words>3334</Words>
  <Application>Microsoft Office PowerPoint</Application>
  <PresentationFormat>Widescreen</PresentationFormat>
  <Paragraphs>879</Paragraphs>
  <Slides>48</Slides>
  <Notes>46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8" baseType="lpstr">
      <vt:lpstr>Arial</vt:lpstr>
      <vt:lpstr>Calibri</vt:lpstr>
      <vt:lpstr>Courier New</vt:lpstr>
      <vt:lpstr>Monospac821 BT</vt:lpstr>
      <vt:lpstr>Symbol</vt:lpstr>
      <vt:lpstr>Tahoma</vt:lpstr>
      <vt:lpstr>Times New Roman</vt:lpstr>
      <vt:lpstr>Wingdings</vt:lpstr>
      <vt:lpstr>ZU -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Graph Searching Methods</vt:lpstr>
      <vt:lpstr>Breadth-First Search (BFS) </vt:lpstr>
      <vt:lpstr>BFS - Code</vt:lpstr>
      <vt:lpstr>BFS - Example</vt:lpstr>
      <vt:lpstr>PowerPoint Presentation</vt:lpstr>
      <vt:lpstr>BFS - Example</vt:lpstr>
      <vt:lpstr>BFS - Example</vt:lpstr>
      <vt:lpstr>BFS - Example</vt:lpstr>
      <vt:lpstr>BFS - Example</vt:lpstr>
      <vt:lpstr>BFS - Example</vt:lpstr>
      <vt:lpstr>BFS - Example</vt:lpstr>
      <vt:lpstr>BFS - Example</vt:lpstr>
      <vt:lpstr>BFS - Example</vt:lpstr>
      <vt:lpstr>BFS: Time complexity</vt:lpstr>
      <vt:lpstr>BFS: Time Complexity</vt:lpstr>
      <vt:lpstr>Depth-First Search (DFS)</vt:lpstr>
      <vt:lpstr>DFS - Code</vt:lpstr>
      <vt:lpstr>DFS -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Depth-First Search: The Code</vt:lpstr>
      <vt:lpstr>DFS: Time Complexity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aslam</dc:creator>
  <cp:lastModifiedBy>ملك محمد حاتم حلوح</cp:lastModifiedBy>
  <cp:revision>357</cp:revision>
  <dcterms:created xsi:type="dcterms:W3CDTF">2022-10-21T18:42:36Z</dcterms:created>
  <dcterms:modified xsi:type="dcterms:W3CDTF">2025-12-31T11:42:10Z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2022-10-21T00:00:00Z</vt:filetime>
  </property>
</Properties>
</file>